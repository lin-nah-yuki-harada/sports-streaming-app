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Meiryo"/>
              </a:defRPr>
            </a:pPr>
            <a:r>
              <a:t>Sports Streaming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C853"/>
                </a:solidFill>
                <a:latin typeface="Meiryo"/>
              </a:defRPr>
            </a:pPr>
            <a:r>
              <a:t>〜 すべての子どもの試合が、どこからでも見られる世界をつくる 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0B8C4"/>
                </a:solidFill>
                <a:latin typeface="Meiryo"/>
              </a:defRPr>
            </a:pPr>
            <a:r>
              <a:t>ローカルスポーツ特化 UGC型ストリーミングプラットフォーム 企画書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8C4"/>
                </a:solidFill>
                <a:latin typeface="Meiryo"/>
              </a:defRPr>
            </a:pPr>
            <a:r>
              <a:t>2026年4月  |  Confidential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4545"/>
                </a:solidFill>
                <a:latin typeface="Meiryo"/>
              </a:defRPr>
            </a:pPr>
            <a:r>
              <a:t>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eiryo"/>
              </a:defRPr>
            </a:pPr>
            <a:r>
              <a:t>ローカルスポーツ配信の「3つの壁」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3474720" cy="4114800"/>
          </a:xfrm>
          <a:prstGeom prst="rect">
            <a:avLst/>
          </a:prstGeom>
          <a:solidFill>
            <a:srgbClr val="13243B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4545"/>
                </a:solidFill>
                <a:latin typeface="Meiryo"/>
              </a:defRPr>
            </a:pPr>
            <a:r>
              <a:t>1. 配信されない試合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4"/>
                </a:solidFill>
                <a:latin typeface="Meiryo"/>
              </a:defRPr>
            </a:pPr>
            <a:r>
              <a:t>スポーツブル等の大手は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6148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4545"/>
                </a:solidFill>
                <a:latin typeface="Meiryo"/>
              </a:defRPr>
            </a:pPr>
            <a:r>
              <a:t>全国大会・プロの試合のみ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54096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4"/>
                </a:solidFill>
                <a:latin typeface="Meiryo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731520" y="3346704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4"/>
                </a:solidFill>
                <a:latin typeface="Meiryo"/>
              </a:defRPr>
            </a:pPr>
            <a:r>
              <a:t>地域の大会、部活の公式戦、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63931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4"/>
                </a:solidFill>
                <a:latin typeface="Meiryo"/>
              </a:defRPr>
            </a:pPr>
            <a:r>
              <a:t>スポ少の試合は配信されず、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9319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4"/>
                </a:solidFill>
                <a:latin typeface="Meiryo"/>
              </a:defRPr>
            </a:pPr>
            <a:r>
              <a:t>見に行けない家族は結果待ち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828800"/>
            <a:ext cx="3474720" cy="4114800"/>
          </a:xfrm>
          <a:prstGeom prst="rect">
            <a:avLst/>
          </a:prstGeom>
          <a:solidFill>
            <a:srgbClr val="13243B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20116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4545"/>
                </a:solidFill>
                <a:latin typeface="Meiryo"/>
              </a:defRPr>
            </a:pPr>
            <a:r>
              <a:t>2. 既存配信の映像問題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4688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4"/>
                </a:solidFill>
                <a:latin typeface="Meiryo"/>
              </a:defRPr>
            </a:pPr>
            <a:r>
              <a:t>YouTube Live等で配信しても…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76148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4"/>
                </a:solidFill>
                <a:latin typeface="Meiryo"/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4572000" y="3054096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4545"/>
                </a:solidFill>
                <a:latin typeface="Meiryo"/>
              </a:defRPr>
            </a:pPr>
            <a:r>
              <a:t>得点板が見えない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346704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4545"/>
                </a:solidFill>
                <a:latin typeface="Meiryo"/>
              </a:defRPr>
            </a:pPr>
            <a:r>
              <a:t>情報表示で映像を遮ってしまう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63931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4545"/>
                </a:solidFill>
                <a:latin typeface="Meiryo"/>
              </a:defRPr>
            </a:pPr>
            <a:r>
              <a:t>「今のスコアは？」に応えられない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9319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4"/>
                </a:solidFill>
                <a:latin typeface="Meiryo"/>
              </a:defRPr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4572000" y="422452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4"/>
                </a:solidFill>
                <a:latin typeface="Meiryo"/>
              </a:defRPr>
            </a:pPr>
            <a:r>
              <a:t>→ 視聴者のストレスが溜まる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38160" y="1828800"/>
            <a:ext cx="3474720" cy="4114800"/>
          </a:xfrm>
          <a:prstGeom prst="rect">
            <a:avLst/>
          </a:prstGeom>
          <a:solidFill>
            <a:srgbClr val="13243B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0" y="20116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4545"/>
                </a:solidFill>
                <a:latin typeface="Meiryo"/>
              </a:defRPr>
            </a:pPr>
            <a:r>
              <a:t>3. 配信者の負担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24688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4"/>
                </a:solidFill>
                <a:latin typeface="Meiryo"/>
              </a:defRPr>
            </a:pPr>
            <a:r>
              <a:t>撮影しながらスコアを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276148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4545"/>
                </a:solidFill>
                <a:latin typeface="Meiryo"/>
              </a:defRPr>
            </a:pPr>
            <a:r>
              <a:t>更新するのは困難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3054096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4"/>
                </a:solidFill>
                <a:latin typeface="Meiryo"/>
              </a:defRPr>
            </a:pPr>
          </a:p>
        </p:txBody>
      </p:sp>
      <p:sp>
        <p:nvSpPr>
          <p:cNvPr id="27" name="TextBox 26"/>
          <p:cNvSpPr txBox="1"/>
          <p:nvPr/>
        </p:nvSpPr>
        <p:spPr>
          <a:xfrm>
            <a:off x="8412480" y="3346704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4"/>
                </a:solidFill>
                <a:latin typeface="Meiryo"/>
              </a:defRPr>
            </a:pPr>
            <a:r>
              <a:t>1人で撮影 + 情報管理は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363931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4"/>
                </a:solidFill>
                <a:latin typeface="Meiryo"/>
              </a:defRPr>
            </a:pPr>
            <a:r>
              <a:t>現実的に無理がある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39319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4"/>
                </a:solidFill>
                <a:latin typeface="Meiryo"/>
              </a:defRPr>
            </a:pPr>
          </a:p>
        </p:txBody>
      </p:sp>
      <p:sp>
        <p:nvSpPr>
          <p:cNvPr id="30" name="TextBox 29"/>
          <p:cNvSpPr txBox="1"/>
          <p:nvPr/>
        </p:nvSpPr>
        <p:spPr>
          <a:xfrm>
            <a:off x="8412480" y="422452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4"/>
                </a:solidFill>
                <a:latin typeface="Meiryo"/>
              </a:defRPr>
            </a:pPr>
            <a:r>
              <a:t>→ 配信の質が下がる 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4517136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4"/>
                </a:solidFill>
                <a:latin typeface="Meiryo"/>
              </a:defRPr>
            </a:pPr>
            <a:r>
              <a:t>   そもそも配信を諦める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853"/>
                </a:solidFill>
                <a:latin typeface="Meiryo"/>
              </a:defRPr>
            </a:pPr>
            <a:r>
              <a:t>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eiryo"/>
              </a:defRPr>
            </a:pPr>
            <a:r>
              <a:t>スマホだけでTV中継品質を実現する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3474720" cy="4389120"/>
          </a:xfrm>
          <a:prstGeom prst="rect">
            <a:avLst/>
          </a:prstGeom>
          <a:solidFill>
            <a:srgbClr val="13243B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C853"/>
                </a:solidFill>
                <a:latin typeface="Meiryo"/>
              </a:defRPr>
            </a:pPr>
            <a:r>
              <a:t>TV中継風オーバーレイ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4"/>
                </a:solidFill>
                <a:latin typeface="Meiryo"/>
              </a:defRPr>
            </a:pPr>
            <a:r>
              <a:t>スコア・チーム名・時間を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6148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0C853"/>
                </a:solidFill>
                <a:latin typeface="Meiryo"/>
              </a:defRPr>
            </a:pPr>
            <a:r>
              <a:t>映像に常時オーバーレイ表示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54096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4"/>
                </a:solidFill>
                <a:latin typeface="Meiryo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731520" y="3346704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4"/>
                </a:solidFill>
                <a:latin typeface="Meiryo"/>
              </a:defRPr>
            </a:pPr>
            <a:r>
              <a:t>映像を遮ることなく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63931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4"/>
                </a:solidFill>
                <a:latin typeface="Meiryo"/>
              </a:defRPr>
            </a:pPr>
            <a:r>
              <a:t>試合情報が常に視聴者に届く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9319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4"/>
                </a:solidFill>
                <a:latin typeface="Meiryo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731520" y="422452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4"/>
                </a:solidFill>
                <a:latin typeface="Meiryo"/>
              </a:defRPr>
            </a:pPr>
            <a:r>
              <a:t>「今知りたい！」に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517136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0C853"/>
                </a:solidFill>
                <a:latin typeface="Meiryo"/>
              </a:defRPr>
            </a:pPr>
            <a:r>
              <a:t>常に応え続けるUI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1828800"/>
            <a:ext cx="3474720" cy="4389120"/>
          </a:xfrm>
          <a:prstGeom prst="rect">
            <a:avLst/>
          </a:prstGeom>
          <a:solidFill>
            <a:srgbClr val="13243B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20116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C853"/>
                </a:solidFill>
                <a:latin typeface="Meiryo"/>
              </a:defRPr>
            </a:pPr>
            <a:r>
              <a:t>専用リモコン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4688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4"/>
                </a:solidFill>
                <a:latin typeface="Meiryo"/>
              </a:defRPr>
            </a:pPr>
            <a:r>
              <a:t>別のスマホがスコア入力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76148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0C853"/>
                </a:solidFill>
                <a:latin typeface="Meiryo"/>
              </a:defRPr>
            </a:pPr>
            <a:r>
              <a:t>専用リモコンに変身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054096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4"/>
                </a:solidFill>
                <a:latin typeface="Meiry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4572000" y="3346704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4"/>
                </a:solidFill>
                <a:latin typeface="Meiryo"/>
              </a:defRPr>
            </a:pPr>
            <a:r>
              <a:t>得点・イベント（ゴール、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363931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4"/>
                </a:solidFill>
                <a:latin typeface="Meiryo"/>
              </a:defRPr>
            </a:pPr>
            <a:r>
              <a:t>ファウル等）をワンタップ入力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39319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4"/>
                </a:solidFill>
                <a:latin typeface="Meiryo"/>
              </a:defRPr>
            </a:pPr>
            <a:r>
              <a:t>→ 即座にオーバーレイ反映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422452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4"/>
                </a:solidFill>
                <a:latin typeface="Meiryo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4572000" y="4517136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0C853"/>
                </a:solidFill>
                <a:latin typeface="Meiryo"/>
              </a:defRPr>
            </a:pPr>
            <a:r>
              <a:t>撮影者は撮影に集中できる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8160" y="1828800"/>
            <a:ext cx="3474720" cy="4389120"/>
          </a:xfrm>
          <a:prstGeom prst="rect">
            <a:avLst/>
          </a:prstGeom>
          <a:solidFill>
            <a:srgbClr val="13243B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0" y="20116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C853"/>
                </a:solidFill>
                <a:latin typeface="Meiryo"/>
              </a:defRPr>
            </a:pPr>
            <a:r>
              <a:t>マルチカメラ AI切替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24688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4"/>
                </a:solidFill>
                <a:latin typeface="Meiryo"/>
              </a:defRPr>
            </a:pPr>
            <a:r>
              <a:t>複数スマホをWiFi/BT/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276148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4"/>
                </a:solidFill>
                <a:latin typeface="Meiryo"/>
              </a:defRPr>
            </a:pPr>
            <a:r>
              <a:t>クラウドで紐付け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3054096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4"/>
                </a:solidFill>
                <a:latin typeface="Meiryo"/>
              </a:defRPr>
            </a:pPr>
          </a:p>
        </p:txBody>
      </p:sp>
      <p:sp>
        <p:nvSpPr>
          <p:cNvPr id="30" name="TextBox 29"/>
          <p:cNvSpPr txBox="1"/>
          <p:nvPr/>
        </p:nvSpPr>
        <p:spPr>
          <a:xfrm>
            <a:off x="8412480" y="3346704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4"/>
                </a:solidFill>
                <a:latin typeface="Meiryo"/>
              </a:defRPr>
            </a:pPr>
            <a:r>
              <a:t>AIが自動でベストアングルを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363931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0C853"/>
                </a:solidFill>
                <a:latin typeface="Meiryo"/>
              </a:defRPr>
            </a:pPr>
            <a:r>
              <a:t>選択・カット切替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39319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4"/>
                </a:solidFill>
                <a:latin typeface="Meiryo"/>
              </a:defRPr>
            </a:pPr>
          </a:p>
        </p:txBody>
      </p:sp>
      <p:sp>
        <p:nvSpPr>
          <p:cNvPr id="33" name="TextBox 32"/>
          <p:cNvSpPr txBox="1"/>
          <p:nvPr/>
        </p:nvSpPr>
        <p:spPr>
          <a:xfrm>
            <a:off x="8412480" y="422452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4"/>
                </a:solidFill>
                <a:latin typeface="Meiryo"/>
              </a:defRPr>
            </a:pPr>
            <a:r>
              <a:t>保護者2〜3人のスマホで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4517136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0C853"/>
                </a:solidFill>
                <a:latin typeface="Meiryo"/>
              </a:defRPr>
            </a:pPr>
            <a:r>
              <a:t>プロ品質の中継が完成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A3FF"/>
                </a:solidFill>
                <a:latin typeface="Meiryo"/>
              </a:defRPr>
            </a:pPr>
            <a:r>
              <a:t>USER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eiryo"/>
              </a:defRPr>
            </a:pPr>
            <a:r>
              <a:t>配信者・視聴者それぞれの体験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737360"/>
            <a:ext cx="5394960" cy="45720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Meiryo"/>
              </a:defRPr>
            </a:pPr>
            <a:r>
              <a:t>配信者（保護者）の体験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774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8C4"/>
                </a:solidFill>
                <a:latin typeface="Meiryo"/>
              </a:defRPr>
            </a:pPr>
            <a:r>
              <a:t>1.  アプリを開いて「配信開始」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2491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8C4"/>
                </a:solidFill>
                <a:latin typeface="Meiryo"/>
              </a:defRPr>
            </a:pPr>
            <a:r>
              <a:t>2.  試合情報（チーム名・競技）を入力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7238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8C4"/>
                </a:solidFill>
                <a:latin typeface="Meiryo"/>
              </a:defRPr>
            </a:pPr>
            <a:r>
              <a:t>3.  スマホで撮影開始 → 自動でオーバーレイ表示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41985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8C4"/>
                </a:solidFill>
                <a:latin typeface="Meiryo"/>
              </a:defRPr>
            </a:pPr>
            <a:r>
              <a:t>4.  別の保護者がリモコンアプリでスコア入力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76732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8C4"/>
                </a:solidFill>
                <a:latin typeface="Meiryo"/>
              </a:defRPr>
            </a:pPr>
            <a:r>
              <a:t>5.  さらに別の保護者がサブカメラとして参加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1148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8C4"/>
                </a:solidFill>
                <a:latin typeface="Meiryo"/>
              </a:defRPr>
            </a:pPr>
            <a:r>
              <a:t>6.  AIが自動でカメラ切替 → TV中継品質の完成！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737360"/>
            <a:ext cx="5394960" cy="457200"/>
          </a:xfrm>
          <a:prstGeom prst="rect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783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eiryo"/>
              </a:defRPr>
            </a:pPr>
            <a:r>
              <a:t>視聴者（家族・関係者）の体験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3774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8C4"/>
                </a:solidFill>
                <a:latin typeface="Meiryo"/>
              </a:defRPr>
            </a:pPr>
            <a:r>
              <a:t>1.  アプリ or Webでログイン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72491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8C4"/>
                </a:solidFill>
                <a:latin typeface="Meiryo"/>
              </a:defRPr>
            </a:pPr>
            <a:r>
              <a:t>2.  お気に入りのチーム・大会をフォロー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07238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8C4"/>
                </a:solidFill>
                <a:latin typeface="Meiryo"/>
              </a:defRPr>
            </a:pPr>
            <a:r>
              <a:t>3.  ライブ配信の通知が届く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41985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8C4"/>
                </a:solidFill>
                <a:latin typeface="Meiryo"/>
              </a:defRPr>
            </a:pPr>
            <a:r>
              <a:t>4.  タップして視聴開始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76732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8C4"/>
                </a:solidFill>
                <a:latin typeface="Meiryo"/>
              </a:defRPr>
            </a:pPr>
            <a:r>
              <a:t>5.  スコア・試合状況がリアルタイムで見える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41148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8C4"/>
                </a:solidFill>
                <a:latin typeface="Meiryo"/>
              </a:defRPr>
            </a:pPr>
            <a:r>
              <a:t>6.  見逃しても → アーカイブでいつでも再視聴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120640"/>
            <a:ext cx="11247120" cy="1097280"/>
          </a:xfrm>
          <a:prstGeom prst="rect">
            <a:avLst/>
          </a:prstGeom>
          <a:solidFill>
            <a:srgbClr val="13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2578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C853"/>
                </a:solidFill>
                <a:latin typeface="Meiryo"/>
              </a:defRPr>
            </a:pPr>
            <a:r>
              <a:t>ポイント:  保護者2〜3人のスマホだけで、プロのTV中継チームと同等の配信が可能。</a:t>
            </a:r>
            <a:br/>
            <a:r>
              <a:t>特別な機材・技術知識は一切不要。アプリが全てをサポートする。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Meiryo"/>
              </a:defRPr>
            </a:pPr>
            <a:r>
              <a:t>TARGET 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eiryo"/>
              </a:defRPr>
            </a:pPr>
            <a:r>
              <a:t>膨大な未開拓市場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3474720" cy="2286000"/>
          </a:xfrm>
          <a:prstGeom prst="rect">
            <a:avLst/>
          </a:prstGeom>
          <a:solidFill>
            <a:srgbClr val="13243B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8C00"/>
                </a:solidFill>
                <a:latin typeface="Meiryo"/>
              </a:defRPr>
            </a:pPr>
            <a:r>
              <a:t>小学校スポーツ少年団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Meiryo"/>
              </a:defRPr>
            </a:pPr>
            <a:r>
              <a:t>全国約 25,000 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6148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4"/>
                </a:solidFill>
                <a:latin typeface="Meiryo"/>
              </a:defRPr>
            </a:pPr>
            <a:r>
              <a:t>登録団員数 約 60万人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54096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4"/>
                </a:solidFill>
                <a:latin typeface="Meiryo"/>
              </a:defRPr>
            </a:pPr>
            <a:r>
              <a:t>→ その背後に120万人の保護者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828800"/>
            <a:ext cx="3474720" cy="2286000"/>
          </a:xfrm>
          <a:prstGeom prst="rect">
            <a:avLst/>
          </a:prstGeom>
          <a:solidFill>
            <a:srgbClr val="13243B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0116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8C00"/>
                </a:solidFill>
                <a:latin typeface="Meiryo"/>
              </a:defRPr>
            </a:pPr>
            <a:r>
              <a:t>中学校部活動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4688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Meiryo"/>
              </a:defRPr>
            </a:pPr>
            <a:r>
              <a:t>全国約 10,000 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76148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4"/>
                </a:solidFill>
                <a:latin typeface="Meiryo"/>
              </a:defRPr>
            </a:pPr>
            <a:r>
              <a:t>運動部員数 約 200万人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054096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4"/>
                </a:solidFill>
                <a:latin typeface="Meiryo"/>
              </a:defRPr>
            </a:pPr>
            <a:r>
              <a:t>地区大会・県大会は配信ゼロ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1828800"/>
            <a:ext cx="3474720" cy="2286000"/>
          </a:xfrm>
          <a:prstGeom prst="rect">
            <a:avLst/>
          </a:prstGeom>
          <a:solidFill>
            <a:srgbClr val="13243B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20116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8C00"/>
                </a:solidFill>
                <a:latin typeface="Meiryo"/>
              </a:defRPr>
            </a:pPr>
            <a:r>
              <a:t>高校部活動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4688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Meiryo"/>
              </a:defRPr>
            </a:pPr>
            <a:r>
              <a:t>全国約 5,000 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76148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4"/>
                </a:solidFill>
                <a:latin typeface="Meiryo"/>
              </a:defRPr>
            </a:pPr>
            <a:r>
              <a:t>インターハイ予選等の地方大会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3054096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4"/>
                </a:solidFill>
                <a:latin typeface="Meiryo"/>
              </a:defRPr>
            </a:pPr>
            <a:r>
              <a:t>注目度は高いが配信がない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572000"/>
            <a:ext cx="11247120" cy="1828800"/>
          </a:xfrm>
          <a:prstGeom prst="rect">
            <a:avLst/>
          </a:prstGeom>
          <a:solidFill>
            <a:srgbClr val="13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75488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FFFFFF"/>
                </a:solidFill>
                <a:latin typeface="Meiryo"/>
              </a:defRPr>
            </a:pPr>
            <a:r>
              <a:t>対象スポーツ: 全ジャンル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B0B8C4"/>
                </a:solidFill>
                <a:latin typeface="Meiryo"/>
              </a:defRPr>
            </a:pPr>
            <a:r>
              <a:t>サッカー / 野球 / バスケ / バレー / 陸上 / 柔道 / 剣道 / 水泳 / テニス / 卓球 … etc.</a:t>
            </a:r>
          </a:p>
          <a:p>
            <a:pPr algn="l">
              <a:spcAft>
                <a:spcPts val="600"/>
              </a:spcAft>
              <a:defRPr sz="800" b="0">
                <a:solidFill>
                  <a:srgbClr val="B0B8C4"/>
                </a:solidFill>
                <a:latin typeface="Meiryo"/>
              </a:defRPr>
            </a:pPr>
          </a:p>
          <a:p>
            <a:pPr algn="l">
              <a:spcAft>
                <a:spcPts val="600"/>
              </a:spcAft>
              <a:defRPr sz="1500" b="0">
                <a:solidFill>
                  <a:srgbClr val="B0B8C4"/>
                </a:solidFill>
                <a:latin typeface="Meiryo"/>
              </a:defRPr>
            </a:pPr>
            <a:r>
              <a:t>既存サービス（スポーツブル等）がカバーしていないローカル大会・地域大会は、</a:t>
            </a:r>
          </a:p>
          <a:p>
            <a:pPr algn="l">
              <a:spcAft>
                <a:spcPts val="600"/>
              </a:spcAft>
              <a:defRPr sz="1800" b="1">
                <a:solidFill>
                  <a:srgbClr val="FF8C00"/>
                </a:solidFill>
                <a:latin typeface="Meiryo"/>
              </a:defRPr>
            </a:pPr>
            <a:r>
              <a:t>年間 数十万試合 規模の膨大な未開拓市場。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853"/>
                </a:solidFill>
                <a:latin typeface="Meiryo"/>
              </a:defRPr>
            </a:pPr>
            <a: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eiryo"/>
              </a:defRPr>
            </a:pPr>
            <a:r>
              <a:t>2段階の収益モデル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5394960" cy="4114800"/>
          </a:xfrm>
          <a:prstGeom prst="rect">
            <a:avLst/>
          </a:prstGeom>
          <a:solidFill>
            <a:srgbClr val="13243B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C853"/>
                </a:solidFill>
                <a:latin typeface="Meiryo"/>
              </a:defRPr>
            </a:pPr>
            <a:r>
              <a:t>Phase 1: サブスクリプション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4"/>
                </a:solidFill>
                <a:latin typeface="Meiry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731520" y="276148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Meiryo"/>
              </a:defRPr>
            </a:pPr>
            <a:r>
              <a:t>月額課金で視聴し放題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54096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4"/>
                </a:solidFill>
                <a:latin typeface="Meiryo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731520" y="3346704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4"/>
                </a:solidFill>
                <a:latin typeface="Meiryo"/>
              </a:defRPr>
            </a:pPr>
            <a:r>
              <a:t>「有料でも絶対に価値がある」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63931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4"/>
                </a:solidFill>
                <a:latin typeface="Meiryo"/>
              </a:defRPr>
            </a:pPr>
            <a:r>
              <a:t>と感じてもらえるサービス品質が前提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93192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4"/>
                </a:solidFill>
                <a:latin typeface="Meiryo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731520" y="422452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Meiryo"/>
              </a:defRPr>
            </a:pPr>
            <a:r>
              <a:t>想定プラン: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517136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4"/>
                </a:solidFill>
                <a:latin typeface="Meiryo"/>
              </a:defRPr>
            </a:pPr>
            <a:r>
              <a:t>  ベーシック:  月額 ¥500〜（1チームフォロー）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809744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4"/>
                </a:solidFill>
                <a:latin typeface="Meiryo"/>
              </a:defRPr>
            </a:pPr>
            <a:r>
              <a:t>  スタンダード: 月額 ¥980〜（全試合見放題）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10235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4"/>
                </a:solidFill>
                <a:latin typeface="Meiryo"/>
              </a:defRPr>
            </a:pPr>
            <a:r>
              <a:t>  ファミリー:  月額 ¥1,480〜（家族共有）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1828800"/>
            <a:ext cx="5394960" cy="4114800"/>
          </a:xfrm>
          <a:prstGeom prst="rect">
            <a:avLst/>
          </a:prstGeom>
          <a:solidFill>
            <a:srgbClr val="13243B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20116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C853"/>
                </a:solidFill>
                <a:latin typeface="Meiryo"/>
              </a:defRPr>
            </a:pPr>
            <a:r>
              <a:t>Phase 2: 広告収入（ユーザー拡大後）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46888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4"/>
                </a:solidFill>
                <a:latin typeface="Meiry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6583680" y="276148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Meiryo"/>
              </a:defRPr>
            </a:pPr>
            <a:r>
              <a:t>スポーツ親和性の高い企業の広告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054096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4"/>
                </a:solidFill>
                <a:latin typeface="Meiryo"/>
              </a:defRPr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6583680" y="3346704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Meiryo"/>
              </a:defRPr>
            </a:pPr>
            <a:r>
              <a:t>想定広告主: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363931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4"/>
                </a:solidFill>
                <a:latin typeface="Meiryo"/>
              </a:defRPr>
            </a:pPr>
            <a:r>
              <a:t>  スポーツ用品メーカー（ミズノ、アシックス等）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393192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4"/>
                </a:solidFill>
                <a:latin typeface="Meiryo"/>
              </a:defRPr>
            </a:pPr>
            <a:r>
              <a:t>  飲料メーカー（アクエリアス、ポカリ等）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422452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4"/>
                </a:solidFill>
                <a:latin typeface="Meiryo"/>
              </a:defRPr>
            </a:pPr>
            <a:r>
              <a:t>  保険会社（スポーツ保険）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4517136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4"/>
                </a:solidFill>
                <a:latin typeface="Meiryo"/>
              </a:defRPr>
            </a:pPr>
            <a:r>
              <a:t>  学習塾・教育サービス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4809744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4"/>
                </a:solidFill>
                <a:latin typeface="Meiryo"/>
              </a:defRPr>
            </a:pPr>
          </a:p>
        </p:txBody>
      </p:sp>
      <p:sp>
        <p:nvSpPr>
          <p:cNvPr id="28" name="TextBox 27"/>
          <p:cNvSpPr txBox="1"/>
          <p:nvPr/>
        </p:nvSpPr>
        <p:spPr>
          <a:xfrm>
            <a:off x="6583680" y="510235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0C853"/>
                </a:solidFill>
                <a:latin typeface="Meiryo"/>
              </a:defRPr>
            </a:pPr>
            <a:r>
              <a:t>マス層浸透で広告単価UP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A3FF"/>
                </a:solidFill>
                <a:latin typeface="Meiryo"/>
              </a:defRPr>
            </a:pPr>
            <a:r>
              <a:t>EXIT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eiryo"/>
              </a:defRPr>
            </a:pPr>
            <a:r>
              <a:t>スポーツブルとのシナジー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5394960" cy="2011680"/>
          </a:xfrm>
          <a:prstGeom prst="rect">
            <a:avLst/>
          </a:prstGeom>
          <a:solidFill>
            <a:srgbClr val="13243B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B0B8C4"/>
                </a:solidFill>
                <a:latin typeface="Meiryo"/>
              </a:defRPr>
            </a:pPr>
            <a:r>
              <a:t>現状のスポーツブル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4"/>
                </a:solidFill>
                <a:latin typeface="Meiryo"/>
              </a:defRPr>
            </a:pPr>
            <a:r>
              <a:t>自社カメラクルーで撮影 → コスト大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6148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4"/>
                </a:solidFill>
                <a:latin typeface="Meiryo"/>
              </a:defRPr>
            </a:pPr>
            <a:r>
              <a:t>全国大会・プロのみ → コンテンツ量に限界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54096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4"/>
                </a:solidFill>
                <a:latin typeface="Meiryo"/>
              </a:defRPr>
            </a:pPr>
            <a:r>
              <a:t>ローカル大会は完全に未対応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828800"/>
            <a:ext cx="5394960" cy="2011680"/>
          </a:xfrm>
          <a:prstGeom prst="rect">
            <a:avLst/>
          </a:prstGeom>
          <a:solidFill>
            <a:srgbClr val="13243B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0116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C853"/>
                </a:solidFill>
                <a:latin typeface="Meiryo"/>
              </a:defRPr>
            </a:pPr>
            <a:r>
              <a:t>連携後のスポーツブル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0C853"/>
                </a:solidFill>
                <a:latin typeface="Meiryo"/>
              </a:defRPr>
            </a:pPr>
            <a:r>
              <a:t>保護者UGC → 撮影コストゼロ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76148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0C853"/>
                </a:solidFill>
                <a:latin typeface="Meiryo"/>
              </a:defRPr>
            </a:pPr>
            <a:r>
              <a:t>ローカル大会が大量追加 → コンテンツ爆増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054096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0C853"/>
                </a:solidFill>
                <a:latin typeface="Meiryo"/>
              </a:defRPr>
            </a:pPr>
            <a:r>
              <a:t>UU数の大幅UP → 広告収益UP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206240"/>
            <a:ext cx="11247120" cy="2286000"/>
          </a:xfrm>
          <a:prstGeom prst="rect">
            <a:avLst/>
          </a:prstGeom>
          <a:solidFill>
            <a:srgbClr val="13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38912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000" b="1">
                <a:solidFill>
                  <a:srgbClr val="00A3FF"/>
                </a:solidFill>
                <a:latin typeface="Meiryo"/>
              </a:defRPr>
            </a:pPr>
            <a:r>
              <a:t>買収時の価値提案</a:t>
            </a:r>
          </a:p>
          <a:p>
            <a:pPr algn="l">
              <a:spcAft>
                <a:spcPts val="600"/>
              </a:spcAft>
              <a:defRPr sz="800" b="0">
                <a:solidFill>
                  <a:srgbClr val="B0B8C4"/>
                </a:solidFill>
                <a:latin typeface="Meiryo"/>
              </a:defRPr>
            </a:pPr>
          </a:p>
          <a:p>
            <a:pPr algn="l">
              <a:spcAft>
                <a:spcPts val="600"/>
              </a:spcAft>
              <a:defRPr sz="1600" b="0">
                <a:solidFill>
                  <a:srgbClr val="FFFFFF"/>
                </a:solidFill>
                <a:latin typeface="Meiryo"/>
              </a:defRPr>
            </a:pPr>
            <a:r>
              <a:t>1. UGC配信基盤  — 保護者が撮影するインフラが完成済み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FFFFFF"/>
                </a:solidFill>
                <a:latin typeface="Meiryo"/>
              </a:defRPr>
            </a:pPr>
            <a:r>
              <a:t>2. アクティブユーザー  — ローカルスポーツの保護者コミュニティ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FFFFFF"/>
                </a:solidFill>
                <a:latin typeface="Meiryo"/>
              </a:defRPr>
            </a:pPr>
            <a:r>
              <a:t>3. コンテンツ量  — 年間数十万試合分のアーカイブ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FFFFFF"/>
                </a:solidFill>
                <a:latin typeface="Meiryo"/>
              </a:defRPr>
            </a:pPr>
            <a:r>
              <a:t>4. 統合コスト最小  — API連携を前提とした設計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853"/>
                </a:solidFill>
                <a:latin typeface="Meiryo"/>
              </a:defRPr>
            </a:pPr>
            <a: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eiryo"/>
              </a:defRPr>
            </a:pPr>
            <a:r>
              <a:t>段階的開発ロードマップ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3474720" cy="4389120"/>
          </a:xfrm>
          <a:prstGeom prst="rect">
            <a:avLst/>
          </a:prstGeom>
          <a:solidFill>
            <a:srgbClr val="13243B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C853"/>
                </a:solidFill>
                <a:latin typeface="Meiryo"/>
              </a:defRPr>
            </a:pPr>
            <a:r>
              <a:t>MVP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Meiryo"/>
              </a:defRPr>
            </a:pPr>
            <a:r>
              <a:t>基本配信 + スコアオーバーレイ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6148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4"/>
                </a:solidFill>
                <a:latin typeface="Meiryo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731520" y="3054096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4"/>
                </a:solidFill>
                <a:latin typeface="Meiryo"/>
              </a:defRPr>
            </a:pPr>
            <a:r>
              <a:t>1台のスマホで配信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346704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4"/>
                </a:solidFill>
                <a:latin typeface="Meiryo"/>
              </a:defRPr>
            </a:pPr>
            <a:r>
              <a:t>スコア手動入力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63931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4"/>
                </a:solidFill>
                <a:latin typeface="Meiryo"/>
              </a:defRPr>
            </a:pPr>
            <a:r>
              <a:t>TV風オーバーレイ表示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9319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4"/>
                </a:solidFill>
                <a:latin typeface="Meiryo"/>
              </a:defRPr>
            </a:pPr>
            <a:r>
              <a:t>基本的な視聴画面（Web）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22452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4"/>
                </a:solidFill>
                <a:latin typeface="Meiryo"/>
              </a:defRPr>
            </a:pPr>
            <a:r>
              <a:t>ユーザー登録・認証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517136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4"/>
                </a:solidFill>
                <a:latin typeface="Meiry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731520" y="4809744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C853"/>
                </a:solidFill>
                <a:latin typeface="Meiryo"/>
              </a:defRPr>
            </a:pPr>
            <a:r>
              <a:t>目標: 動くプロトタイプ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10235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C853"/>
                </a:solidFill>
                <a:latin typeface="Meiryo"/>
              </a:defRPr>
            </a:pPr>
            <a:r>
              <a:t>「これは使える」の検証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1828800"/>
            <a:ext cx="3474720" cy="4389120"/>
          </a:xfrm>
          <a:prstGeom prst="rect">
            <a:avLst/>
          </a:prstGeom>
          <a:solidFill>
            <a:srgbClr val="13243B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20116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A3FF"/>
                </a:solidFill>
                <a:latin typeface="Meiryo"/>
              </a:defRPr>
            </a:pPr>
            <a:r>
              <a:t>v1.0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4688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Meiryo"/>
              </a:defRPr>
            </a:pPr>
            <a:r>
              <a:t>リモコン連携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276148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4"/>
                </a:solidFill>
                <a:latin typeface="Meiryo"/>
              </a:defRPr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4572000" y="3054096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4"/>
                </a:solidFill>
                <a:latin typeface="Meiryo"/>
              </a:defRPr>
            </a:pPr>
            <a:r>
              <a:t>別デバイスからスコア操作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3346704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4"/>
                </a:solidFill>
                <a:latin typeface="Meiryo"/>
              </a:defRPr>
            </a:pPr>
            <a:r>
              <a:t>リアルタイム同期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363931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4"/>
                </a:solidFill>
                <a:latin typeface="Meiryo"/>
              </a:defRPr>
            </a:pPr>
            <a:r>
              <a:t>チーム・大会管理機能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39319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4"/>
                </a:solidFill>
                <a:latin typeface="Meiryo"/>
              </a:defRPr>
            </a:pPr>
            <a:r>
              <a:t>モバイルアプリ（iOS/Android）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422452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4"/>
                </a:solidFill>
                <a:latin typeface="Meiryo"/>
              </a:defRPr>
            </a:pPr>
            <a:r>
              <a:t>サブスク課金機能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4517136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4"/>
                </a:solidFill>
                <a:latin typeface="Meiryo"/>
              </a:defRPr>
            </a:pPr>
          </a:p>
        </p:txBody>
      </p:sp>
      <p:sp>
        <p:nvSpPr>
          <p:cNvPr id="27" name="TextBox 26"/>
          <p:cNvSpPr txBox="1"/>
          <p:nvPr/>
        </p:nvSpPr>
        <p:spPr>
          <a:xfrm>
            <a:off x="4572000" y="4809744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A3FF"/>
                </a:solidFill>
                <a:latin typeface="Meiryo"/>
              </a:defRPr>
            </a:pPr>
            <a:r>
              <a:t>目標: 正式リリース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510235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A3FF"/>
                </a:solidFill>
                <a:latin typeface="Meiryo"/>
              </a:defRPr>
            </a:pPr>
            <a:r>
              <a:t>有料ユーザー獲得開始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38160" y="1828800"/>
            <a:ext cx="3474720" cy="4389120"/>
          </a:xfrm>
          <a:prstGeom prst="rect">
            <a:avLst/>
          </a:prstGeom>
          <a:solidFill>
            <a:srgbClr val="13243B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80" y="20116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8C00"/>
                </a:solidFill>
                <a:latin typeface="Meiryo"/>
              </a:defRPr>
            </a:pPr>
            <a:r>
              <a:t>v2.0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24688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Meiryo"/>
              </a:defRPr>
            </a:pPr>
            <a:r>
              <a:t>マルチカメラ + AI切替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276148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4"/>
                </a:solidFill>
                <a:latin typeface="Meiryo"/>
              </a:defRPr>
            </a:pPr>
          </a:p>
        </p:txBody>
      </p:sp>
      <p:sp>
        <p:nvSpPr>
          <p:cNvPr id="33" name="TextBox 32"/>
          <p:cNvSpPr txBox="1"/>
          <p:nvPr/>
        </p:nvSpPr>
        <p:spPr>
          <a:xfrm>
            <a:off x="8412480" y="3054096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4"/>
                </a:solidFill>
                <a:latin typeface="Meiryo"/>
              </a:defRPr>
            </a:pPr>
            <a:r>
              <a:t>複数スマホ連携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3346704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4"/>
                </a:solidFill>
                <a:latin typeface="Meiryo"/>
              </a:defRPr>
            </a:pPr>
            <a:r>
              <a:t>AI自動カメラスイッチング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363931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4"/>
                </a:solidFill>
                <a:latin typeface="Meiryo"/>
              </a:defRPr>
            </a:pPr>
            <a:r>
              <a:t>広告配信基盤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0" y="39319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4"/>
                </a:solidFill>
                <a:latin typeface="Meiryo"/>
              </a:defRPr>
            </a:pPr>
            <a:r>
              <a:t>スポーツブル連携API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0" y="422452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4"/>
                </a:solidFill>
                <a:latin typeface="Meiryo"/>
              </a:defRPr>
            </a:pPr>
            <a:r>
              <a:t>アナリティクス・ダッシュボード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0" y="4517136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4"/>
                </a:solidFill>
                <a:latin typeface="Meiryo"/>
              </a:defRPr>
            </a:pPr>
          </a:p>
        </p:txBody>
      </p:sp>
      <p:sp>
        <p:nvSpPr>
          <p:cNvPr id="39" name="TextBox 38"/>
          <p:cNvSpPr txBox="1"/>
          <p:nvPr/>
        </p:nvSpPr>
        <p:spPr>
          <a:xfrm>
            <a:off x="8412480" y="4809744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8C00"/>
                </a:solidFill>
                <a:latin typeface="Meiryo"/>
              </a:defRPr>
            </a:pPr>
            <a:r>
              <a:t>目標: Exit準備完了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0" y="510235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8C00"/>
                </a:solidFill>
                <a:latin typeface="Meiryo"/>
              </a:defRPr>
            </a:pPr>
            <a:r>
              <a:t>買収提案可能な状態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A3FF"/>
                </a:solidFill>
                <a:latin typeface="Meiryo"/>
              </a:defRPr>
            </a:pPr>
            <a:r>
              <a:t>TEAM &amp;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eiryo"/>
              </a:defRPr>
            </a:pPr>
            <a:r>
              <a:t>開発体制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5394960" cy="2286000"/>
          </a:xfrm>
          <a:prstGeom prst="rect">
            <a:avLst/>
          </a:prstGeom>
          <a:solidFill>
            <a:srgbClr val="13243B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A3FF"/>
                </a:solidFill>
                <a:latin typeface="Meiryo"/>
              </a:defRPr>
            </a:pPr>
            <a:r>
              <a:t>コアチーム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Meiryo"/>
              </a:defRPr>
            </a:pPr>
            <a:r>
              <a:t>オーナー — プロジェクト指揮・意思決定・プロダクト設計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6148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Meiryo"/>
              </a:defRPr>
            </a:pPr>
            <a:r>
              <a:t>Claude AI — 設計・開発・技術アドバイザー・コードレビュー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54096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4"/>
                </a:solidFill>
                <a:latin typeface="Meiryo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731520" y="3346704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A3FF"/>
                </a:solidFill>
                <a:latin typeface="Meiryo"/>
              </a:defRPr>
            </a:pPr>
            <a:r>
              <a:t>AI駆動の少人数開発で、スピードと品質を両立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828800"/>
            <a:ext cx="5394960" cy="2286000"/>
          </a:xfrm>
          <a:prstGeom prst="rect">
            <a:avLst/>
          </a:prstGeom>
          <a:solidFill>
            <a:srgbClr val="13243B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A3FF"/>
                </a:solidFill>
                <a:latin typeface="Meiryo"/>
              </a:defRPr>
            </a:pPr>
            <a:r>
              <a:t>外部リソース（必要に応じて）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46888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Meiryo"/>
              </a:defRPr>
            </a:pPr>
            <a:r>
              <a:t>ココナラ等で個人開発者に依頼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76148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4"/>
                </a:solidFill>
                <a:latin typeface="Meiry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6583680" y="3054096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4"/>
                </a:solidFill>
                <a:latin typeface="Meiryo"/>
              </a:defRPr>
            </a:pPr>
            <a:r>
              <a:t>想定発注領域: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346704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4"/>
                </a:solidFill>
                <a:latin typeface="Meiryo"/>
              </a:defRPr>
            </a:pPr>
            <a:r>
              <a:t>  UI/UXデザイン、ネイティブアプリ実装、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63931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4"/>
                </a:solidFill>
                <a:latin typeface="Meiryo"/>
              </a:defRPr>
            </a:pPr>
            <a:r>
              <a:t>  映像処理・ストリーミング技術、インフラ構築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480560"/>
            <a:ext cx="11247120" cy="2011680"/>
          </a:xfrm>
          <a:prstGeom prst="rect">
            <a:avLst/>
          </a:prstGeom>
          <a:solidFill>
            <a:srgbClr val="13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66344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000" b="1">
                <a:solidFill>
                  <a:srgbClr val="00A3FF"/>
                </a:solidFill>
                <a:latin typeface="Meiryo"/>
              </a:defRPr>
            </a:pPr>
            <a:r>
              <a:t>開発方針</a:t>
            </a:r>
          </a:p>
          <a:p>
            <a:pPr algn="l">
              <a:spcAft>
                <a:spcPts val="600"/>
              </a:spcAft>
              <a:defRPr sz="800" b="0">
                <a:solidFill>
                  <a:srgbClr val="B0B8C4"/>
                </a:solidFill>
                <a:latin typeface="Meiryo"/>
              </a:defRPr>
            </a:pPr>
          </a:p>
          <a:p>
            <a:pPr algn="l">
              <a:spcAft>
                <a:spcPts val="600"/>
              </a:spcAft>
              <a:defRPr sz="1500" b="0">
                <a:solidFill>
                  <a:srgbClr val="FFFFFF"/>
                </a:solidFill>
                <a:latin typeface="Meiryo"/>
              </a:defRPr>
            </a:pPr>
            <a:r>
              <a:t>1. MVP First  — まず動くものを作り、実際のユーザーで検証する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FFFFFF"/>
                </a:solidFill>
                <a:latin typeface="Meiryo"/>
              </a:defRPr>
            </a:pPr>
            <a:r>
              <a:t>2. AI活用  — Claude によるコード生成・レビューで開発速度を最大化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FFFFFF"/>
                </a:solidFill>
                <a:latin typeface="Meiryo"/>
              </a:defRPr>
            </a:pPr>
            <a:r>
              <a:t>3. 段階的外注  — コア機能はClaudeと内製、専門領域はココナラで外注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FFFFFF"/>
                </a:solidFill>
                <a:latin typeface="Meiryo"/>
              </a:defRPr>
            </a:pPr>
            <a:r>
              <a:t>4. 技術選定は柔軟に  — 外注しやすい技術スタックを選ぶ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853"/>
                </a:solidFill>
                <a:latin typeface="Meiryo"/>
              </a:defRPr>
            </a:pPr>
            <a:r>
              <a:t>TECH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eiryo"/>
              </a:defRPr>
            </a:pPr>
            <a:r>
              <a:t>技術構成（想定）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3474720" cy="4114800"/>
          </a:xfrm>
          <a:prstGeom prst="rect">
            <a:avLst/>
          </a:prstGeom>
          <a:solidFill>
            <a:srgbClr val="13243B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C853"/>
                </a:solidFill>
                <a:latin typeface="Meiryo"/>
              </a:defRPr>
            </a:pPr>
            <a:r>
              <a:t>フロントエンド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Meiryo"/>
              </a:defRPr>
            </a:pPr>
            <a:r>
              <a:t>Web: Next.js / React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6148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Meiryo"/>
              </a:defRPr>
            </a:pPr>
            <a:r>
              <a:t>Mobile: React Native or Flutter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54096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4"/>
                </a:solidFill>
                <a:latin typeface="Meiryo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731520" y="3346704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4"/>
                </a:solidFill>
                <a:latin typeface="Meiryo"/>
              </a:defRPr>
            </a:pPr>
            <a:r>
              <a:t>オーバーレイ描画: Canvas / WebGL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63931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4"/>
                </a:solidFill>
                <a:latin typeface="Meiryo"/>
              </a:defRPr>
            </a:pPr>
            <a:r>
              <a:t>リアルタイム同期: WebSocket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9319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4"/>
                </a:solidFill>
                <a:latin typeface="Meiryo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731520" y="422452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C853"/>
                </a:solidFill>
                <a:latin typeface="Meiryo"/>
              </a:defRPr>
            </a:pPr>
            <a:r>
              <a:t>→ Web/Mobile共通の技術基盤で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517136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C853"/>
                </a:solidFill>
                <a:latin typeface="Meiryo"/>
              </a:defRPr>
            </a:pPr>
            <a:r>
              <a:t>   開発効率を最大化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1828800"/>
            <a:ext cx="3474720" cy="4114800"/>
          </a:xfrm>
          <a:prstGeom prst="rect">
            <a:avLst/>
          </a:prstGeom>
          <a:solidFill>
            <a:srgbClr val="13243B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20116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C853"/>
                </a:solidFill>
                <a:latin typeface="Meiryo"/>
              </a:defRPr>
            </a:pPr>
            <a:r>
              <a:t>バックエンド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4688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Meiryo"/>
              </a:defRPr>
            </a:pPr>
            <a:r>
              <a:t>API: Node.js or Go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76148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Meiryo"/>
              </a:defRPr>
            </a:pPr>
            <a:r>
              <a:t>DB: Supabase (PostgreSQL)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054096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Meiryo"/>
              </a:defRPr>
            </a:pPr>
            <a:r>
              <a:t>認証: Supabase Auth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346704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4"/>
                </a:solidFill>
                <a:latin typeface="Meiryo"/>
              </a:defRPr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4572000" y="363931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4"/>
                </a:solidFill>
                <a:latin typeface="Meiryo"/>
              </a:defRPr>
            </a:pPr>
            <a:r>
              <a:t>ストリーミング: WebRTC / HLS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39319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4"/>
                </a:solidFill>
                <a:latin typeface="Meiryo"/>
              </a:defRPr>
            </a:pPr>
            <a:r>
              <a:t>リアルタイム: Supabase Realtime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422452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4"/>
                </a:solidFill>
                <a:latin typeface="Meiryo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4572000" y="4517136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C853"/>
                </a:solidFill>
                <a:latin typeface="Meiryo"/>
              </a:defRPr>
            </a:pPr>
            <a:r>
              <a:t>→ Supabase活用で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4809744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C853"/>
                </a:solidFill>
                <a:latin typeface="Meiryo"/>
              </a:defRPr>
            </a:pPr>
            <a:r>
              <a:t>   インフラ管理コスト最小化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38160" y="1828800"/>
            <a:ext cx="3474720" cy="4114800"/>
          </a:xfrm>
          <a:prstGeom prst="rect">
            <a:avLst/>
          </a:prstGeom>
          <a:solidFill>
            <a:srgbClr val="13243B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0" y="20116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C853"/>
                </a:solidFill>
                <a:latin typeface="Meiryo"/>
              </a:defRPr>
            </a:pPr>
            <a:r>
              <a:t>AI / インフラ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24688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Meiryo"/>
              </a:defRPr>
            </a:pPr>
            <a:r>
              <a:t>AI切替: 映像解析 + ルールベース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276148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Meiryo"/>
              </a:defRPr>
            </a:pPr>
            <a:r>
              <a:t>デバイス間通信: WebRTC P2P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3054096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4"/>
                </a:solidFill>
                <a:latin typeface="Meiryo"/>
              </a:defRPr>
            </a:pPr>
          </a:p>
        </p:txBody>
      </p:sp>
      <p:sp>
        <p:nvSpPr>
          <p:cNvPr id="31" name="TextBox 30"/>
          <p:cNvSpPr txBox="1"/>
          <p:nvPr/>
        </p:nvSpPr>
        <p:spPr>
          <a:xfrm>
            <a:off x="8412480" y="3346704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4"/>
                </a:solidFill>
                <a:latin typeface="Meiryo"/>
              </a:defRPr>
            </a:pPr>
            <a:r>
              <a:t>クラウド: AWS or GCP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363931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4"/>
                </a:solidFill>
                <a:latin typeface="Meiryo"/>
              </a:defRPr>
            </a:pPr>
            <a:r>
              <a:t>CDN: CloudFront / Cloudflare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39319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4"/>
                </a:solidFill>
                <a:latin typeface="Meiryo"/>
              </a:defRPr>
            </a:pPr>
            <a:r>
              <a:t>CI/CD: GitHub Actions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422452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4"/>
                </a:solidFill>
                <a:latin typeface="Meiryo"/>
              </a:defRPr>
            </a:pPr>
          </a:p>
        </p:txBody>
      </p:sp>
      <p:sp>
        <p:nvSpPr>
          <p:cNvPr id="35" name="TextBox 34"/>
          <p:cNvSpPr txBox="1"/>
          <p:nvPr/>
        </p:nvSpPr>
        <p:spPr>
          <a:xfrm>
            <a:off x="8412480" y="4517136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C853"/>
                </a:solidFill>
                <a:latin typeface="Meiryo"/>
              </a:defRPr>
            </a:pPr>
            <a:r>
              <a:t>→ スケーラブルかつ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0" y="4809744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C853"/>
                </a:solidFill>
                <a:latin typeface="Meiryo"/>
              </a:defRPr>
            </a:pPr>
            <a:r>
              <a:t>   外注しやすい構成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Meiryo"/>
              </a:defRPr>
            </a:pPr>
            <a:r>
              <a:t>OUTSOURCING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eiryo"/>
              </a:defRPr>
            </a:pPr>
            <a:r>
              <a:t>外注戦略（ココナラ活用）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5394960" cy="1828800"/>
          </a:xfrm>
          <a:prstGeom prst="rect">
            <a:avLst/>
          </a:prstGeom>
          <a:solidFill>
            <a:srgbClr val="13243B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C853"/>
                </a:solidFill>
                <a:latin typeface="Meiryo"/>
              </a:defRPr>
            </a:pPr>
            <a:r>
              <a:t>内製（オーナー + Claude AI）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Meiryo"/>
              </a:defRPr>
            </a:pPr>
            <a:r>
              <a:t>プロダクト設計・要件定義・プロジェクト管理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6148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Meiryo"/>
              </a:defRPr>
            </a:pPr>
            <a:r>
              <a:t>バックエンドAPI・DB設計・基本的なフロントエンド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54096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Meiryo"/>
              </a:defRPr>
            </a:pPr>
            <a:r>
              <a:t>ビジネスロジック・コードレビュー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828800"/>
            <a:ext cx="5394960" cy="1828800"/>
          </a:xfrm>
          <a:prstGeom prst="rect">
            <a:avLst/>
          </a:prstGeom>
          <a:solidFill>
            <a:srgbClr val="13243B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0116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8C00"/>
                </a:solidFill>
                <a:latin typeface="Meiryo"/>
              </a:defRPr>
            </a:pPr>
            <a:r>
              <a:t>外注候補（ココナラ等）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Meiryo"/>
              </a:defRPr>
            </a:pPr>
            <a:r>
              <a:t>UI/UXデザイン（アプリ・Web）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76148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Meiryo"/>
              </a:defRPr>
            </a:pPr>
            <a:r>
              <a:t>ネイティブアプリ開発（iOS/Android固有機能）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054096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Meiryo"/>
              </a:defRPr>
            </a:pPr>
            <a:r>
              <a:t>映像処理・ストリーミング実装の専門家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023360"/>
            <a:ext cx="11247120" cy="2468880"/>
          </a:xfrm>
          <a:prstGeom prst="rect">
            <a:avLst/>
          </a:prstGeom>
          <a:solidFill>
            <a:srgbClr val="13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20624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000" b="1">
                <a:solidFill>
                  <a:srgbClr val="FF8C00"/>
                </a:solidFill>
                <a:latin typeface="Meiryo"/>
              </a:defRPr>
            </a:pPr>
            <a:r>
              <a:t>外注の進め方</a:t>
            </a:r>
          </a:p>
          <a:p>
            <a:pPr algn="l">
              <a:spcAft>
                <a:spcPts val="600"/>
              </a:spcAft>
              <a:defRPr sz="800" b="0">
                <a:solidFill>
                  <a:srgbClr val="B0B8C4"/>
                </a:solidFill>
                <a:latin typeface="Meiryo"/>
              </a:defRPr>
            </a:pPr>
          </a:p>
          <a:p>
            <a:pPr algn="l">
              <a:spcAft>
                <a:spcPts val="600"/>
              </a:spcAft>
              <a:defRPr sz="1500" b="0">
                <a:solidFill>
                  <a:srgbClr val="FFFFFF"/>
                </a:solidFill>
                <a:latin typeface="Meiryo"/>
              </a:defRPr>
            </a:pPr>
            <a:r>
              <a:t>Step 1:  MVPを内製で完成させ、プロダクトの方向性を固める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FFFFFF"/>
                </a:solidFill>
                <a:latin typeface="Meiryo"/>
              </a:defRPr>
            </a:pPr>
            <a:r>
              <a:t>Step 2:  MVP検証後、専門性が必要な領域を特定して発注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FFFFFF"/>
                </a:solidFill>
                <a:latin typeface="Meiryo"/>
              </a:defRPr>
            </a:pPr>
            <a:r>
              <a:t>Step 3:  要件定義書・技術仕様書をClaude AIで作成し、発注精度を上げる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FFFFFF"/>
                </a:solidFill>
                <a:latin typeface="Meiryo"/>
              </a:defRPr>
            </a:pPr>
            <a:r>
              <a:t>Step 4:  コードレビュー・品質管理はClaude AIでカバー</a:t>
            </a:r>
          </a:p>
          <a:p>
            <a:pPr algn="l">
              <a:spcAft>
                <a:spcPts val="600"/>
              </a:spcAft>
              <a:defRPr sz="800" b="0">
                <a:solidFill>
                  <a:srgbClr val="B0B8C4"/>
                </a:solidFill>
                <a:latin typeface="Meiryo"/>
              </a:defRPr>
            </a:pPr>
          </a:p>
          <a:p>
            <a:pPr algn="l">
              <a:spcAft>
                <a:spcPts val="600"/>
              </a:spcAft>
              <a:defRPr sz="1400" b="0">
                <a:solidFill>
                  <a:srgbClr val="FF8C00"/>
                </a:solidFill>
                <a:latin typeface="Meiryo"/>
              </a:defRPr>
            </a:pPr>
            <a:r>
              <a:t>ポイント: 「何を作るか」が明確な状態で発注することで、コスト・品質をコントロール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Meiryo"/>
              </a:defRPr>
            </a:pPr>
            <a:r>
              <a:t>Sports Streaming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0C853"/>
                </a:solidFill>
                <a:latin typeface="Meiryo"/>
              </a:defRPr>
            </a:pPr>
            <a:r>
              <a:t>すべての子どもの試合が、どこからでも見られる世界をつくる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2560320"/>
            <a:ext cx="8503920" cy="731520"/>
          </a:xfrm>
          <a:prstGeom prst="rect">
            <a:avLst/>
          </a:prstGeom>
          <a:solidFill>
            <a:srgbClr val="13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0" y="263347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C853"/>
                </a:solidFill>
                <a:latin typeface="Meiryo"/>
              </a:defRPr>
            </a:pPr>
            <a:r>
              <a:t>未開拓市場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292608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4"/>
                </a:solidFill>
                <a:latin typeface="Meiryo"/>
              </a:defRPr>
            </a:pPr>
            <a:r>
              <a:t>スポーツブル等がカバーしない年間数十万試合のローカルスポーツ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3429000"/>
            <a:ext cx="8503920" cy="731520"/>
          </a:xfrm>
          <a:prstGeom prst="rect">
            <a:avLst/>
          </a:prstGeom>
          <a:solidFill>
            <a:srgbClr val="13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03120" y="350215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C853"/>
                </a:solidFill>
                <a:latin typeface="Meiryo"/>
              </a:defRPr>
            </a:pPr>
            <a:r>
              <a:t>UGC × テクノロジー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379476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4"/>
                </a:solidFill>
                <a:latin typeface="Meiryo"/>
              </a:defRPr>
            </a:pPr>
            <a:r>
              <a:t>保護者のスマホだけでTV中継品質を実現する3つのコア機能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0" y="4297680"/>
            <a:ext cx="8503920" cy="731520"/>
          </a:xfrm>
          <a:prstGeom prst="rect">
            <a:avLst/>
          </a:prstGeom>
          <a:solidFill>
            <a:srgbClr val="13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0" y="437083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C853"/>
                </a:solidFill>
                <a:latin typeface="Meiryo"/>
              </a:defRPr>
            </a:pPr>
            <a:r>
              <a:t>明確なExit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466344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4"/>
                </a:solidFill>
                <a:latin typeface="Meiryo"/>
              </a:defRPr>
            </a:pPr>
            <a:r>
              <a:t>スポーツブルへの買収提案を見据えた設計・モデリング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0" y="5166360"/>
            <a:ext cx="8503920" cy="731520"/>
          </a:xfrm>
          <a:prstGeom prst="rect">
            <a:avLst/>
          </a:prstGeom>
          <a:solidFill>
            <a:srgbClr val="13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03120" y="523951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C853"/>
                </a:solidFill>
                <a:latin typeface="Meiryo"/>
              </a:defRPr>
            </a:pPr>
            <a:r>
              <a:t>AI駆動の開発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553212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4"/>
                </a:solidFill>
                <a:latin typeface="Meiryo"/>
              </a:defRPr>
            </a:pPr>
            <a:r>
              <a:t>Claude AI + ココナラ外注で、少人数でもスピーディに開発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943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eiryo"/>
              </a:defRPr>
            </a:pPr>
            <a:r>
              <a:t>Next Step → MVP開発開始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