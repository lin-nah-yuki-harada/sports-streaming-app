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3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6" r:id="rId2"/>
    <p:sldId id="315" r:id="rId3"/>
    <p:sldId id="297" r:id="rId4"/>
    <p:sldId id="313" r:id="rId5"/>
    <p:sldId id="316" r:id="rId6"/>
    <p:sldId id="314" r:id="rId7"/>
    <p:sldId id="301" r:id="rId8"/>
    <p:sldId id="319" r:id="rId9"/>
    <p:sldId id="303" r:id="rId10"/>
    <p:sldId id="322" r:id="rId11"/>
    <p:sldId id="305" r:id="rId12"/>
    <p:sldId id="306" r:id="rId13"/>
    <p:sldId id="323" r:id="rId14"/>
    <p:sldId id="307" r:id="rId15"/>
    <p:sldId id="308" r:id="rId16"/>
    <p:sldId id="309" r:id="rId17"/>
    <p:sldId id="310" r:id="rId18"/>
    <p:sldId id="31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4"/>
  </p:normalViewPr>
  <p:slideViewPr>
    <p:cSldViewPr snapToGrid="0" snapToObjects="1">
      <p:cViewPr varScale="1">
        <p:scale>
          <a:sx n="99" d="100"/>
          <a:sy n="99" d="100"/>
        </p:scale>
        <p:origin x="192" y="1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1087308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7200" b="1" dirty="0">
                <a:solidFill>
                  <a:srgbClr val="0B1F3A"/>
                </a:solidFill>
                <a:latin typeface="Meiryo UI"/>
                <a:ea typeface="Meiryo UI"/>
              </a:rPr>
              <a:t>LIVE SPOtCH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2400" b="1" dirty="0">
                <a:solidFill>
                  <a:srgbClr val="0B1F3A"/>
                </a:solidFill>
                <a:latin typeface="Meiryo UI"/>
                <a:ea typeface="Meiryo UI"/>
              </a:rPr>
              <a:t>誰もがスポーツ中継のカメラマン。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1600" dirty="0">
                <a:solidFill>
                  <a:srgbClr val="5A6B7E"/>
                </a:solidFill>
                <a:latin typeface="Meiryo UI"/>
                <a:ea typeface="Meiryo UI"/>
              </a:rPr>
              <a:t>手元のスマホが機材になる。その一瞬の感動を手のひらに。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667000"/>
            <a:ext cx="762000" cy="38100"/>
          </a:xfr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931920"/>
            <a:ext cx="731520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ja-JP" altLang="en-US" sz="1100" dirty="0">
                <a:solidFill>
                  <a:srgbClr val="8A95A3"/>
                </a:solidFill>
                <a:latin typeface="Meiryo UI"/>
                <a:ea typeface="Meiryo UI"/>
              </a:rPr>
              <a:t>LOCAL SPORTS LIVE STREAMING PLATFORM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1F3A"/>
                </a:solidFill>
                <a:latin typeface="Meiryo UI"/>
                <a:ea typeface="Meiryo UI"/>
              </a:rPr>
              <a:t>事業計画書 v3.1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0B1F3A"/>
                </a:solidFill>
                <a:latin typeface="Meiryo UI"/>
                <a:ea typeface="Meiryo UI"/>
              </a:rPr>
              <a:t>LIN-NAH 株式会社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ja-JP" altLang="en-US" sz="1200" dirty="0">
                <a:solidFill>
                  <a:srgbClr val="5A6B7E"/>
                </a:solidFill>
                <a:latin typeface="Meiryo UI"/>
                <a:ea typeface="Meiryo UI"/>
              </a:rPr>
              <a:t>2026年6月7日　v3.1 改訂版</a:t>
            </a:r>
          </a:p>
          <a:p>
            <a:pPr algn="l">
              <a:spcBef>
                <a:spcPts val="0"/>
              </a:spcBef>
              <a:buNone/>
            </a:pPr>
            <a:r>
              <a:rPr lang="ja-JP" altLang="en-US" sz="1200" dirty="0">
                <a:solidFill>
                  <a:srgbClr val="E63946"/>
                </a:solidFill>
                <a:latin typeface="Meiryo UI"/>
                <a:ea typeface="Meiryo UI"/>
              </a:rPr>
              <a:t>https://live-spotch.com</a:t>
            </a:r>
          </a:p>
        </p:txBody>
      </p:sp>
    </p:spTree>
    <p:extLst>
      <p:ext uri="{BB962C8B-B14F-4D97-AF65-F5344CB8AC3E}">
        <p14:creationId xmlns:p14="http://schemas.microsoft.com/office/powerpoint/2010/main" val="314717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39E13-A8C3-FC9F-D3D5-E07BDF5BE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10D3B3-BB74-BBAB-1E63-DEA6528ED99B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5C3E553-3D30-397F-FB5E-A7B39DEF4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4" y="0"/>
            <a:ext cx="120115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56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F74C86B-8EA5-B245-AE43-28542A615307}"/>
              </a:ext>
            </a:extLst>
          </p:cNvPr>
          <p:cNvSpPr/>
          <p:nvPr/>
        </p:nvSpPr>
        <p:spPr>
          <a:xfrm>
            <a:off x="8178800" y="3302000"/>
            <a:ext cx="3556000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6E2875C-C943-0D43-8E10-CEB9041F239E}"/>
              </a:ext>
            </a:extLst>
          </p:cNvPr>
          <p:cNvSpPr/>
          <p:nvPr/>
        </p:nvSpPr>
        <p:spPr>
          <a:xfrm>
            <a:off x="4318000" y="3302000"/>
            <a:ext cx="3556000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C0308AA-8DB5-B44C-B5D8-74B8EA345CA6}"/>
              </a:ext>
            </a:extLst>
          </p:cNvPr>
          <p:cNvSpPr/>
          <p:nvPr/>
        </p:nvSpPr>
        <p:spPr>
          <a:xfrm>
            <a:off x="457200" y="3302000"/>
            <a:ext cx="3556000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5" name="MsgCard">
            <a:extLst>
              <a:ext uri="{FF2B5EF4-FFF2-40B4-BE49-F238E27FC236}">
                <a16:creationId xmlns:a16="http://schemas.microsoft.com/office/drawing/2014/main" id="{BB61D0C1-E8B9-844B-9E76-E9C335EF8A51}"/>
              </a:ext>
            </a:extLst>
          </p:cNvPr>
          <p:cNvSpPr/>
          <p:nvPr/>
        </p:nvSpPr>
        <p:spPr>
          <a:xfrm>
            <a:off x="457200" y="1295400"/>
            <a:ext cx="11277600" cy="16256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381000"/>
            <a:ext cx="9144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2800" b="1" dirty="0">
                <a:solidFill>
                  <a:srgbClr val="0B1F3A"/>
                </a:solidFill>
                <a:latin typeface="Meiryo UI"/>
                <a:ea typeface="Meiryo UI"/>
              </a:rPr>
              <a:t>ビジョン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1100" dirty="0">
                <a:solidFill>
                  <a:srgbClr val="8A95A3"/>
                </a:solidFill>
                <a:latin typeface="Meiryo UI"/>
                <a:ea typeface="Meiryo UI"/>
              </a:rP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50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lang="ja-JP" altLang="en-US" sz="1000" dirty="0">
                <a:solidFill>
                  <a:srgbClr val="8A95A3"/>
                </a:solidFill>
                <a:latin typeface="Meiryo UI"/>
                <a:ea typeface="Meiryo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86925"/>
            <a:ext cx="1076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ja-JP" altLang="en-US" sz="3200" b="1" dirty="0">
                <a:solidFill>
                  <a:srgbClr val="0B1F3A"/>
                </a:solidFill>
                <a:latin typeface="Meiryo UI"/>
                <a:ea typeface="Meiryo UI"/>
              </a:rPr>
              <a:t>すべての子どもの試合が、どこからでも見られる世界をつくる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2387600"/>
            <a:ext cx="1076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ja-JP" altLang="en-US" sz="1400" dirty="0">
                <a:solidFill>
                  <a:srgbClr val="5A6B7E"/>
                </a:solidFill>
                <a:latin typeface="Meiryo UI"/>
                <a:ea typeface="Meiryo UI"/>
              </a:rPr>
              <a:t>スポーツブルが配信しない、地域大会・部活・少年団の試合を保護者の手で</a:t>
            </a:r>
            <a:r>
              <a:rPr lang="ja-JP" altLang="en-US" sz="1400">
                <a:solidFill>
                  <a:srgbClr val="5A6B7E"/>
                </a:solidFill>
                <a:latin typeface="Meiryo UI"/>
                <a:ea typeface="Meiryo UI"/>
              </a:rPr>
              <a:t>配信できる</a:t>
            </a:r>
            <a:endParaRPr lang="en-US" altLang="ja-JP" sz="1400" dirty="0">
              <a:solidFill>
                <a:srgbClr val="5A6B7E"/>
              </a:solidFill>
              <a:latin typeface="Meiryo UI"/>
              <a:ea typeface="Meiryo UI"/>
            </a:endParaRPr>
          </a:p>
          <a:p>
            <a:pPr algn="ctr">
              <a:spcBef>
                <a:spcPts val="0"/>
              </a:spcBef>
            </a:pPr>
            <a:r>
              <a:rPr lang="ja-JP" altLang="en-US" sz="1400">
                <a:solidFill>
                  <a:srgbClr val="5A6B7E"/>
                </a:solidFill>
                <a:latin typeface="Meiryo UI"/>
                <a:ea typeface="Meiryo UI"/>
              </a:rPr>
              <a:t>試合情報がないブロードキャストを１ランク上げ、ストレスない視聴環境を作り出す</a:t>
            </a:r>
            <a:endParaRPr lang="ja-JP" altLang="en-US" sz="1400" dirty="0">
              <a:solidFill>
                <a:srgbClr val="5A6B7E"/>
              </a:solidFill>
              <a:latin typeface="Meiryo UI"/>
              <a:ea typeface="Meiryo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4318000"/>
            <a:ext cx="3048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1700" b="1" dirty="0">
                <a:solidFill>
                  <a:srgbClr val="0B1F3A"/>
                </a:solidFill>
                <a:latin typeface="Meiryo UI"/>
                <a:ea typeface="Meiryo UI"/>
              </a:rPr>
              <a:t>スマホ1台でOK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4762500"/>
            <a:ext cx="1651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1300" dirty="0">
                <a:solidFill>
                  <a:srgbClr val="5A6B7E"/>
                </a:solidFill>
                <a:latin typeface="Meiryo UI"/>
                <a:ea typeface="Meiryo UI"/>
              </a:rPr>
              <a:t>プロカメラ機材は不要。保護者のスマホでTV中継品質の配信を実現します。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18000"/>
            <a:ext cx="3048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1700" b="1" dirty="0">
                <a:solidFill>
                  <a:srgbClr val="0B1F3A"/>
                </a:solidFill>
                <a:latin typeface="Meiryo UI"/>
                <a:ea typeface="Meiryo UI"/>
              </a:rPr>
              <a:t>加速度的な拡散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762500"/>
            <a:ext cx="3048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1300" dirty="0">
                <a:solidFill>
                  <a:srgbClr val="5A6B7E"/>
                </a:solidFill>
                <a:latin typeface="Meiryo UI"/>
                <a:ea typeface="Meiryo UI"/>
              </a:rPr>
              <a:t>部活動・少年団は口コミが命。1チームの導入が対戦相手→大会→地域へとドミノ拡散します。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800" y="4318000"/>
            <a:ext cx="3048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1700" b="1" dirty="0">
                <a:solidFill>
                  <a:srgbClr val="0B1F3A"/>
                </a:solidFill>
                <a:latin typeface="Meiryo UI"/>
                <a:ea typeface="Meiryo UI"/>
              </a:rPr>
              <a:t>YouTube Live連携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800" y="4762500"/>
            <a:ext cx="3048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altLang="en-US" sz="1300" dirty="0">
                <a:solidFill>
                  <a:srgbClr val="5A6B7E"/>
                </a:solidFill>
                <a:latin typeface="Meiryo UI"/>
                <a:ea typeface="Meiryo UI"/>
              </a:rPr>
              <a:t>チームプランはYouTube Live同時配信＋アーカイブ自動保存。視聴も拡散も両立。</a:t>
            </a:r>
          </a:p>
        </p:txBody>
      </p:sp>
      <p:sp>
        <p:nvSpPr>
          <p:cNvPr id="26" name="MsgAccent">
            <a:extLst>
              <a:ext uri="{FF2B5EF4-FFF2-40B4-BE49-F238E27FC236}">
                <a16:creationId xmlns:a16="http://schemas.microsoft.com/office/drawing/2014/main" id="{9A0DCC7F-9D17-C142-B978-FE6104DD2833}"/>
              </a:ext>
            </a:extLst>
          </p:cNvPr>
          <p:cNvSpPr/>
          <p:nvPr/>
        </p:nvSpPr>
        <p:spPr>
          <a:xfrm>
            <a:off x="457200" y="1295400"/>
            <a:ext cx="50800" cy="16272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319FBC-EE7E-7245-B5BE-9498DD39B592}"/>
              </a:ext>
            </a:extLst>
          </p:cNvPr>
          <p:cNvSpPr/>
          <p:nvPr/>
        </p:nvSpPr>
        <p:spPr>
          <a:xfrm>
            <a:off x="457200" y="3302000"/>
            <a:ext cx="3556000" cy="50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ACFFD9C-D9D9-D44C-9D3E-91515B1C350A}"/>
              </a:ext>
            </a:extLst>
          </p:cNvPr>
          <p:cNvSpPr/>
          <p:nvPr/>
        </p:nvSpPr>
        <p:spPr>
          <a:xfrm>
            <a:off x="4318000" y="3302000"/>
            <a:ext cx="3556000" cy="508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0BE7852-410F-F649-B207-F58970290A1F}"/>
              </a:ext>
            </a:extLst>
          </p:cNvPr>
          <p:cNvSpPr/>
          <p:nvPr/>
        </p:nvSpPr>
        <p:spPr>
          <a:xfrm>
            <a:off x="8178800" y="3302000"/>
            <a:ext cx="3556000" cy="50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pic>
        <p:nvPicPr>
          <p:cNvPr id="22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4200" y="3606800"/>
            <a:ext cx="558800" cy="558800"/>
          </a:xfrm>
          <a:prstGeom prst="rect">
            <a:avLst/>
          </a:prstGeom>
        </p:spPr>
      </p:pic>
      <p:pic>
        <p:nvPicPr>
          <p:cNvPr id="23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0" y="3606800"/>
            <a:ext cx="558800" cy="558800"/>
          </a:xfrm>
          <a:prstGeom prst="rect">
            <a:avLst/>
          </a:prstGeom>
        </p:spPr>
      </p:pic>
      <p:pic>
        <p:nvPicPr>
          <p:cNvPr id="24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3400" y="3606800"/>
            <a:ext cx="558800" cy="558800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D397811-13FD-5641-883A-4BF3EC28EAD0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8F2DB59-E1AB-9E3F-5EB3-374598226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4893883"/>
            <a:ext cx="1524000" cy="130371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D71014A-F27C-6C14-24C9-EBB6FA332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575" y="5545741"/>
            <a:ext cx="2279650" cy="50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90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DC45CCF-1899-C5A0-3484-88BA8BC24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672" y="1957340"/>
            <a:ext cx="7534656" cy="346937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B5E3DA5-B986-FB7F-C509-CD5327C8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" y="1643650"/>
            <a:ext cx="1885461" cy="4096750"/>
          </a:xfrm>
          <a:prstGeom prst="rect">
            <a:avLst/>
          </a:prstGeom>
        </p:spPr>
      </p:pic>
      <p:sp>
        <p:nvSpPr>
          <p:cNvPr id="6000" name="HeaderBar"/>
          <p:cNvSpPr/>
          <p:nvPr/>
        </p:nvSpPr>
        <p:spPr>
          <a:xfrm>
            <a:off x="457200" y="355600"/>
            <a:ext cx="50800" cy="635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6001" name="HeaderTitle"/>
          <p:cNvSpPr txBox="1"/>
          <p:nvPr/>
        </p:nvSpPr>
        <p:spPr>
          <a:xfrm>
            <a:off x="609600" y="3302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2400" b="1" dirty="0">
                <a:solidFill>
                  <a:srgbClr val="0B1F3A"/>
                </a:solidFill>
                <a:latin typeface="Meiryo UI"/>
                <a:ea typeface="Meiryo UI"/>
              </a:rPr>
              <a:t>LIVE SPOtCH — スマホ1台でライブ配信&amp;リアルタイム採点</a:t>
            </a:r>
          </a:p>
        </p:txBody>
      </p:sp>
      <p:sp>
        <p:nvSpPr>
          <p:cNvPr id="6002" name="HeaderSub"/>
          <p:cNvSpPr txBox="1"/>
          <p:nvPr/>
        </p:nvSpPr>
        <p:spPr>
          <a:xfrm>
            <a:off x="609600" y="812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dirty="0">
                <a:solidFill>
                  <a:srgbClr val="5A6B7E"/>
                </a:solidFill>
                <a:latin typeface="Meiryo UI"/>
                <a:ea typeface="Meiryo UI"/>
              </a:rPr>
              <a:t>専用機材不要 / スコア・タイマー自動オーバーレイ / 共有コードで観戦者に即配信</a:t>
            </a:r>
          </a:p>
        </p:txBody>
      </p:sp>
      <p:sp>
        <p:nvSpPr>
          <p:cNvPr id="6003" name="PageNum"/>
          <p:cNvSpPr txBox="1"/>
          <p:nvPr/>
        </p:nvSpPr>
        <p:spPr>
          <a:xfrm>
            <a:off x="11582400" y="66294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900" dirty="0">
                <a:solidFill>
                  <a:srgbClr val="8A95A3"/>
                </a:solidFill>
                <a:latin typeface="Meiryo UI"/>
              </a:rPr>
              <a:t>3 / 17</a:t>
            </a:r>
          </a:p>
        </p:txBody>
      </p:sp>
      <p:sp>
        <p:nvSpPr>
          <p:cNvPr id="6004" name="LeftCapBar"/>
          <p:cNvSpPr/>
          <p:nvPr/>
        </p:nvSpPr>
        <p:spPr>
          <a:xfrm>
            <a:off x="292100" y="5880100"/>
            <a:ext cx="24765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6005" name="LeftCap"/>
          <p:cNvSpPr txBox="1"/>
          <p:nvPr/>
        </p:nvSpPr>
        <p:spPr>
          <a:xfrm>
            <a:off x="292100" y="593090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altLang="en-US" sz="1100" b="1" dirty="0">
                <a:solidFill>
                  <a:srgbClr val="0B1F3A"/>
                </a:solidFill>
                <a:latin typeface="Meiryo UI"/>
                <a:ea typeface="Meiryo UI"/>
              </a:rPr>
              <a:t>配信者画面 (スマホ操作)</a:t>
            </a:r>
          </a:p>
        </p:txBody>
      </p:sp>
      <p:sp>
        <p:nvSpPr>
          <p:cNvPr id="6006" name="RightCapBar"/>
          <p:cNvSpPr/>
          <p:nvPr/>
        </p:nvSpPr>
        <p:spPr>
          <a:xfrm>
            <a:off x="2730500" y="5880100"/>
            <a:ext cx="8763000" cy="381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6007" name="RightCap"/>
          <p:cNvSpPr txBox="1"/>
          <p:nvPr/>
        </p:nvSpPr>
        <p:spPr>
          <a:xfrm>
            <a:off x="2730500" y="59309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altLang="en-US" sz="1100" b="1" dirty="0">
                <a:solidFill>
                  <a:srgbClr val="0B1F3A"/>
                </a:solidFill>
                <a:latin typeface="Meiryo UI"/>
                <a:ea typeface="Meiryo UI"/>
              </a:rPr>
              <a:t>視聴者画面 (Web / アプリで観戦) — スコア・タイマー・LIVEインジケータをリアルタイム表示</a:t>
            </a:r>
          </a:p>
        </p:txBody>
      </p:sp>
    </p:spTree>
    <p:extLst>
      <p:ext uri="{BB962C8B-B14F-4D97-AF65-F5344CB8AC3E}">
        <p14:creationId xmlns:p14="http://schemas.microsoft.com/office/powerpoint/2010/main" val="1739941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AEC43BFA-5762-9947-8AA2-03B09928C041}"/>
              </a:ext>
            </a:extLst>
          </p:cNvPr>
          <p:cNvSpPr/>
          <p:nvPr/>
        </p:nvSpPr>
        <p:spPr>
          <a:xfrm>
            <a:off x="6654800" y="5562600"/>
            <a:ext cx="4826000" cy="5588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DF2454EE-6E94-8E49-B1B8-E42500265848}"/>
              </a:ext>
            </a:extLst>
          </p:cNvPr>
          <p:cNvSpPr/>
          <p:nvPr/>
        </p:nvSpPr>
        <p:spPr>
          <a:xfrm>
            <a:off x="6654800" y="4927600"/>
            <a:ext cx="4826000" cy="5588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A4316A07-6EFB-A84C-BF73-503CD7508832}"/>
              </a:ext>
            </a:extLst>
          </p:cNvPr>
          <p:cNvSpPr/>
          <p:nvPr/>
        </p:nvSpPr>
        <p:spPr>
          <a:xfrm>
            <a:off x="6654800" y="4292600"/>
            <a:ext cx="4826000" cy="5588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35B34F8D-8D42-254D-800D-AE927BEFF20D}"/>
              </a:ext>
            </a:extLst>
          </p:cNvPr>
          <p:cNvSpPr/>
          <p:nvPr/>
        </p:nvSpPr>
        <p:spPr>
          <a:xfrm>
            <a:off x="6654800" y="3657600"/>
            <a:ext cx="4826000" cy="5588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266C7E89-9BA5-8E41-9CA8-6B30A2AD6103}"/>
              </a:ext>
            </a:extLst>
          </p:cNvPr>
          <p:cNvSpPr/>
          <p:nvPr/>
        </p:nvSpPr>
        <p:spPr>
          <a:xfrm>
            <a:off x="6654800" y="3022600"/>
            <a:ext cx="4826000" cy="5588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A0F4343C-DC6D-A947-BBC3-D76313F7A285}"/>
              </a:ext>
            </a:extLst>
          </p:cNvPr>
          <p:cNvSpPr/>
          <p:nvPr/>
        </p:nvSpPr>
        <p:spPr>
          <a:xfrm>
            <a:off x="6654800" y="2387600"/>
            <a:ext cx="4826000" cy="5588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DABAFF5D-E3C8-8D4E-8C68-AD9C2F42CAF2}"/>
              </a:ext>
            </a:extLst>
          </p:cNvPr>
          <p:cNvSpPr/>
          <p:nvPr/>
        </p:nvSpPr>
        <p:spPr>
          <a:xfrm>
            <a:off x="6400800" y="1397000"/>
            <a:ext cx="5334000" cy="5080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A7DBC550-F4F7-CD48-AAED-B31810D2C41C}"/>
              </a:ext>
            </a:extLst>
          </p:cNvPr>
          <p:cNvSpPr/>
          <p:nvPr/>
        </p:nvSpPr>
        <p:spPr>
          <a:xfrm>
            <a:off x="711200" y="5562600"/>
            <a:ext cx="4826000" cy="5588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E382A553-4660-A848-8021-B3D5E8096CAE}"/>
              </a:ext>
            </a:extLst>
          </p:cNvPr>
          <p:cNvSpPr/>
          <p:nvPr/>
        </p:nvSpPr>
        <p:spPr>
          <a:xfrm>
            <a:off x="711200" y="4927600"/>
            <a:ext cx="4826000" cy="5588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6AEB12BE-412B-C148-9C6F-D164A6FCF04E}"/>
              </a:ext>
            </a:extLst>
          </p:cNvPr>
          <p:cNvSpPr/>
          <p:nvPr/>
        </p:nvSpPr>
        <p:spPr>
          <a:xfrm>
            <a:off x="711200" y="4292600"/>
            <a:ext cx="4826000" cy="5588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1C2B12F5-9E3B-AC4F-AC6F-7020BD1741CB}"/>
              </a:ext>
            </a:extLst>
          </p:cNvPr>
          <p:cNvSpPr/>
          <p:nvPr/>
        </p:nvSpPr>
        <p:spPr>
          <a:xfrm>
            <a:off x="711200" y="3657600"/>
            <a:ext cx="4826000" cy="5588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2F4DF6A0-894F-E849-A150-7C7477CA1A52}"/>
              </a:ext>
            </a:extLst>
          </p:cNvPr>
          <p:cNvSpPr/>
          <p:nvPr/>
        </p:nvSpPr>
        <p:spPr>
          <a:xfrm>
            <a:off x="711200" y="3022600"/>
            <a:ext cx="4826000" cy="5588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02D8C6B8-40F4-9B41-BB45-3F1A96837BCD}"/>
              </a:ext>
            </a:extLst>
          </p:cNvPr>
          <p:cNvSpPr/>
          <p:nvPr/>
        </p:nvSpPr>
        <p:spPr>
          <a:xfrm>
            <a:off x="711200" y="2387600"/>
            <a:ext cx="4826000" cy="5588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4F541A6-DAFC-B54D-84F5-DEDD7DAAEFD8}"/>
              </a:ext>
            </a:extLst>
          </p:cNvPr>
          <p:cNvSpPr/>
          <p:nvPr/>
        </p:nvSpPr>
        <p:spPr>
          <a:xfrm>
            <a:off x="457200" y="1397000"/>
            <a:ext cx="5334000" cy="5080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D639898-18EF-A24F-9366-F0F1FCE4FAE5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35DCC8F-4914-014D-941B-28FA2A50C9A6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市場の課題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4B1649D-6B0F-C746-811E-AA9F3AFD1C8B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8A95A3"/>
                </a:solidFill>
                <a:latin typeface="Meiryo UI"/>
                <a:ea typeface="Meiryo UI"/>
              </a:rPr>
              <a:t>Why Now? — </a:t>
            </a:r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既存サービスがカバーしないローカルスポーツ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F1032AA-2931-E448-88A7-0663A638226A}"/>
              </a:ext>
            </a:extLst>
          </p:cNvPr>
          <p:cNvSpPr txBox="1"/>
          <p:nvPr/>
        </p:nvSpPr>
        <p:spPr>
          <a:xfrm>
            <a:off x="11684000" y="6629400"/>
            <a:ext cx="45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>
                <a:solidFill>
                  <a:srgbClr val="8A95A3"/>
                </a:solidFill>
                <a:latin typeface="Meiryo UI"/>
                <a:ea typeface="Meiryo UI"/>
              </a:rPr>
              <a:t>03</a:t>
            </a:r>
            <a:endParaRPr lang="ja-JP" altLang="en-US" sz="10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8F9315F3-F65A-6F42-96C7-31090B4DFAAC}"/>
              </a:ext>
            </a:extLst>
          </p:cNvPr>
          <p:cNvSpPr/>
          <p:nvPr/>
        </p:nvSpPr>
        <p:spPr>
          <a:xfrm>
            <a:off x="457200" y="1397000"/>
            <a:ext cx="5334000" cy="508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1FBB18B-C98D-564A-A87C-9C72C2D1A730}"/>
              </a:ext>
            </a:extLst>
          </p:cNvPr>
          <p:cNvSpPr txBox="1"/>
          <p:nvPr/>
        </p:nvSpPr>
        <p:spPr>
          <a:xfrm>
            <a:off x="711200" y="1625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0B1F3A"/>
                </a:solidFill>
                <a:latin typeface="Meiryo UI"/>
                <a:ea typeface="Meiryo UI"/>
              </a:rPr>
              <a:t>現状の課題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00D12E6-8A42-3247-96B2-5DECBE9CE8D2}"/>
              </a:ext>
            </a:extLst>
          </p:cNvPr>
          <p:cNvSpPr txBox="1"/>
          <p:nvPr/>
        </p:nvSpPr>
        <p:spPr>
          <a:xfrm>
            <a:off x="711200" y="19812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CURRENT GAPS IN LOCAL SPORTS STREAMING</a:t>
            </a:r>
            <a:endParaRPr lang="ja-JP" altLang="en-US" sz="9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62C76B7E-C064-AC4A-936A-EAFF165451F2}"/>
              </a:ext>
            </a:extLst>
          </p:cNvPr>
          <p:cNvSpPr txBox="1"/>
          <p:nvPr/>
        </p:nvSpPr>
        <p:spPr>
          <a:xfrm>
            <a:off x="812800" y="2514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600" b="1">
                <a:solidFill>
                  <a:srgbClr val="0B1F3A"/>
                </a:solidFill>
                <a:latin typeface="Meiryo UI"/>
                <a:ea typeface="Meiryo UI"/>
              </a:rPr>
              <a:t>×</a:t>
            </a:r>
            <a:endParaRPr lang="ja-JP" altLang="en-US" sz="16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8D9A427-6EE3-3D47-882A-D13A0806F808}"/>
              </a:ext>
            </a:extLst>
          </p:cNvPr>
          <p:cNvSpPr txBox="1"/>
          <p:nvPr/>
        </p:nvSpPr>
        <p:spPr>
          <a:xfrm>
            <a:off x="1168400" y="2540000"/>
            <a:ext cx="426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2A3441"/>
                </a:solidFill>
                <a:latin typeface="Meiryo UI"/>
                <a:ea typeface="Meiryo UI"/>
              </a:rPr>
              <a:t>スポーツブル等は有名校・上位校の試合のみ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AEC9E50-3E17-1540-9094-3FBD743A3D78}"/>
              </a:ext>
            </a:extLst>
          </p:cNvPr>
          <p:cNvSpPr txBox="1"/>
          <p:nvPr/>
        </p:nvSpPr>
        <p:spPr>
          <a:xfrm>
            <a:off x="812800" y="3149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600" b="1">
                <a:solidFill>
                  <a:srgbClr val="0B1F3A"/>
                </a:solidFill>
                <a:latin typeface="Meiryo UI"/>
                <a:ea typeface="Meiryo UI"/>
              </a:rPr>
              <a:t>×</a:t>
            </a:r>
            <a:endParaRPr lang="ja-JP" altLang="en-US" sz="16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A4FF926B-9CA2-FB44-B0F3-5083253E6415}"/>
              </a:ext>
            </a:extLst>
          </p:cNvPr>
          <p:cNvSpPr txBox="1"/>
          <p:nvPr/>
        </p:nvSpPr>
        <p:spPr>
          <a:xfrm>
            <a:off x="1168400" y="3175000"/>
            <a:ext cx="426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2A3441"/>
                </a:solidFill>
                <a:latin typeface="Meiryo UI"/>
                <a:ea typeface="Meiryo UI"/>
              </a:rPr>
              <a:t>地域大会・少年団の試合は配信されない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58351DD-D183-794E-8AD1-502B1D0254CE}"/>
              </a:ext>
            </a:extLst>
          </p:cNvPr>
          <p:cNvSpPr txBox="1"/>
          <p:nvPr/>
        </p:nvSpPr>
        <p:spPr>
          <a:xfrm>
            <a:off x="812800" y="3784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600" b="1">
                <a:solidFill>
                  <a:srgbClr val="0B1F3A"/>
                </a:solidFill>
                <a:latin typeface="Meiryo UI"/>
                <a:ea typeface="Meiryo UI"/>
              </a:rPr>
              <a:t>×</a:t>
            </a:r>
            <a:endParaRPr lang="ja-JP" altLang="en-US" sz="16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0E5C3596-E9E7-4E47-9CEA-7E9B7BC7B88A}"/>
              </a:ext>
            </a:extLst>
          </p:cNvPr>
          <p:cNvSpPr txBox="1"/>
          <p:nvPr/>
        </p:nvSpPr>
        <p:spPr>
          <a:xfrm>
            <a:off x="1168400" y="3810000"/>
            <a:ext cx="426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400">
                <a:solidFill>
                  <a:srgbClr val="2A3441"/>
                </a:solidFill>
                <a:latin typeface="Meiryo UI"/>
                <a:ea typeface="Meiryo UI"/>
              </a:rPr>
              <a:t>YouTube Live</a:t>
            </a:r>
            <a:r>
              <a:rPr lang="ja-JP" altLang="en-US" sz="1400">
                <a:solidFill>
                  <a:srgbClr val="2A3441"/>
                </a:solidFill>
                <a:latin typeface="Meiryo UI"/>
                <a:ea typeface="Meiryo UI"/>
              </a:rPr>
              <a:t>ではスコアが表示できない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332A64F8-050C-734C-AD95-A5E154691946}"/>
              </a:ext>
            </a:extLst>
          </p:cNvPr>
          <p:cNvSpPr txBox="1"/>
          <p:nvPr/>
        </p:nvSpPr>
        <p:spPr>
          <a:xfrm>
            <a:off x="812800" y="4419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600" b="1">
                <a:solidFill>
                  <a:srgbClr val="0B1F3A"/>
                </a:solidFill>
                <a:latin typeface="Meiryo UI"/>
                <a:ea typeface="Meiryo UI"/>
              </a:rPr>
              <a:t>×</a:t>
            </a:r>
            <a:endParaRPr lang="ja-JP" altLang="en-US" sz="16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3459E92-9B0C-874A-BD32-DB484BC084B3}"/>
              </a:ext>
            </a:extLst>
          </p:cNvPr>
          <p:cNvSpPr txBox="1"/>
          <p:nvPr/>
        </p:nvSpPr>
        <p:spPr>
          <a:xfrm>
            <a:off x="1168400" y="4445000"/>
            <a:ext cx="426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400">
                <a:solidFill>
                  <a:srgbClr val="2A3441"/>
                </a:solidFill>
                <a:latin typeface="Meiryo UI"/>
                <a:ea typeface="Meiryo UI"/>
              </a:rPr>
              <a:t>BAND</a:t>
            </a:r>
            <a:r>
              <a:rPr lang="ja-JP" altLang="en-US" sz="1400">
                <a:solidFill>
                  <a:srgbClr val="2A3441"/>
                </a:solidFill>
                <a:latin typeface="Meiryo UI"/>
                <a:ea typeface="Meiryo UI"/>
              </a:rPr>
              <a:t>等はチーム連絡網が中心、配信は補助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7963273-E53F-964C-B315-02DFE6CD4033}"/>
              </a:ext>
            </a:extLst>
          </p:cNvPr>
          <p:cNvSpPr txBox="1"/>
          <p:nvPr/>
        </p:nvSpPr>
        <p:spPr>
          <a:xfrm>
            <a:off x="812800" y="5054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600" b="1">
                <a:solidFill>
                  <a:srgbClr val="0B1F3A"/>
                </a:solidFill>
                <a:latin typeface="Meiryo UI"/>
                <a:ea typeface="Meiryo UI"/>
              </a:rPr>
              <a:t>×</a:t>
            </a:r>
            <a:endParaRPr lang="ja-JP" altLang="en-US" sz="16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5FD1A0F0-C8E4-4E48-AA92-95591D7847A4}"/>
              </a:ext>
            </a:extLst>
          </p:cNvPr>
          <p:cNvSpPr txBox="1"/>
          <p:nvPr/>
        </p:nvSpPr>
        <p:spPr>
          <a:xfrm>
            <a:off x="1168400" y="5080000"/>
            <a:ext cx="426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2A3441"/>
                </a:solidFill>
                <a:latin typeface="Meiryo UI"/>
                <a:ea typeface="Meiryo UI"/>
              </a:rPr>
              <a:t>得点板を映すと映像が遮られる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14F80FF5-0265-E04A-96D3-51D686058C68}"/>
              </a:ext>
            </a:extLst>
          </p:cNvPr>
          <p:cNvSpPr txBox="1"/>
          <p:nvPr/>
        </p:nvSpPr>
        <p:spPr>
          <a:xfrm>
            <a:off x="812800" y="5689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600" b="1">
                <a:solidFill>
                  <a:srgbClr val="0B1F3A"/>
                </a:solidFill>
                <a:latin typeface="Meiryo UI"/>
                <a:ea typeface="Meiryo UI"/>
              </a:rPr>
              <a:t>×</a:t>
            </a:r>
            <a:endParaRPr lang="ja-JP" altLang="en-US" sz="16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B21F3F1-B717-CF4A-8515-10D2AF3FCABC}"/>
              </a:ext>
            </a:extLst>
          </p:cNvPr>
          <p:cNvSpPr txBox="1"/>
          <p:nvPr/>
        </p:nvSpPr>
        <p:spPr>
          <a:xfrm>
            <a:off x="1168400" y="5715000"/>
            <a:ext cx="426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2A3441"/>
                </a:solidFill>
                <a:latin typeface="Meiryo UI"/>
                <a:ea typeface="Meiryo UI"/>
              </a:rPr>
              <a:t>試合のアーカイブが散逸・管理できない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1DFE9493-F8D4-EE4C-AFE2-BF8129244ADA}"/>
              </a:ext>
            </a:extLst>
          </p:cNvPr>
          <p:cNvSpPr/>
          <p:nvPr/>
        </p:nvSpPr>
        <p:spPr>
          <a:xfrm>
            <a:off x="6400800" y="1397000"/>
            <a:ext cx="5334000" cy="50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BA778282-36DF-F844-9791-65BA2C9B2424}"/>
              </a:ext>
            </a:extLst>
          </p:cNvPr>
          <p:cNvSpPr txBox="1"/>
          <p:nvPr/>
        </p:nvSpPr>
        <p:spPr>
          <a:xfrm>
            <a:off x="6654800" y="1625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600" b="1">
                <a:solidFill>
                  <a:srgbClr val="0B1F3A"/>
                </a:solidFill>
                <a:latin typeface="Meiryo UI"/>
                <a:ea typeface="Meiryo UI"/>
              </a:rPr>
              <a:t>LIVE SPOtCH </a:t>
            </a:r>
            <a:r>
              <a:rPr lang="ja-JP" altLang="en-US" sz="1600" b="1">
                <a:solidFill>
                  <a:srgbClr val="0B1F3A"/>
                </a:solidFill>
                <a:latin typeface="Meiryo UI"/>
                <a:ea typeface="Meiryo UI"/>
              </a:rPr>
              <a:t>の解決策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09D507DC-70D3-CE49-8B78-6CB21DB786DE}"/>
              </a:ext>
            </a:extLst>
          </p:cNvPr>
          <p:cNvSpPr txBox="1"/>
          <p:nvPr/>
        </p:nvSpPr>
        <p:spPr>
          <a:xfrm>
            <a:off x="6654800" y="19812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OUR SOLUTION</a:t>
            </a:r>
            <a:endParaRPr lang="ja-JP" altLang="en-US" sz="9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B16FD47D-680F-DD4E-BD66-043F2D20D001}"/>
              </a:ext>
            </a:extLst>
          </p:cNvPr>
          <p:cNvSpPr txBox="1"/>
          <p:nvPr/>
        </p:nvSpPr>
        <p:spPr>
          <a:xfrm>
            <a:off x="6756400" y="2514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4F352ACE-26BC-F94A-9ED8-153D604DCE8A}"/>
              </a:ext>
            </a:extLst>
          </p:cNvPr>
          <p:cNvSpPr txBox="1"/>
          <p:nvPr/>
        </p:nvSpPr>
        <p:spPr>
          <a:xfrm>
            <a:off x="7112000" y="2413000"/>
            <a:ext cx="254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スコアオーバーレイ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2047D76B-0480-3B42-BBE2-34EFE380B673}"/>
              </a:ext>
            </a:extLst>
          </p:cNvPr>
          <p:cNvSpPr txBox="1"/>
          <p:nvPr/>
        </p:nvSpPr>
        <p:spPr>
          <a:xfrm>
            <a:off x="7112000" y="2667000"/>
            <a:ext cx="431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200">
                <a:solidFill>
                  <a:srgbClr val="5A6B7E"/>
                </a:solidFill>
                <a:latin typeface="Meiryo UI"/>
                <a:ea typeface="Meiryo UI"/>
              </a:rPr>
              <a:t>TV</a:t>
            </a:r>
            <a:r>
              <a:rPr lang="ja-JP" altLang="en-US" sz="1200">
                <a:solidFill>
                  <a:srgbClr val="5A6B7E"/>
                </a:solidFill>
                <a:latin typeface="Meiryo UI"/>
                <a:ea typeface="Meiryo UI"/>
              </a:rPr>
              <a:t>中継のようにスコアを常時表示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6CD825B-AEB4-2748-B057-C31F3C502808}"/>
              </a:ext>
            </a:extLst>
          </p:cNvPr>
          <p:cNvSpPr txBox="1"/>
          <p:nvPr/>
        </p:nvSpPr>
        <p:spPr>
          <a:xfrm>
            <a:off x="6756400" y="3149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18B9B348-A5D3-D944-A018-2242B3720612}"/>
              </a:ext>
            </a:extLst>
          </p:cNvPr>
          <p:cNvSpPr txBox="1"/>
          <p:nvPr/>
        </p:nvSpPr>
        <p:spPr>
          <a:xfrm>
            <a:off x="7112000" y="3048000"/>
            <a:ext cx="254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400" b="1">
                <a:solidFill>
                  <a:srgbClr val="0B1F3A"/>
                </a:solidFill>
                <a:latin typeface="Meiryo UI"/>
                <a:ea typeface="Meiryo UI"/>
              </a:rPr>
              <a:t>YouTube Live </a:t>
            </a:r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同時配信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527C2BC-3992-1C4A-86D9-98E980438230}"/>
              </a:ext>
            </a:extLst>
          </p:cNvPr>
          <p:cNvSpPr txBox="1"/>
          <p:nvPr/>
        </p:nvSpPr>
        <p:spPr>
          <a:xfrm>
            <a:off x="7112000" y="3302000"/>
            <a:ext cx="431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>
                <a:solidFill>
                  <a:srgbClr val="5A6B7E"/>
                </a:solidFill>
                <a:latin typeface="Meiryo UI"/>
                <a:ea typeface="Meiryo UI"/>
              </a:rPr>
              <a:t>チームプランで自動</a:t>
            </a:r>
            <a:r>
              <a:rPr lang="en" altLang="ja-JP" sz="1200">
                <a:solidFill>
                  <a:srgbClr val="5A6B7E"/>
                </a:solidFill>
                <a:latin typeface="Meiryo UI"/>
                <a:ea typeface="Meiryo UI"/>
              </a:rPr>
              <a:t>push + </a:t>
            </a:r>
            <a:r>
              <a:rPr lang="ja-JP" altLang="en-US" sz="1200">
                <a:solidFill>
                  <a:srgbClr val="5A6B7E"/>
                </a:solidFill>
                <a:latin typeface="Meiryo UI"/>
                <a:ea typeface="Meiryo UI"/>
              </a:rPr>
              <a:t>アーカイブ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14CB6E3C-0A92-2D45-83C2-A159BFF368DF}"/>
              </a:ext>
            </a:extLst>
          </p:cNvPr>
          <p:cNvSpPr txBox="1"/>
          <p:nvPr/>
        </p:nvSpPr>
        <p:spPr>
          <a:xfrm>
            <a:off x="6756400" y="3784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01675302-7D4D-2241-A0D7-79C94EFE8150}"/>
              </a:ext>
            </a:extLst>
          </p:cNvPr>
          <p:cNvSpPr txBox="1"/>
          <p:nvPr/>
        </p:nvSpPr>
        <p:spPr>
          <a:xfrm>
            <a:off x="7112000" y="3683000"/>
            <a:ext cx="254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400" b="1">
                <a:solidFill>
                  <a:srgbClr val="0B1F3A"/>
                </a:solidFill>
                <a:latin typeface="Meiryo UI"/>
                <a:ea typeface="Meiryo UI"/>
              </a:rPr>
              <a:t>Web</a:t>
            </a:r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版（</a:t>
            </a:r>
            <a:r>
              <a:rPr lang="en" altLang="ja-JP" sz="1400" b="1">
                <a:solidFill>
                  <a:srgbClr val="0B1F3A"/>
                </a:solidFill>
                <a:latin typeface="Meiryo UI"/>
                <a:ea typeface="Meiryo UI"/>
              </a:rPr>
              <a:t>PWA</a:t>
            </a:r>
            <a:r>
              <a:rPr lang="ja-JP" altLang="en" sz="1400" b="1">
                <a:solidFill>
                  <a:srgbClr val="0B1F3A"/>
                </a:solidFill>
                <a:latin typeface="Meiryo UI"/>
                <a:ea typeface="Meiryo UI"/>
              </a:rPr>
              <a:t>）</a:t>
            </a:r>
            <a:endParaRPr lang="ja-JP" altLang="en-US" sz="14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444A712E-A00B-CD4A-ADCF-6BD60FC5EFD5}"/>
              </a:ext>
            </a:extLst>
          </p:cNvPr>
          <p:cNvSpPr txBox="1"/>
          <p:nvPr/>
        </p:nvSpPr>
        <p:spPr>
          <a:xfrm>
            <a:off x="7112000" y="3937000"/>
            <a:ext cx="431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200">
                <a:solidFill>
                  <a:srgbClr val="5A6B7E"/>
                </a:solidFill>
                <a:latin typeface="Meiryo UI"/>
                <a:ea typeface="Meiryo UI"/>
              </a:rPr>
              <a:t>URL</a:t>
            </a:r>
            <a:r>
              <a:rPr lang="ja-JP" altLang="en-US" sz="1200">
                <a:solidFill>
                  <a:srgbClr val="5A6B7E"/>
                </a:solidFill>
                <a:latin typeface="Meiryo UI"/>
                <a:ea typeface="Meiryo UI"/>
              </a:rPr>
              <a:t>タップで即視聴、</a:t>
            </a:r>
            <a:r>
              <a:rPr lang="en" altLang="ja-JP" sz="1200">
                <a:solidFill>
                  <a:srgbClr val="5A6B7E"/>
                </a:solidFill>
                <a:latin typeface="Meiryo UI"/>
                <a:ea typeface="Meiryo UI"/>
              </a:rPr>
              <a:t>DL</a:t>
            </a:r>
            <a:r>
              <a:rPr lang="ja-JP" altLang="en-US" sz="1200">
                <a:solidFill>
                  <a:srgbClr val="5A6B7E"/>
                </a:solidFill>
                <a:latin typeface="Meiryo UI"/>
                <a:ea typeface="Meiryo UI"/>
              </a:rPr>
              <a:t>不要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5CC76D07-E2AF-A74D-9C67-53D26EB5496B}"/>
              </a:ext>
            </a:extLst>
          </p:cNvPr>
          <p:cNvSpPr txBox="1"/>
          <p:nvPr/>
        </p:nvSpPr>
        <p:spPr>
          <a:xfrm>
            <a:off x="6756400" y="4419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3FF6E794-C02A-4849-9720-B02C48792F1D}"/>
              </a:ext>
            </a:extLst>
          </p:cNvPr>
          <p:cNvSpPr txBox="1"/>
          <p:nvPr/>
        </p:nvSpPr>
        <p:spPr>
          <a:xfrm>
            <a:off x="7112000" y="4318000"/>
            <a:ext cx="254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400" b="1">
                <a:solidFill>
                  <a:srgbClr val="0B1F3A"/>
                </a:solidFill>
                <a:latin typeface="Meiryo UI"/>
                <a:ea typeface="Meiryo UI"/>
              </a:rPr>
              <a:t>LINE</a:t>
            </a:r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共有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F6507E8E-66C3-A243-B573-784EECBF9B7D}"/>
              </a:ext>
            </a:extLst>
          </p:cNvPr>
          <p:cNvSpPr txBox="1"/>
          <p:nvPr/>
        </p:nvSpPr>
        <p:spPr>
          <a:xfrm>
            <a:off x="7112000" y="4572000"/>
            <a:ext cx="431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>
                <a:solidFill>
                  <a:srgbClr val="5A6B7E"/>
                </a:solidFill>
                <a:latin typeface="Meiryo UI"/>
                <a:ea typeface="Meiryo UI"/>
              </a:rPr>
              <a:t>ワンタップで家族・チームに共有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A2E33D73-6259-B64B-B962-84EC11B963E9}"/>
              </a:ext>
            </a:extLst>
          </p:cNvPr>
          <p:cNvSpPr txBox="1"/>
          <p:nvPr/>
        </p:nvSpPr>
        <p:spPr>
          <a:xfrm>
            <a:off x="6756400" y="5054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138F4155-1010-4A46-BA18-16260A5DCB95}"/>
              </a:ext>
            </a:extLst>
          </p:cNvPr>
          <p:cNvSpPr txBox="1"/>
          <p:nvPr/>
        </p:nvSpPr>
        <p:spPr>
          <a:xfrm>
            <a:off x="7112000" y="4953000"/>
            <a:ext cx="254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チーム管理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8585DCC1-0B7D-E849-9069-80F84F80CD37}"/>
              </a:ext>
            </a:extLst>
          </p:cNvPr>
          <p:cNvSpPr txBox="1"/>
          <p:nvPr/>
        </p:nvSpPr>
        <p:spPr>
          <a:xfrm>
            <a:off x="7112000" y="5207000"/>
            <a:ext cx="431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>
                <a:solidFill>
                  <a:srgbClr val="5A6B7E"/>
                </a:solidFill>
                <a:latin typeface="Meiryo UI"/>
                <a:ea typeface="Meiryo UI"/>
              </a:rPr>
              <a:t>メンバー招待・権限管理を一元化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A953EF03-0E07-B446-98F9-16FFE4AD1BC9}"/>
              </a:ext>
            </a:extLst>
          </p:cNvPr>
          <p:cNvSpPr txBox="1"/>
          <p:nvPr/>
        </p:nvSpPr>
        <p:spPr>
          <a:xfrm>
            <a:off x="6756400" y="56896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FEA98C5C-2EB3-CB4B-AC2E-34601D77C078}"/>
              </a:ext>
            </a:extLst>
          </p:cNvPr>
          <p:cNvSpPr txBox="1"/>
          <p:nvPr/>
        </p:nvSpPr>
        <p:spPr>
          <a:xfrm>
            <a:off x="7112000" y="5588000"/>
            <a:ext cx="254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400" b="1">
                <a:solidFill>
                  <a:srgbClr val="0B1F3A"/>
                </a:solidFill>
                <a:latin typeface="Meiryo UI"/>
                <a:ea typeface="Meiryo UI"/>
              </a:rPr>
              <a:t>Made for Kids </a:t>
            </a:r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対応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ABB9E2AD-E2A0-7C46-A471-BD5CF5EA38ED}"/>
              </a:ext>
            </a:extLst>
          </p:cNvPr>
          <p:cNvSpPr txBox="1"/>
          <p:nvPr/>
        </p:nvSpPr>
        <p:spPr>
          <a:xfrm>
            <a:off x="7112000" y="5842000"/>
            <a:ext cx="431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200">
                <a:solidFill>
                  <a:srgbClr val="5A6B7E"/>
                </a:solidFill>
                <a:latin typeface="Meiryo UI"/>
                <a:ea typeface="Meiryo UI"/>
              </a:rPr>
              <a:t>13</a:t>
            </a:r>
            <a:r>
              <a:rPr lang="ja-JP" altLang="en-US" sz="1200">
                <a:solidFill>
                  <a:srgbClr val="5A6B7E"/>
                </a:solidFill>
                <a:latin typeface="Meiryo UI"/>
                <a:ea typeface="Meiryo UI"/>
              </a:rPr>
              <a:t>歳未満視聴対応で安全配信</a:t>
            </a: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4425FA4B-F203-794F-8C67-6160FC524D17}"/>
              </a:ext>
            </a:extLst>
          </p:cNvPr>
          <p:cNvSpPr txBox="1"/>
          <p:nvPr/>
        </p:nvSpPr>
        <p:spPr>
          <a:xfrm>
            <a:off x="457200" y="6477000"/>
            <a:ext cx="10795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900" i="1">
                <a:solidFill>
                  <a:srgbClr val="8A95A3"/>
                </a:solidFill>
                <a:latin typeface="Meiryo UI"/>
                <a:ea typeface="Meiryo UI"/>
              </a:rPr>
              <a:t>出典</a:t>
            </a:r>
            <a:r>
              <a:rPr lang="en-US" altLang="ja-JP" sz="900" i="1">
                <a:solidFill>
                  <a:srgbClr val="8A95A3"/>
                </a:solidFill>
                <a:latin typeface="Meiryo UI"/>
                <a:ea typeface="Meiryo UI"/>
              </a:rPr>
              <a:t>: </a:t>
            </a:r>
            <a:r>
              <a:rPr lang="ja-JP" altLang="en-US" sz="900" i="1">
                <a:solidFill>
                  <a:srgbClr val="8A95A3"/>
                </a:solidFill>
                <a:latin typeface="Meiryo UI"/>
                <a:ea typeface="Meiryo UI"/>
              </a:rPr>
              <a:t>笹川スポーツ財団「子ども・青少年のスポーツライフ・データ</a:t>
            </a:r>
            <a:r>
              <a:rPr lang="en-US" altLang="ja-JP" sz="900" i="1">
                <a:solidFill>
                  <a:srgbClr val="8A95A3"/>
                </a:solidFill>
                <a:latin typeface="Meiryo UI"/>
                <a:ea typeface="Meiryo UI"/>
              </a:rPr>
              <a:t>2023</a:t>
            </a:r>
            <a:r>
              <a:rPr lang="ja-JP" altLang="en-US" sz="900" i="1">
                <a:solidFill>
                  <a:srgbClr val="8A95A3"/>
                </a:solidFill>
                <a:latin typeface="Meiryo UI"/>
                <a:ea typeface="Meiryo UI"/>
              </a:rPr>
              <a:t>」、日本スポーツ協会 スポーツ少年団統計</a:t>
            </a:r>
          </a:p>
        </p:txBody>
      </p:sp>
    </p:spTree>
    <p:extLst>
      <p:ext uri="{BB962C8B-B14F-4D97-AF65-F5344CB8AC3E}">
        <p14:creationId xmlns:p14="http://schemas.microsoft.com/office/powerpoint/2010/main" val="213586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F68A983-4680-564D-927A-73BD9AA3BB0C}"/>
              </a:ext>
            </a:extLst>
          </p:cNvPr>
          <p:cNvSpPr/>
          <p:nvPr/>
        </p:nvSpPr>
        <p:spPr>
          <a:xfrm>
            <a:off x="457200" y="5461000"/>
            <a:ext cx="11277600" cy="7620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9461E255-D19C-B349-8F16-A0E5EAE2BC1F}"/>
              </a:ext>
            </a:extLst>
          </p:cNvPr>
          <p:cNvSpPr/>
          <p:nvPr/>
        </p:nvSpPr>
        <p:spPr>
          <a:xfrm>
            <a:off x="8991600" y="1778000"/>
            <a:ext cx="2540000" cy="330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9BFC78D3-76C3-D444-ACF2-18ADD0382111}"/>
              </a:ext>
            </a:extLst>
          </p:cNvPr>
          <p:cNvSpPr/>
          <p:nvPr/>
        </p:nvSpPr>
        <p:spPr>
          <a:xfrm>
            <a:off x="6146800" y="1778000"/>
            <a:ext cx="2540000" cy="330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73E547D4-BD42-C84A-90C2-7EC3BE9C1469}"/>
              </a:ext>
            </a:extLst>
          </p:cNvPr>
          <p:cNvSpPr/>
          <p:nvPr/>
        </p:nvSpPr>
        <p:spPr>
          <a:xfrm>
            <a:off x="3302000" y="1778000"/>
            <a:ext cx="2540000" cy="330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F230872-1CDC-2D48-ACE0-94DEFB4009BB}"/>
              </a:ext>
            </a:extLst>
          </p:cNvPr>
          <p:cNvSpPr/>
          <p:nvPr/>
        </p:nvSpPr>
        <p:spPr>
          <a:xfrm>
            <a:off x="457200" y="1778000"/>
            <a:ext cx="2540000" cy="330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9F1F0D5-03D1-B54B-B1D3-AA7079BDAC6A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1F742D0-CA0F-424A-8497-2E54CCEF7FDF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なぜ部活動か </a:t>
            </a:r>
            <a:r>
              <a:rPr lang="en-US" altLang="ja-JP" sz="2600" b="1">
                <a:solidFill>
                  <a:srgbClr val="0B1F3A"/>
                </a:solidFill>
                <a:latin typeface="Meiryo UI"/>
                <a:ea typeface="Meiryo UI"/>
              </a:rPr>
              <a:t>— </a:t>
            </a:r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加速度的な拡散モデル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027FDF7-E4B6-D546-91C1-D48E5FA2C136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8A95A3"/>
                </a:solidFill>
                <a:latin typeface="Meiryo UI"/>
                <a:ea typeface="Meiryo UI"/>
              </a:rPr>
              <a:t>VIRAL GROWTH STRATEGY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74AED8A-E9FA-294C-B2E4-952556DAB500}"/>
              </a:ext>
            </a:extLst>
          </p:cNvPr>
          <p:cNvSpPr txBox="1"/>
          <p:nvPr/>
        </p:nvSpPr>
        <p:spPr>
          <a:xfrm>
            <a:off x="11430000" y="64770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>
                <a:solidFill>
                  <a:srgbClr val="8A95A3"/>
                </a:solidFill>
                <a:latin typeface="Meiryo UI"/>
                <a:ea typeface="Meiryo UI"/>
              </a:rPr>
              <a:t>04</a:t>
            </a:r>
            <a:endParaRPr lang="ja-JP" altLang="en-US" sz="10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B0C11F74-09F5-6D44-9A07-7FE48E617523}"/>
              </a:ext>
            </a:extLst>
          </p:cNvPr>
          <p:cNvSpPr/>
          <p:nvPr/>
        </p:nvSpPr>
        <p:spPr>
          <a:xfrm>
            <a:off x="457200" y="1778000"/>
            <a:ext cx="2540000" cy="50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7" name="円/楕円 46">
            <a:extLst>
              <a:ext uri="{FF2B5EF4-FFF2-40B4-BE49-F238E27FC236}">
                <a16:creationId xmlns:a16="http://schemas.microsoft.com/office/drawing/2014/main" id="{32702B69-76DE-0C44-83A8-F0A96CF65AB1}"/>
              </a:ext>
            </a:extLst>
          </p:cNvPr>
          <p:cNvSpPr/>
          <p:nvPr/>
        </p:nvSpPr>
        <p:spPr>
          <a:xfrm>
            <a:off x="1371600" y="2133600"/>
            <a:ext cx="711200" cy="7112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2800" b="1">
                <a:solidFill>
                  <a:srgbClr val="FFFFFF"/>
                </a:solidFill>
                <a:latin typeface="Meiryo UI"/>
                <a:ea typeface="Meiryo UI"/>
              </a:rPr>
              <a:t>1</a:t>
            </a:r>
            <a:endParaRPr lang="ja-JP" altLang="en-US" sz="28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4F2CF48-F128-9542-9D6A-9D8EEDB0C88B}"/>
              </a:ext>
            </a:extLst>
          </p:cNvPr>
          <p:cNvSpPr txBox="1"/>
          <p:nvPr/>
        </p:nvSpPr>
        <p:spPr>
          <a:xfrm>
            <a:off x="457200" y="2997200"/>
            <a:ext cx="2540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 b="1" spc="200" dirty="0">
                <a:solidFill>
                  <a:srgbClr val="8A95A3"/>
                </a:solidFill>
                <a:latin typeface="Meiryo UI"/>
                <a:ea typeface="Meiryo UI"/>
              </a:rPr>
              <a:t>STEP 1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F809470D-7476-8B4A-804E-9526ED6F674A}"/>
              </a:ext>
            </a:extLst>
          </p:cNvPr>
          <p:cNvSpPr txBox="1"/>
          <p:nvPr/>
        </p:nvSpPr>
        <p:spPr>
          <a:xfrm>
            <a:off x="609600" y="3302000"/>
            <a:ext cx="2235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0B1F3A"/>
                </a:solidFill>
                <a:latin typeface="Meiryo UI"/>
                <a:ea typeface="Meiryo UI"/>
              </a:rPr>
              <a:t>保護者1人が配信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24057D2D-7136-9246-B00C-5E22E11BF9F0}"/>
              </a:ext>
            </a:extLst>
          </p:cNvPr>
          <p:cNvSpPr txBox="1"/>
          <p:nvPr/>
        </p:nvSpPr>
        <p:spPr>
          <a:xfrm>
            <a:off x="660400" y="3759200"/>
            <a:ext cx="2133600" cy="57522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altLang="en-US" sz="1200" dirty="0">
                <a:solidFill>
                  <a:srgbClr val="5A6B7E"/>
                </a:solidFill>
                <a:latin typeface="Meiryo UI"/>
                <a:ea typeface="Meiryo UI"/>
              </a:rPr>
              <a:t>スマホ1台で我が子の試合を配信。チーム内30〜50人が視聴。</a:t>
            </a:r>
          </a:p>
        </p:txBody>
      </p:sp>
      <p:sp>
        <p:nvSpPr>
          <p:cNvPr id="51" name="右矢印 50">
            <a:extLst>
              <a:ext uri="{FF2B5EF4-FFF2-40B4-BE49-F238E27FC236}">
                <a16:creationId xmlns:a16="http://schemas.microsoft.com/office/drawing/2014/main" id="{38A7938D-1AB1-BF4F-AC58-CCD249083032}"/>
              </a:ext>
            </a:extLst>
          </p:cNvPr>
          <p:cNvSpPr/>
          <p:nvPr/>
        </p:nvSpPr>
        <p:spPr>
          <a:xfrm>
            <a:off x="3022600" y="2413000"/>
            <a:ext cx="228600" cy="152400"/>
          </a:xfrm>
          <a:prstGeom prst="rightArrow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3C3923E2-6165-1C49-BFF4-BEBD05C20579}"/>
              </a:ext>
            </a:extLst>
          </p:cNvPr>
          <p:cNvSpPr/>
          <p:nvPr/>
        </p:nvSpPr>
        <p:spPr>
          <a:xfrm>
            <a:off x="3302000" y="1778000"/>
            <a:ext cx="2540000" cy="508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26513413-4E21-A540-B00F-B750D379DB79}"/>
              </a:ext>
            </a:extLst>
          </p:cNvPr>
          <p:cNvSpPr/>
          <p:nvPr/>
        </p:nvSpPr>
        <p:spPr>
          <a:xfrm>
            <a:off x="4216400" y="2133600"/>
            <a:ext cx="711200" cy="711200"/>
          </a:xfrm>
          <a:prstGeom prst="ellipse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2800" b="1">
                <a:solidFill>
                  <a:srgbClr val="FFFFFF"/>
                </a:solidFill>
                <a:latin typeface="Meiryo UI"/>
                <a:ea typeface="Meiryo UI"/>
              </a:rPr>
              <a:t>2</a:t>
            </a:r>
            <a:endParaRPr lang="ja-JP" altLang="en-US" sz="28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D51FC3FB-1DDB-994E-B5E3-58806B65106E}"/>
              </a:ext>
            </a:extLst>
          </p:cNvPr>
          <p:cNvSpPr txBox="1"/>
          <p:nvPr/>
        </p:nvSpPr>
        <p:spPr>
          <a:xfrm>
            <a:off x="3302000" y="2997200"/>
            <a:ext cx="2540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 b="1" spc="200" dirty="0">
                <a:solidFill>
                  <a:srgbClr val="8A95A3"/>
                </a:solidFill>
                <a:latin typeface="Meiryo UI"/>
                <a:ea typeface="Meiryo UI"/>
              </a:rPr>
              <a:t>STEP 2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82EE4FF6-B55B-7E43-88E5-548FEFE42293}"/>
              </a:ext>
            </a:extLst>
          </p:cNvPr>
          <p:cNvSpPr txBox="1"/>
          <p:nvPr/>
        </p:nvSpPr>
        <p:spPr>
          <a:xfrm>
            <a:off x="3454400" y="3302000"/>
            <a:ext cx="2235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0B1F3A"/>
                </a:solidFill>
                <a:latin typeface="Meiryo UI"/>
                <a:ea typeface="Meiryo UI"/>
              </a:rPr>
              <a:t>対戦相手にも波及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8064A22-E2AA-D449-866F-3962D4D2AC13}"/>
              </a:ext>
            </a:extLst>
          </p:cNvPr>
          <p:cNvSpPr txBox="1"/>
          <p:nvPr/>
        </p:nvSpPr>
        <p:spPr>
          <a:xfrm>
            <a:off x="3505200" y="3759200"/>
            <a:ext cx="2133600" cy="57522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altLang="en-US" sz="1200" dirty="0">
                <a:solidFill>
                  <a:srgbClr val="5A6B7E"/>
                </a:solidFill>
                <a:latin typeface="Meiryo UI"/>
                <a:ea typeface="Meiryo UI"/>
              </a:rPr>
              <a:t>「うちもやりたい」と相手チームの保護者も配信者に転換。</a:t>
            </a:r>
          </a:p>
        </p:txBody>
      </p:sp>
      <p:sp>
        <p:nvSpPr>
          <p:cNvPr id="58" name="右矢印 57">
            <a:extLst>
              <a:ext uri="{FF2B5EF4-FFF2-40B4-BE49-F238E27FC236}">
                <a16:creationId xmlns:a16="http://schemas.microsoft.com/office/drawing/2014/main" id="{463DBFBC-82CC-144C-A59E-9FCE128063F2}"/>
              </a:ext>
            </a:extLst>
          </p:cNvPr>
          <p:cNvSpPr/>
          <p:nvPr/>
        </p:nvSpPr>
        <p:spPr>
          <a:xfrm>
            <a:off x="5867400" y="2413000"/>
            <a:ext cx="228600" cy="152400"/>
          </a:xfrm>
          <a:prstGeom prst="rightArrow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6F4ED0DB-E382-F84E-B51C-F31938F0B81C}"/>
              </a:ext>
            </a:extLst>
          </p:cNvPr>
          <p:cNvSpPr/>
          <p:nvPr/>
        </p:nvSpPr>
        <p:spPr>
          <a:xfrm>
            <a:off x="6146800" y="1778000"/>
            <a:ext cx="2540000" cy="50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1" name="円/楕円 60">
            <a:extLst>
              <a:ext uri="{FF2B5EF4-FFF2-40B4-BE49-F238E27FC236}">
                <a16:creationId xmlns:a16="http://schemas.microsoft.com/office/drawing/2014/main" id="{49BA36B0-8F31-B646-915B-F76598E29BE1}"/>
              </a:ext>
            </a:extLst>
          </p:cNvPr>
          <p:cNvSpPr/>
          <p:nvPr/>
        </p:nvSpPr>
        <p:spPr>
          <a:xfrm>
            <a:off x="7061200" y="2133600"/>
            <a:ext cx="711200" cy="7112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2800" b="1">
                <a:solidFill>
                  <a:srgbClr val="FFFFFF"/>
                </a:solidFill>
                <a:latin typeface="Meiryo UI"/>
                <a:ea typeface="Meiryo UI"/>
              </a:rPr>
              <a:t>3</a:t>
            </a:r>
            <a:endParaRPr lang="ja-JP" altLang="en-US" sz="28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AB5C9E5-7B93-E645-8289-CA180F865990}"/>
              </a:ext>
            </a:extLst>
          </p:cNvPr>
          <p:cNvSpPr txBox="1"/>
          <p:nvPr/>
        </p:nvSpPr>
        <p:spPr>
          <a:xfrm>
            <a:off x="6146800" y="2997200"/>
            <a:ext cx="2540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 b="1" spc="200" dirty="0">
                <a:solidFill>
                  <a:srgbClr val="8A95A3"/>
                </a:solidFill>
                <a:latin typeface="Meiryo UI"/>
                <a:ea typeface="Meiryo UI"/>
              </a:rPr>
              <a:t>STEP 3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16E7C68-F2CF-6847-936E-1A7345DAC585}"/>
              </a:ext>
            </a:extLst>
          </p:cNvPr>
          <p:cNvSpPr txBox="1"/>
          <p:nvPr/>
        </p:nvSpPr>
        <p:spPr>
          <a:xfrm>
            <a:off x="6299200" y="3302000"/>
            <a:ext cx="2235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0B1F3A"/>
                </a:solidFill>
                <a:latin typeface="Meiryo UI"/>
                <a:ea typeface="Meiryo UI"/>
              </a:rPr>
              <a:t>大会全体に広がる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36EF8702-9A48-3749-9F3B-0F5842431086}"/>
              </a:ext>
            </a:extLst>
          </p:cNvPr>
          <p:cNvSpPr txBox="1"/>
          <p:nvPr/>
        </p:nvSpPr>
        <p:spPr>
          <a:xfrm>
            <a:off x="6350000" y="3759200"/>
            <a:ext cx="2133600" cy="8337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altLang="en-US" sz="1200" dirty="0">
                <a:solidFill>
                  <a:srgbClr val="5A6B7E"/>
                </a:solidFill>
                <a:latin typeface="Meiryo UI"/>
                <a:ea typeface="Meiryo UI"/>
              </a:rPr>
              <a:t>大会主催者が推奨し全参加チームが利用。1大会で100〜200人獲得。</a:t>
            </a:r>
          </a:p>
        </p:txBody>
      </p:sp>
      <p:sp>
        <p:nvSpPr>
          <p:cNvPr id="65" name="右矢印 64">
            <a:extLst>
              <a:ext uri="{FF2B5EF4-FFF2-40B4-BE49-F238E27FC236}">
                <a16:creationId xmlns:a16="http://schemas.microsoft.com/office/drawing/2014/main" id="{C2863AEF-D34D-D944-881B-670EBB86D181}"/>
              </a:ext>
            </a:extLst>
          </p:cNvPr>
          <p:cNvSpPr/>
          <p:nvPr/>
        </p:nvSpPr>
        <p:spPr>
          <a:xfrm>
            <a:off x="8712200" y="2413000"/>
            <a:ext cx="228600" cy="152400"/>
          </a:xfrm>
          <a:prstGeom prst="rightArrow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2D06C651-314A-B244-8D99-054741D50498}"/>
              </a:ext>
            </a:extLst>
          </p:cNvPr>
          <p:cNvSpPr/>
          <p:nvPr/>
        </p:nvSpPr>
        <p:spPr>
          <a:xfrm>
            <a:off x="8991600" y="1778000"/>
            <a:ext cx="2540000" cy="508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8" name="円/楕円 67">
            <a:extLst>
              <a:ext uri="{FF2B5EF4-FFF2-40B4-BE49-F238E27FC236}">
                <a16:creationId xmlns:a16="http://schemas.microsoft.com/office/drawing/2014/main" id="{D277828C-F34B-EB41-8D3E-44A0770A65E9}"/>
              </a:ext>
            </a:extLst>
          </p:cNvPr>
          <p:cNvSpPr/>
          <p:nvPr/>
        </p:nvSpPr>
        <p:spPr>
          <a:xfrm>
            <a:off x="9906000" y="2133600"/>
            <a:ext cx="711200" cy="711200"/>
          </a:xfrm>
          <a:prstGeom prst="ellipse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2800" b="1">
                <a:solidFill>
                  <a:srgbClr val="FFFFFF"/>
                </a:solidFill>
                <a:latin typeface="Meiryo UI"/>
                <a:ea typeface="Meiryo UI"/>
              </a:rPr>
              <a:t>4</a:t>
            </a:r>
            <a:endParaRPr lang="ja-JP" altLang="en-US" sz="28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0E58542D-40D2-0940-A994-36AD0E0C6714}"/>
              </a:ext>
            </a:extLst>
          </p:cNvPr>
          <p:cNvSpPr txBox="1"/>
          <p:nvPr/>
        </p:nvSpPr>
        <p:spPr>
          <a:xfrm>
            <a:off x="8991600" y="2997200"/>
            <a:ext cx="2540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 b="1" spc="200" dirty="0">
                <a:solidFill>
                  <a:srgbClr val="8A95A3"/>
                </a:solidFill>
                <a:latin typeface="Meiryo UI"/>
                <a:ea typeface="Meiryo UI"/>
              </a:rPr>
              <a:t>STEP 4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3F95E96-E994-2042-93E5-79464DFB4969}"/>
              </a:ext>
            </a:extLst>
          </p:cNvPr>
          <p:cNvSpPr txBox="1"/>
          <p:nvPr/>
        </p:nvSpPr>
        <p:spPr>
          <a:xfrm>
            <a:off x="9144000" y="3302000"/>
            <a:ext cx="2235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0B1F3A"/>
                </a:solidFill>
                <a:latin typeface="Meiryo UI"/>
                <a:ea typeface="Meiryo UI"/>
              </a:rPr>
              <a:t>地域のスタンダード化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7EC8C9B0-26A3-004B-A22E-D04206AFF616}"/>
              </a:ext>
            </a:extLst>
          </p:cNvPr>
          <p:cNvSpPr txBox="1"/>
          <p:nvPr/>
        </p:nvSpPr>
        <p:spPr>
          <a:xfrm>
            <a:off x="9194800" y="3759200"/>
            <a:ext cx="2133600" cy="8337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altLang="en-US" sz="1200" dirty="0">
                <a:solidFill>
                  <a:srgbClr val="5A6B7E"/>
                </a:solidFill>
                <a:latin typeface="Meiryo UI"/>
                <a:ea typeface="Meiryo UI"/>
              </a:rPr>
              <a:t>サッカー→野球→バスケへ横展開。複数スポーツが地域インフラ化。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B47EE436-4EAD-0F43-8C30-BA33C6534E40}"/>
              </a:ext>
            </a:extLst>
          </p:cNvPr>
          <p:cNvSpPr/>
          <p:nvPr/>
        </p:nvSpPr>
        <p:spPr>
          <a:xfrm>
            <a:off x="457200" y="5461000"/>
            <a:ext cx="50800" cy="762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AB0AC234-BE5E-624D-8FE5-B75392AD76F1}"/>
              </a:ext>
            </a:extLst>
          </p:cNvPr>
          <p:cNvSpPr txBox="1"/>
          <p:nvPr/>
        </p:nvSpPr>
        <p:spPr>
          <a:xfrm>
            <a:off x="711200" y="5689600"/>
            <a:ext cx="107696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500" b="1" dirty="0">
                <a:solidFill>
                  <a:srgbClr val="0B1F3A"/>
                </a:solidFill>
                <a:latin typeface="Meiryo UI"/>
                <a:ea typeface="Meiryo UI"/>
              </a:rPr>
              <a:t>部活動・少年団は保護者コミュニティが密接</a:t>
            </a:r>
            <a:r>
              <a:rPr lang="ja-JP" altLang="en-US" sz="1500" dirty="0">
                <a:solidFill>
                  <a:srgbClr val="5A6B7E"/>
                </a:solidFill>
                <a:latin typeface="Meiryo UI"/>
                <a:ea typeface="Meiryo UI"/>
              </a:rPr>
              <a:t>  →  </a:t>
            </a:r>
            <a:r>
              <a:rPr lang="ja-JP" altLang="en-US" sz="1500" b="1" dirty="0">
                <a:solidFill>
                  <a:srgbClr val="E63946"/>
                </a:solidFill>
                <a:latin typeface="Meiryo UI"/>
                <a:ea typeface="Meiryo UI"/>
              </a:rPr>
              <a:t>口コミの拡散速度が圧倒的に速い</a:t>
            </a:r>
          </a:p>
        </p:txBody>
      </p:sp>
    </p:spTree>
    <p:extLst>
      <p:ext uri="{BB962C8B-B14F-4D97-AF65-F5344CB8AC3E}">
        <p14:creationId xmlns:p14="http://schemas.microsoft.com/office/powerpoint/2010/main" val="140063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B4AFF084-C362-8D4C-B866-52172A875C92}"/>
              </a:ext>
            </a:extLst>
          </p:cNvPr>
          <p:cNvSpPr/>
          <p:nvPr/>
        </p:nvSpPr>
        <p:spPr>
          <a:xfrm>
            <a:off x="457200" y="5842000"/>
            <a:ext cx="11277600" cy="406400"/>
          </a:xfrm>
          <a:prstGeom prst="rect">
            <a:avLst/>
          </a:prstGeom>
          <a:solidFill>
            <a:srgbClr val="FEF2F3"/>
          </a:solidFill>
          <a:ln w="6350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7458A36-B78D-8A4F-957D-EA5F49C1B68E}"/>
              </a:ext>
            </a:extLst>
          </p:cNvPr>
          <p:cNvSpPr/>
          <p:nvPr/>
        </p:nvSpPr>
        <p:spPr>
          <a:xfrm>
            <a:off x="457200" y="5435600"/>
            <a:ext cx="112776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5BFEFD4-4963-764B-AE2D-8306FB2908E1}"/>
              </a:ext>
            </a:extLst>
          </p:cNvPr>
          <p:cNvSpPr/>
          <p:nvPr/>
        </p:nvSpPr>
        <p:spPr>
          <a:xfrm>
            <a:off x="457200" y="5029200"/>
            <a:ext cx="112776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EDB11350-AA55-AD4F-87A0-0852C27925F9}"/>
              </a:ext>
            </a:extLst>
          </p:cNvPr>
          <p:cNvSpPr/>
          <p:nvPr/>
        </p:nvSpPr>
        <p:spPr>
          <a:xfrm>
            <a:off x="457200" y="4622800"/>
            <a:ext cx="112776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4E5EC569-841D-1442-A23E-E3F8679A4110}"/>
              </a:ext>
            </a:extLst>
          </p:cNvPr>
          <p:cNvSpPr/>
          <p:nvPr/>
        </p:nvSpPr>
        <p:spPr>
          <a:xfrm>
            <a:off x="457200" y="4216400"/>
            <a:ext cx="11277600" cy="406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BE57FF01-2A0E-B248-A982-673D9717B6EA}"/>
              </a:ext>
            </a:extLst>
          </p:cNvPr>
          <p:cNvSpPr/>
          <p:nvPr/>
        </p:nvSpPr>
        <p:spPr>
          <a:xfrm>
            <a:off x="457200" y="3810000"/>
            <a:ext cx="11277600" cy="4064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C5A4AD83-0E79-E04C-B79F-FA683C08AB25}"/>
              </a:ext>
            </a:extLst>
          </p:cNvPr>
          <p:cNvSpPr/>
          <p:nvPr/>
        </p:nvSpPr>
        <p:spPr>
          <a:xfrm>
            <a:off x="8991600" y="1778000"/>
            <a:ext cx="2667000" cy="1397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9DB25D3F-45CA-8A4F-AAB3-835F9A2A6CE9}"/>
              </a:ext>
            </a:extLst>
          </p:cNvPr>
          <p:cNvSpPr/>
          <p:nvPr/>
        </p:nvSpPr>
        <p:spPr>
          <a:xfrm>
            <a:off x="6146800" y="1778000"/>
            <a:ext cx="2667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6734AEDD-83E8-0748-93E5-E8208685F078}"/>
              </a:ext>
            </a:extLst>
          </p:cNvPr>
          <p:cNvSpPr/>
          <p:nvPr/>
        </p:nvSpPr>
        <p:spPr>
          <a:xfrm>
            <a:off x="3302000" y="1778000"/>
            <a:ext cx="2667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433507E8-79DB-0B48-A6B5-ADB3D96A3978}"/>
              </a:ext>
            </a:extLst>
          </p:cNvPr>
          <p:cNvSpPr/>
          <p:nvPr/>
        </p:nvSpPr>
        <p:spPr>
          <a:xfrm>
            <a:off x="457200" y="1778000"/>
            <a:ext cx="26670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583BB4B3-B89D-5841-80FF-DFD70BCB9FD3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9EA2463-5AFE-6D4B-9FC5-2415D8DFBC17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市場規模と競合分析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AA1F32D3-8AD8-F744-AD6F-0756D518A068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8A95A3"/>
                </a:solidFill>
                <a:latin typeface="Meiryo UI"/>
                <a:ea typeface="Meiryo UI"/>
              </a:rPr>
              <a:t>MARKET SIZE &amp; COMPETITIVE LANDSCAPE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4D50E7A6-7404-5B4F-8125-D8EBB812ED9C}"/>
              </a:ext>
            </a:extLst>
          </p:cNvPr>
          <p:cNvSpPr txBox="1"/>
          <p:nvPr/>
        </p:nvSpPr>
        <p:spPr>
          <a:xfrm>
            <a:off x="11684000" y="6629400"/>
            <a:ext cx="45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>
                <a:solidFill>
                  <a:srgbClr val="8A95A3"/>
                </a:solidFill>
                <a:latin typeface="Meiryo UI"/>
                <a:ea typeface="Meiryo UI"/>
              </a:rPr>
              <a:t>05</a:t>
            </a:r>
            <a:endParaRPr lang="ja-JP" altLang="en-US" sz="10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61624D2-565B-8648-BEAD-FE2C3CE60356}"/>
              </a:ext>
            </a:extLst>
          </p:cNvPr>
          <p:cNvSpPr txBox="1"/>
          <p:nvPr/>
        </p:nvSpPr>
        <p:spPr>
          <a:xfrm>
            <a:off x="457200" y="1371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ターゲット市場規模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A18B0AC3-811A-B540-AD1F-DEC174856778}"/>
              </a:ext>
            </a:extLst>
          </p:cNvPr>
          <p:cNvSpPr/>
          <p:nvPr/>
        </p:nvSpPr>
        <p:spPr>
          <a:xfrm>
            <a:off x="457200" y="1778000"/>
            <a:ext cx="2667000" cy="381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DE2E9D54-6D7A-A64C-9B6F-2F9F8CDFE317}"/>
              </a:ext>
            </a:extLst>
          </p:cNvPr>
          <p:cNvSpPr txBox="1"/>
          <p:nvPr/>
        </p:nvSpPr>
        <p:spPr>
          <a:xfrm>
            <a:off x="635000" y="1981200"/>
            <a:ext cx="23114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中学校 運動部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1D1C9CFF-5472-E545-91F4-0CA0AF62C1C8}"/>
              </a:ext>
            </a:extLst>
          </p:cNvPr>
          <p:cNvSpPr txBox="1"/>
          <p:nvPr/>
        </p:nvSpPr>
        <p:spPr>
          <a:xfrm>
            <a:off x="635000" y="2260600"/>
            <a:ext cx="1905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3200" b="1">
                <a:solidFill>
                  <a:srgbClr val="E63946"/>
                </a:solidFill>
                <a:latin typeface="Meiryo UI"/>
                <a:ea typeface="Meiryo UI"/>
              </a:rPr>
              <a:t>190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1FC7B2A-8F6C-8748-AAC0-C0A372BC41D5}"/>
              </a:ext>
            </a:extLst>
          </p:cNvPr>
          <p:cNvSpPr txBox="1"/>
          <p:nvPr/>
        </p:nvSpPr>
        <p:spPr>
          <a:xfrm>
            <a:off x="2489200" y="25400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>
                <a:solidFill>
                  <a:srgbClr val="0B1F3A"/>
                </a:solidFill>
                <a:latin typeface="Meiryo UI"/>
                <a:ea typeface="Meiryo UI"/>
              </a:rPr>
              <a:t>万人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082AEAD-93BC-4744-8E35-1C90911C8ECA}"/>
              </a:ext>
            </a:extLst>
          </p:cNvPr>
          <p:cNvSpPr/>
          <p:nvPr/>
        </p:nvSpPr>
        <p:spPr>
          <a:xfrm>
            <a:off x="3302000" y="1778000"/>
            <a:ext cx="2667000" cy="381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474957C-E190-B047-973B-B09FB91936B0}"/>
              </a:ext>
            </a:extLst>
          </p:cNvPr>
          <p:cNvSpPr txBox="1"/>
          <p:nvPr/>
        </p:nvSpPr>
        <p:spPr>
          <a:xfrm>
            <a:off x="3479800" y="1981200"/>
            <a:ext cx="23114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高校 運動部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FEEA28F6-4A0E-C844-B378-1CA7F484D3E1}"/>
              </a:ext>
            </a:extLst>
          </p:cNvPr>
          <p:cNvSpPr txBox="1"/>
          <p:nvPr/>
        </p:nvSpPr>
        <p:spPr>
          <a:xfrm>
            <a:off x="3479800" y="2260600"/>
            <a:ext cx="1905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3200" b="1">
                <a:solidFill>
                  <a:srgbClr val="E63946"/>
                </a:solidFill>
                <a:latin typeface="Meiryo UI"/>
                <a:ea typeface="Meiryo UI"/>
              </a:rPr>
              <a:t>110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4568708-9743-0A46-9CE4-48ED37002F87}"/>
              </a:ext>
            </a:extLst>
          </p:cNvPr>
          <p:cNvSpPr txBox="1"/>
          <p:nvPr/>
        </p:nvSpPr>
        <p:spPr>
          <a:xfrm>
            <a:off x="5334000" y="25400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>
                <a:solidFill>
                  <a:srgbClr val="0B1F3A"/>
                </a:solidFill>
                <a:latin typeface="Meiryo UI"/>
                <a:ea typeface="Meiryo UI"/>
              </a:rPr>
              <a:t>万人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4370C217-3CBD-C146-970C-C6F7931732D2}"/>
              </a:ext>
            </a:extLst>
          </p:cNvPr>
          <p:cNvSpPr/>
          <p:nvPr/>
        </p:nvSpPr>
        <p:spPr>
          <a:xfrm>
            <a:off x="6146800" y="1778000"/>
            <a:ext cx="2667000" cy="381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04828809-A1F9-0F4D-9D54-77C52925EBAD}"/>
              </a:ext>
            </a:extLst>
          </p:cNvPr>
          <p:cNvSpPr txBox="1"/>
          <p:nvPr/>
        </p:nvSpPr>
        <p:spPr>
          <a:xfrm>
            <a:off x="6324600" y="1981200"/>
            <a:ext cx="23114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スポーツ少年団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21CDF53F-6A90-8C4F-B85E-A2BD2F9D4FC0}"/>
              </a:ext>
            </a:extLst>
          </p:cNvPr>
          <p:cNvSpPr txBox="1"/>
          <p:nvPr/>
        </p:nvSpPr>
        <p:spPr>
          <a:xfrm>
            <a:off x="6324600" y="2260600"/>
            <a:ext cx="1905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3200" b="1">
                <a:solidFill>
                  <a:srgbClr val="E63946"/>
                </a:solidFill>
                <a:latin typeface="Meiryo UI"/>
                <a:ea typeface="Meiryo UI"/>
              </a:rPr>
              <a:t>60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5867398-C5B3-0544-8971-9049563376C6}"/>
              </a:ext>
            </a:extLst>
          </p:cNvPr>
          <p:cNvSpPr txBox="1"/>
          <p:nvPr/>
        </p:nvSpPr>
        <p:spPr>
          <a:xfrm>
            <a:off x="8178800" y="25400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>
                <a:solidFill>
                  <a:srgbClr val="0B1F3A"/>
                </a:solidFill>
                <a:latin typeface="Meiryo UI"/>
                <a:ea typeface="Meiryo UI"/>
              </a:rPr>
              <a:t>万人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84781FFB-0931-814E-A23A-D541022869D8}"/>
              </a:ext>
            </a:extLst>
          </p:cNvPr>
          <p:cNvSpPr txBox="1"/>
          <p:nvPr/>
        </p:nvSpPr>
        <p:spPr>
          <a:xfrm>
            <a:off x="9169400" y="1981200"/>
            <a:ext cx="23114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FFFFFF"/>
                </a:solidFill>
                <a:latin typeface="Meiryo UI"/>
                <a:ea typeface="Meiryo UI"/>
              </a:rPr>
              <a:t>保護者・家族含む対象層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BD98DA7D-1873-7244-ABCF-03A5070073E6}"/>
              </a:ext>
            </a:extLst>
          </p:cNvPr>
          <p:cNvSpPr txBox="1"/>
          <p:nvPr/>
        </p:nvSpPr>
        <p:spPr>
          <a:xfrm>
            <a:off x="9169400" y="2286000"/>
            <a:ext cx="190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700" b="1">
                <a:solidFill>
                  <a:srgbClr val="FFFFFF"/>
                </a:solidFill>
                <a:latin typeface="Meiryo UI"/>
                <a:ea typeface="Meiryo UI"/>
              </a:rPr>
              <a:t>1,140-1,520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5A852B95-C5D2-FB4E-BFEA-A0B98E3C2C01}"/>
              </a:ext>
            </a:extLst>
          </p:cNvPr>
          <p:cNvSpPr txBox="1"/>
          <p:nvPr/>
        </p:nvSpPr>
        <p:spPr>
          <a:xfrm>
            <a:off x="11023600" y="25400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>
                <a:solidFill>
                  <a:srgbClr val="FFFFFF"/>
                </a:solidFill>
                <a:latin typeface="Meiryo UI"/>
                <a:ea typeface="Meiryo UI"/>
              </a:rPr>
              <a:t>万人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4BC2713F-B5F3-3741-A33D-EEE879A90101}"/>
              </a:ext>
            </a:extLst>
          </p:cNvPr>
          <p:cNvSpPr txBox="1"/>
          <p:nvPr/>
        </p:nvSpPr>
        <p:spPr>
          <a:xfrm>
            <a:off x="457200" y="3403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競合との差別化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ACDB0884-A514-DF4D-9166-741F831213B1}"/>
              </a:ext>
            </a:extLst>
          </p:cNvPr>
          <p:cNvSpPr txBox="1"/>
          <p:nvPr/>
        </p:nvSpPr>
        <p:spPr>
          <a:xfrm>
            <a:off x="635000" y="38989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 b="1">
                <a:solidFill>
                  <a:srgbClr val="0B1F3A"/>
                </a:solidFill>
                <a:latin typeface="Meiryo UI"/>
                <a:ea typeface="Meiryo UI"/>
              </a:rPr>
              <a:t>サービス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A4E20E5F-7D83-C64D-9762-CC4D0E346C33}"/>
              </a:ext>
            </a:extLst>
          </p:cNvPr>
          <p:cNvSpPr txBox="1"/>
          <p:nvPr/>
        </p:nvSpPr>
        <p:spPr>
          <a:xfrm>
            <a:off x="3784600" y="3898900"/>
            <a:ext cx="370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 b="1">
                <a:solidFill>
                  <a:srgbClr val="0B1F3A"/>
                </a:solidFill>
                <a:latin typeface="Meiryo UI"/>
                <a:ea typeface="Meiryo UI"/>
              </a:rPr>
              <a:t>対象領域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74257E6C-1480-EB4A-8AB6-5CF8B71F1F81}"/>
              </a:ext>
            </a:extLst>
          </p:cNvPr>
          <p:cNvSpPr txBox="1"/>
          <p:nvPr/>
        </p:nvSpPr>
        <p:spPr>
          <a:xfrm>
            <a:off x="7950200" y="3898900"/>
            <a:ext cx="360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000" b="1">
                <a:solidFill>
                  <a:srgbClr val="0B1F3A"/>
                </a:solidFill>
                <a:latin typeface="Meiryo UI"/>
                <a:ea typeface="Meiryo UI"/>
              </a:rPr>
              <a:t>LIVE SPOtCH</a:t>
            </a:r>
            <a:r>
              <a:rPr lang="ja-JP" altLang="en-US" sz="1000" b="1">
                <a:solidFill>
                  <a:srgbClr val="0B1F3A"/>
                </a:solidFill>
                <a:latin typeface="Meiryo UI"/>
                <a:ea typeface="Meiryo UI"/>
              </a:rPr>
              <a:t>との差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FBB2CF91-61F2-824A-9283-DE5531A60FE0}"/>
              </a:ext>
            </a:extLst>
          </p:cNvPr>
          <p:cNvSpPr txBox="1"/>
          <p:nvPr/>
        </p:nvSpPr>
        <p:spPr>
          <a:xfrm>
            <a:off x="635000" y="43053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0B1F3A"/>
                </a:solidFill>
                <a:latin typeface="Meiryo UI"/>
                <a:ea typeface="Meiryo UI"/>
              </a:rPr>
              <a:t>スポーツブル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C751D0F-4403-8E49-840E-685712EB247E}"/>
              </a:ext>
            </a:extLst>
          </p:cNvPr>
          <p:cNvSpPr txBox="1"/>
          <p:nvPr/>
        </p:nvSpPr>
        <p:spPr>
          <a:xfrm>
            <a:off x="3784600" y="4305300"/>
            <a:ext cx="370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プロ・大学スポーツ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7BA5EFB8-5C84-1B4A-904D-9AE379C02BB7}"/>
              </a:ext>
            </a:extLst>
          </p:cNvPr>
          <p:cNvSpPr txBox="1"/>
          <p:nvPr/>
        </p:nvSpPr>
        <p:spPr>
          <a:xfrm>
            <a:off x="7950200" y="4305300"/>
            <a:ext cx="360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ローカル未対応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0FCA8AA5-535B-EE41-98E0-C51223B061E9}"/>
              </a:ext>
            </a:extLst>
          </p:cNvPr>
          <p:cNvSpPr txBox="1"/>
          <p:nvPr/>
        </p:nvSpPr>
        <p:spPr>
          <a:xfrm>
            <a:off x="635000" y="47117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0B1F3A"/>
                </a:solidFill>
                <a:latin typeface="Meiryo UI"/>
                <a:ea typeface="Meiryo UI"/>
              </a:rPr>
              <a:t>YouTube Live</a:t>
            </a:r>
            <a:endParaRPr lang="ja-JP" altLang="en-US" sz="1100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2ED2A801-CE7D-014F-B033-D896459EA623}"/>
              </a:ext>
            </a:extLst>
          </p:cNvPr>
          <p:cNvSpPr txBox="1"/>
          <p:nvPr/>
        </p:nvSpPr>
        <p:spPr>
          <a:xfrm>
            <a:off x="3784600" y="4711700"/>
            <a:ext cx="370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汎用配信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9BC15465-5E53-0746-B932-AA889685AB18}"/>
              </a:ext>
            </a:extLst>
          </p:cNvPr>
          <p:cNvSpPr txBox="1"/>
          <p:nvPr/>
        </p:nvSpPr>
        <p:spPr>
          <a:xfrm>
            <a:off x="7950200" y="4711700"/>
            <a:ext cx="360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スコア・連携なし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CC031A39-2C56-FA44-8C79-B0FDC89B924C}"/>
              </a:ext>
            </a:extLst>
          </p:cNvPr>
          <p:cNvSpPr txBox="1"/>
          <p:nvPr/>
        </p:nvSpPr>
        <p:spPr>
          <a:xfrm>
            <a:off x="635000" y="51181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0B1F3A"/>
                </a:solidFill>
                <a:latin typeface="Meiryo UI"/>
                <a:ea typeface="Meiryo UI"/>
              </a:rPr>
              <a:t>BAND (NAVER)</a:t>
            </a:r>
            <a:endParaRPr lang="ja-JP" altLang="en-US" sz="1100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0ECCA144-657F-A74C-A175-F85E82D736F9}"/>
              </a:ext>
            </a:extLst>
          </p:cNvPr>
          <p:cNvSpPr txBox="1"/>
          <p:nvPr/>
        </p:nvSpPr>
        <p:spPr>
          <a:xfrm>
            <a:off x="3784600" y="5118100"/>
            <a:ext cx="370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チーム連絡網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C5CA3E7B-576E-FF4B-9C10-B8F1A14C4641}"/>
              </a:ext>
            </a:extLst>
          </p:cNvPr>
          <p:cNvSpPr txBox="1"/>
          <p:nvPr/>
        </p:nvSpPr>
        <p:spPr>
          <a:xfrm>
            <a:off x="7950200" y="5118100"/>
            <a:ext cx="360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配信は補助機能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CDD5B43-4725-C843-8066-FB7E602F3803}"/>
              </a:ext>
            </a:extLst>
          </p:cNvPr>
          <p:cNvSpPr txBox="1"/>
          <p:nvPr/>
        </p:nvSpPr>
        <p:spPr>
          <a:xfrm>
            <a:off x="635000" y="55245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0B1F3A"/>
                </a:solidFill>
                <a:latin typeface="Meiryo UI"/>
                <a:ea typeface="Meiryo UI"/>
              </a:rPr>
              <a:t>DAZN</a:t>
            </a:r>
            <a:endParaRPr lang="ja-JP" altLang="en-US" sz="1100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497C841-CE64-704A-A838-7C6D3EFE75CE}"/>
              </a:ext>
            </a:extLst>
          </p:cNvPr>
          <p:cNvSpPr txBox="1"/>
          <p:nvPr/>
        </p:nvSpPr>
        <p:spPr>
          <a:xfrm>
            <a:off x="3784600" y="5524500"/>
            <a:ext cx="370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プロ月額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4F8CBFC7-5B50-6242-8941-FFF0D3FA65B2}"/>
              </a:ext>
            </a:extLst>
          </p:cNvPr>
          <p:cNvSpPr txBox="1"/>
          <p:nvPr/>
        </p:nvSpPr>
        <p:spPr>
          <a:xfrm>
            <a:off x="7950200" y="5524500"/>
            <a:ext cx="360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アマチュア未対応</a:t>
            </a: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5428153D-CC38-9845-B2DC-D2B317BD8696}"/>
              </a:ext>
            </a:extLst>
          </p:cNvPr>
          <p:cNvSpPr/>
          <p:nvPr/>
        </p:nvSpPr>
        <p:spPr>
          <a:xfrm>
            <a:off x="457200" y="5842000"/>
            <a:ext cx="38100" cy="4064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8CDDD808-4F14-2C49-9290-6305ABCBC019}"/>
              </a:ext>
            </a:extLst>
          </p:cNvPr>
          <p:cNvSpPr txBox="1"/>
          <p:nvPr/>
        </p:nvSpPr>
        <p:spPr>
          <a:xfrm>
            <a:off x="635000" y="5930900"/>
            <a:ext cx="269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 b="1">
                <a:solidFill>
                  <a:srgbClr val="E63946"/>
                </a:solidFill>
                <a:latin typeface="Meiryo UI"/>
                <a:ea typeface="Meiryo UI"/>
              </a:rPr>
              <a:t>LIVE SPOtCH</a:t>
            </a:r>
            <a:endParaRPr lang="ja-JP" altLang="en-US" sz="11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DB456969-B665-5841-ADE3-6A9F7CEB1D46}"/>
              </a:ext>
            </a:extLst>
          </p:cNvPr>
          <p:cNvSpPr txBox="1"/>
          <p:nvPr/>
        </p:nvSpPr>
        <p:spPr>
          <a:xfrm>
            <a:off x="3784600" y="5930900"/>
            <a:ext cx="370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ローカルスポーツ専用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30D5188E-2E88-1E43-AE07-FAA61F8688F9}"/>
              </a:ext>
            </a:extLst>
          </p:cNvPr>
          <p:cNvSpPr txBox="1"/>
          <p:nvPr/>
        </p:nvSpPr>
        <p:spPr>
          <a:xfrm>
            <a:off x="7950200" y="5930900"/>
            <a:ext cx="360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唯一の選択肢</a:t>
            </a: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B91F14A9-22F9-4A41-8FE1-7876AB89D2BB}"/>
              </a:ext>
            </a:extLst>
          </p:cNvPr>
          <p:cNvSpPr txBox="1"/>
          <p:nvPr/>
        </p:nvSpPr>
        <p:spPr>
          <a:xfrm>
            <a:off x="457200" y="6324600"/>
            <a:ext cx="11277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E63946"/>
                </a:solidFill>
                <a:latin typeface="Meiryo UI"/>
                <a:ea typeface="Meiryo UI"/>
              </a:rPr>
              <a:t>国内に直接競合なし </a:t>
            </a:r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= </a:t>
            </a:r>
            <a:r>
              <a:rPr lang="ja-JP" altLang="en-US" sz="1400" b="1">
                <a:solidFill>
                  <a:srgbClr val="E63946"/>
                </a:solidFill>
                <a:latin typeface="Meiryo UI"/>
                <a:ea typeface="Meiryo UI"/>
              </a:rPr>
              <a:t>ブルーオーシャン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FDF4925A-4893-0045-8F27-5A6E64E8611C}"/>
              </a:ext>
            </a:extLst>
          </p:cNvPr>
          <p:cNvSpPr txBox="1"/>
          <p:nvPr/>
        </p:nvSpPr>
        <p:spPr>
          <a:xfrm>
            <a:off x="457200" y="6629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900" i="1">
                <a:solidFill>
                  <a:srgbClr val="8A95A3"/>
                </a:solidFill>
                <a:latin typeface="Meiryo UI"/>
                <a:ea typeface="Meiryo UI"/>
              </a:rPr>
              <a:t>※ 数値は文部科学省『学校基本調査 令和5年度』／ 中体連・高体連 登録者数 ／ 日本スポーツ少年団 登録状況 等の公開データに基づく当社推計</a:t>
            </a:r>
          </a:p>
        </p:txBody>
      </p:sp>
    </p:spTree>
    <p:extLst>
      <p:ext uri="{BB962C8B-B14F-4D97-AF65-F5344CB8AC3E}">
        <p14:creationId xmlns:p14="http://schemas.microsoft.com/office/powerpoint/2010/main" val="2446259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4DAB113E-9226-FA4A-B800-A916A4522A15}"/>
              </a:ext>
            </a:extLst>
          </p:cNvPr>
          <p:cNvSpPr/>
          <p:nvPr/>
        </p:nvSpPr>
        <p:spPr>
          <a:xfrm>
            <a:off x="5969000" y="4699000"/>
            <a:ext cx="57658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9155862F-4345-2449-832F-B9AFBA21AFD4}"/>
              </a:ext>
            </a:extLst>
          </p:cNvPr>
          <p:cNvSpPr/>
          <p:nvPr/>
        </p:nvSpPr>
        <p:spPr>
          <a:xfrm>
            <a:off x="5969000" y="3175000"/>
            <a:ext cx="57658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B1AF6644-5A09-494D-B6D2-3F7369E8FAE2}"/>
              </a:ext>
            </a:extLst>
          </p:cNvPr>
          <p:cNvSpPr/>
          <p:nvPr/>
        </p:nvSpPr>
        <p:spPr>
          <a:xfrm>
            <a:off x="5969000" y="1651000"/>
            <a:ext cx="57658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06D8791-EEAF-3641-BE33-6D7F6CA9EF5B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26F3EBC-E6E3-8346-A913-AF20A8D07C4C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詳細市場推計 </a:t>
            </a:r>
            <a:r>
              <a:rPr lang="en-US" altLang="ja-JP" sz="2600" b="1">
                <a:solidFill>
                  <a:srgbClr val="0B1F3A"/>
                </a:solidFill>
                <a:latin typeface="Meiryo UI"/>
                <a:ea typeface="Meiryo UI"/>
              </a:rPr>
              <a:t>— </a:t>
            </a:r>
            <a:r>
              <a:rPr lang="en" altLang="ja-JP" sz="2600" b="1">
                <a:solidFill>
                  <a:srgbClr val="0B1F3A"/>
                </a:solidFill>
                <a:latin typeface="Meiryo UI"/>
                <a:ea typeface="Meiryo UI"/>
              </a:rPr>
              <a:t>TAM / SAM / SOM</a:t>
            </a:r>
            <a:endParaRPr lang="ja-JP" altLang="en-US" sz="26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C4FDDB7B-5416-1440-BBCD-1C88C4875FB4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8A95A3"/>
                </a:solidFill>
                <a:latin typeface="Meiryo UI"/>
                <a:ea typeface="Meiryo UI"/>
              </a:rPr>
              <a:t>MARKET SIZING — BOTTOM-UP ESTIMATE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C01DAE70-B3AB-C94E-904A-F80057067DCB}"/>
              </a:ext>
            </a:extLst>
          </p:cNvPr>
          <p:cNvSpPr txBox="1"/>
          <p:nvPr/>
        </p:nvSpPr>
        <p:spPr>
          <a:xfrm>
            <a:off x="11684000" y="6629400"/>
            <a:ext cx="45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>
                <a:solidFill>
                  <a:srgbClr val="8A95A3"/>
                </a:solidFill>
                <a:latin typeface="Meiryo UI"/>
                <a:ea typeface="Meiryo UI"/>
              </a:rPr>
              <a:t>06</a:t>
            </a:r>
            <a:endParaRPr lang="ja-JP" altLang="en-US" sz="10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2E4442B6-40D3-AA4A-A1DE-3806D2FD52F8}"/>
              </a:ext>
            </a:extLst>
          </p:cNvPr>
          <p:cNvSpPr/>
          <p:nvPr/>
        </p:nvSpPr>
        <p:spPr>
          <a:xfrm>
            <a:off x="1016000" y="1905000"/>
            <a:ext cx="4318000" cy="4318000"/>
          </a:xfrm>
          <a:prstGeom prst="ellipse">
            <a:avLst/>
          </a:prstGeom>
          <a:solidFill>
            <a:srgbClr val="F5F7FA"/>
          </a:solidFill>
          <a:ln w="12700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BC330654-FE9E-1A4D-9C12-6331A3981C80}"/>
              </a:ext>
            </a:extLst>
          </p:cNvPr>
          <p:cNvSpPr/>
          <p:nvPr/>
        </p:nvSpPr>
        <p:spPr>
          <a:xfrm>
            <a:off x="1714500" y="2603500"/>
            <a:ext cx="2921000" cy="2921000"/>
          </a:xfrm>
          <a:prstGeom prst="ellipse">
            <a:avLst/>
          </a:prstGeom>
          <a:solidFill>
            <a:srgbClr val="FEF2F3"/>
          </a:solidFill>
          <a:ln w="12700" cap="flat" cmpd="sng" algn="ctr">
            <a:solidFill>
              <a:srgbClr val="F8D5D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 sz="2800"/>
          </a:p>
        </p:txBody>
      </p:sp>
      <p:sp>
        <p:nvSpPr>
          <p:cNvPr id="56" name="円/楕円 55">
            <a:extLst>
              <a:ext uri="{FF2B5EF4-FFF2-40B4-BE49-F238E27FC236}">
                <a16:creationId xmlns:a16="http://schemas.microsoft.com/office/drawing/2014/main" id="{5EFF83B8-EBD5-0B48-B93F-DF226D92BA02}"/>
              </a:ext>
            </a:extLst>
          </p:cNvPr>
          <p:cNvSpPr/>
          <p:nvPr/>
        </p:nvSpPr>
        <p:spPr>
          <a:xfrm>
            <a:off x="2413000" y="3302000"/>
            <a:ext cx="1524000" cy="15240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 sz="280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578E1323-E085-3F40-8380-FA68DEA755E3}"/>
              </a:ext>
            </a:extLst>
          </p:cNvPr>
          <p:cNvSpPr txBox="1"/>
          <p:nvPr/>
        </p:nvSpPr>
        <p:spPr>
          <a:xfrm>
            <a:off x="2264664" y="3683000"/>
            <a:ext cx="16764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ja-JP" sz="2000" b="1" dirty="0">
                <a:solidFill>
                  <a:srgbClr val="FFFFFF"/>
                </a:solidFill>
                <a:latin typeface="Meiryo UI"/>
                <a:ea typeface="Meiryo UI"/>
              </a:rPr>
              <a:t>SOM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40A74656-90FD-D446-A140-D434FDCF7999}"/>
              </a:ext>
            </a:extLst>
          </p:cNvPr>
          <p:cNvSpPr txBox="1"/>
          <p:nvPr/>
        </p:nvSpPr>
        <p:spPr>
          <a:xfrm>
            <a:off x="2137664" y="3987800"/>
            <a:ext cx="20955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ja-JP" altLang="en-US" sz="1600" b="1" dirty="0">
                <a:solidFill>
                  <a:srgbClr val="FFFFFF"/>
                </a:solidFill>
                <a:latin typeface="Meiryo UI"/>
                <a:ea typeface="Meiryo UI"/>
              </a:rPr>
              <a:t>25,000チーム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6BF86542-1BAD-FE43-A98B-023C6A669EDA}"/>
              </a:ext>
            </a:extLst>
          </p:cNvPr>
          <p:cNvSpPr txBox="1"/>
          <p:nvPr/>
        </p:nvSpPr>
        <p:spPr>
          <a:xfrm>
            <a:off x="2137664" y="2794000"/>
            <a:ext cx="20955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ja-JP" sz="1600" b="1">
                <a:solidFill>
                  <a:srgbClr val="E63946"/>
                </a:solidFill>
                <a:latin typeface="Meiryo UI"/>
                <a:ea typeface="Meiryo UI"/>
              </a:rPr>
              <a:t>SAM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E92177B1-4FC0-874A-9A5D-CB6C5B307C75}"/>
              </a:ext>
            </a:extLst>
          </p:cNvPr>
          <p:cNvSpPr txBox="1"/>
          <p:nvPr/>
        </p:nvSpPr>
        <p:spPr>
          <a:xfrm>
            <a:off x="2137664" y="2997200"/>
            <a:ext cx="20955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ja-JP" altLang="en-US" sz="1600">
                <a:solidFill>
                  <a:srgbClr val="E63946"/>
                </a:solidFill>
                <a:latin typeface="Meiryo UI"/>
                <a:ea typeface="Meiryo UI"/>
              </a:rPr>
              <a:t>190-380万人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E77B92B4-396C-114E-B856-E399D32EFE79}"/>
              </a:ext>
            </a:extLst>
          </p:cNvPr>
          <p:cNvSpPr txBox="1"/>
          <p:nvPr/>
        </p:nvSpPr>
        <p:spPr>
          <a:xfrm>
            <a:off x="2137664" y="2057400"/>
            <a:ext cx="20955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ja-JP" sz="1600" b="1">
                <a:solidFill>
                  <a:srgbClr val="0B1F3A"/>
                </a:solidFill>
                <a:latin typeface="Meiryo UI"/>
                <a:ea typeface="Meiryo UI"/>
              </a:rPr>
              <a:t>TAM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759F19E2-5305-AC40-A238-10249D133D2E}"/>
              </a:ext>
            </a:extLst>
          </p:cNvPr>
          <p:cNvSpPr txBox="1"/>
          <p:nvPr/>
        </p:nvSpPr>
        <p:spPr>
          <a:xfrm>
            <a:off x="2137664" y="2260600"/>
            <a:ext cx="20955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ja-JP" altLang="en-US" sz="1600">
                <a:solidFill>
                  <a:srgbClr val="0B1F3A"/>
                </a:solidFill>
                <a:latin typeface="Meiryo UI"/>
                <a:ea typeface="Meiryo UI"/>
              </a:rPr>
              <a:t>1,140-1,520万人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80784580-AE79-4B4B-A16A-8920D8802DD6}"/>
              </a:ext>
            </a:extLst>
          </p:cNvPr>
          <p:cNvSpPr/>
          <p:nvPr/>
        </p:nvSpPr>
        <p:spPr>
          <a:xfrm>
            <a:off x="5969000" y="1651000"/>
            <a:ext cx="50800" cy="1397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1F54043B-24EE-8744-9957-A38CC161F66B}"/>
              </a:ext>
            </a:extLst>
          </p:cNvPr>
          <p:cNvSpPr txBox="1"/>
          <p:nvPr/>
        </p:nvSpPr>
        <p:spPr>
          <a:xfrm>
            <a:off x="6172200" y="1803400"/>
            <a:ext cx="762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b="1">
                <a:solidFill>
                  <a:srgbClr val="0B1F3A"/>
                </a:solidFill>
                <a:latin typeface="Meiryo UI"/>
                <a:ea typeface="Meiryo UI"/>
              </a:rPr>
              <a:t>TAM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25DCDA9F-2EA5-DD4A-B268-234A066974F3}"/>
              </a:ext>
            </a:extLst>
          </p:cNvPr>
          <p:cNvSpPr txBox="1"/>
          <p:nvPr/>
        </p:nvSpPr>
        <p:spPr>
          <a:xfrm>
            <a:off x="6934200" y="1803400"/>
            <a:ext cx="457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全潜在視聴・配信層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2A7CF256-1255-E843-865C-A66FA63FB913}"/>
              </a:ext>
            </a:extLst>
          </p:cNvPr>
          <p:cNvSpPr txBox="1"/>
          <p:nvPr/>
        </p:nvSpPr>
        <p:spPr>
          <a:xfrm>
            <a:off x="6172200" y="2159000"/>
            <a:ext cx="5359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A3441"/>
                </a:solidFill>
                <a:latin typeface="Meiryo UI"/>
                <a:ea typeface="Meiryo UI"/>
              </a:rPr>
              <a:t>競技人口 380万 × 平均3-4名 = 1,140-1,520万人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21FD95B4-D503-5841-AA47-8D222DE4B885}"/>
              </a:ext>
            </a:extLst>
          </p:cNvPr>
          <p:cNvSpPr txBox="1"/>
          <p:nvPr/>
        </p:nvSpPr>
        <p:spPr>
          <a:xfrm>
            <a:off x="6172200" y="2514600"/>
            <a:ext cx="53594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両親・祖父母・近親者を含む試合視聴需要の総量。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C5D1CFD6-587A-8E49-A72D-7D8C9D2CB25F}"/>
              </a:ext>
            </a:extLst>
          </p:cNvPr>
          <p:cNvSpPr/>
          <p:nvPr/>
        </p:nvSpPr>
        <p:spPr>
          <a:xfrm>
            <a:off x="5969000" y="3175000"/>
            <a:ext cx="50800" cy="1397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567CE337-4ED0-E641-924C-7741E5F2CD4E}"/>
              </a:ext>
            </a:extLst>
          </p:cNvPr>
          <p:cNvSpPr txBox="1"/>
          <p:nvPr/>
        </p:nvSpPr>
        <p:spPr>
          <a:xfrm>
            <a:off x="6172200" y="3327400"/>
            <a:ext cx="762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b="1">
                <a:solidFill>
                  <a:srgbClr val="E63946"/>
                </a:solidFill>
                <a:latin typeface="Meiryo UI"/>
                <a:ea typeface="Meiryo UI"/>
              </a:rPr>
              <a:t>SAM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F46C62F8-9D97-9C4A-9CDB-4E174F4CCD79}"/>
              </a:ext>
            </a:extLst>
          </p:cNvPr>
          <p:cNvSpPr txBox="1"/>
          <p:nvPr/>
        </p:nvSpPr>
        <p:spPr>
          <a:xfrm>
            <a:off x="6934200" y="3327400"/>
            <a:ext cx="457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撮影可能保護者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594D8DB3-0F06-2B49-B4A2-106D5AAA6013}"/>
              </a:ext>
            </a:extLst>
          </p:cNvPr>
          <p:cNvSpPr txBox="1"/>
          <p:nvPr/>
        </p:nvSpPr>
        <p:spPr>
          <a:xfrm>
            <a:off x="6172200" y="3683000"/>
            <a:ext cx="5359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A3441"/>
                </a:solidFill>
                <a:latin typeface="Meiryo UI"/>
                <a:ea typeface="Meiryo UI"/>
              </a:rPr>
              <a:t>競技人口の保護者 1-2名 = 190-380万人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3698CC25-E681-B045-AC16-E22FA28E321A}"/>
              </a:ext>
            </a:extLst>
          </p:cNvPr>
          <p:cNvSpPr txBox="1"/>
          <p:nvPr/>
        </p:nvSpPr>
        <p:spPr>
          <a:xfrm>
            <a:off x="6172200" y="4038600"/>
            <a:ext cx="53594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スマホ撮影で実際に配信し得る保護者層。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C151D7E1-9B6C-9F47-9BFF-5F30590D782C}"/>
              </a:ext>
            </a:extLst>
          </p:cNvPr>
          <p:cNvSpPr/>
          <p:nvPr/>
        </p:nvSpPr>
        <p:spPr>
          <a:xfrm>
            <a:off x="5969000" y="4699000"/>
            <a:ext cx="50800" cy="1397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5F31BF40-9E06-2249-B910-3EABB0208D8E}"/>
              </a:ext>
            </a:extLst>
          </p:cNvPr>
          <p:cNvSpPr txBox="1"/>
          <p:nvPr/>
        </p:nvSpPr>
        <p:spPr>
          <a:xfrm>
            <a:off x="6172200" y="4851400"/>
            <a:ext cx="762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b="1">
                <a:solidFill>
                  <a:srgbClr val="E63946"/>
                </a:solidFill>
                <a:latin typeface="Meiryo UI"/>
                <a:ea typeface="Meiryo UI"/>
              </a:rPr>
              <a:t>SOM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AE27D4AC-D928-A347-BBEC-7A4EC0C8B805}"/>
              </a:ext>
            </a:extLst>
          </p:cNvPr>
          <p:cNvSpPr txBox="1"/>
          <p:nvPr/>
        </p:nvSpPr>
        <p:spPr>
          <a:xfrm>
            <a:off x="6934200" y="4851400"/>
            <a:ext cx="457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 dirty="0">
                <a:solidFill>
                  <a:srgbClr val="0B1F3A"/>
                </a:solidFill>
                <a:latin typeface="Meiryo UI"/>
                <a:ea typeface="Meiryo UI"/>
              </a:rPr>
              <a:t>獲得余地（中期SOM）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DDB9AE7F-6A1B-EB4C-B181-8050842AECD7}"/>
              </a:ext>
            </a:extLst>
          </p:cNvPr>
          <p:cNvSpPr txBox="1"/>
          <p:nvPr/>
        </p:nvSpPr>
        <p:spPr>
          <a:xfrm>
            <a:off x="6172200" y="5207000"/>
            <a:ext cx="53594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500" b="1" dirty="0">
                <a:solidFill>
                  <a:srgbClr val="2A3441"/>
                </a:solidFill>
                <a:latin typeface="Meiryo UI"/>
                <a:ea typeface="Meiryo UI"/>
              </a:rPr>
              <a:t>25,000チーム × ¥500/月 = 売上 1.5億円/年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87A759C2-9A3B-BB49-9CFD-05BEA4FE21FF}"/>
              </a:ext>
            </a:extLst>
          </p:cNvPr>
          <p:cNvSpPr txBox="1"/>
          <p:nvPr/>
        </p:nvSpPr>
        <p:spPr>
          <a:xfrm>
            <a:off x="6172200" y="5562600"/>
            <a:ext cx="53594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全国部活動・少年団 約25万チームの10%が中期の獲得余地。FY3 事業計画はこのうち有料13,000名・売上5,144万円を保守的に見込む。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D94C171E-10CD-544F-80AB-077B1C75DCD2}"/>
              </a:ext>
            </a:extLst>
          </p:cNvPr>
          <p:cNvSpPr txBox="1"/>
          <p:nvPr/>
        </p:nvSpPr>
        <p:spPr>
          <a:xfrm>
            <a:off x="457200" y="6248400"/>
            <a:ext cx="1143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TAM: Total Addressable Market</a:t>
            </a:r>
            <a:r>
              <a:rPr lang="ja-JP" altLang="en" sz="900">
                <a:solidFill>
                  <a:srgbClr val="5A6B7E"/>
                </a:solidFill>
                <a:latin typeface="Meiryo UI"/>
                <a:ea typeface="Meiryo UI"/>
              </a:rPr>
              <a:t>（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市場全体規模）／</a:t>
            </a:r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SAM: Serviceable Available Market</a:t>
            </a:r>
            <a:r>
              <a:rPr lang="ja-JP" altLang="en" sz="900">
                <a:solidFill>
                  <a:srgbClr val="5A6B7E"/>
                </a:solidFill>
                <a:latin typeface="Meiryo UI"/>
                <a:ea typeface="Meiryo UI"/>
              </a:rPr>
              <a:t>（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実現可能市場）／</a:t>
            </a:r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SOM: Serviceable Obtainable Market</a:t>
            </a:r>
            <a:r>
              <a:rPr lang="ja-JP" altLang="en" sz="900">
                <a:solidFill>
                  <a:srgbClr val="5A6B7E"/>
                </a:solidFill>
                <a:latin typeface="Meiryo UI"/>
                <a:ea typeface="Meiryo UI"/>
              </a:rPr>
              <a:t>（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獲得可能市場）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C1E9E01A-A03B-CA4C-852E-C1D6827EC409}"/>
              </a:ext>
            </a:extLst>
          </p:cNvPr>
          <p:cNvSpPr txBox="1"/>
          <p:nvPr/>
        </p:nvSpPr>
        <p:spPr>
          <a:xfrm>
            <a:off x="457200" y="6502400"/>
            <a:ext cx="1143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900" i="1">
                <a:solidFill>
                  <a:srgbClr val="8A95A3"/>
                </a:solidFill>
                <a:latin typeface="Meiryo UI"/>
                <a:ea typeface="Meiryo UI"/>
              </a:rPr>
              <a:t>※ 数値は文部科学省『学校基本調査 令和5年度』／ 中体連・高体連 登録者数 ／ 日本スポーツ少年団 登録状況 等の公開データに基づく当社推計</a:t>
            </a:r>
          </a:p>
        </p:txBody>
      </p:sp>
    </p:spTree>
    <p:extLst>
      <p:ext uri="{BB962C8B-B14F-4D97-AF65-F5344CB8AC3E}">
        <p14:creationId xmlns:p14="http://schemas.microsoft.com/office/powerpoint/2010/main" val="1459103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04D4347D-4892-434B-82B6-E7139D55DDB0}"/>
              </a:ext>
            </a:extLst>
          </p:cNvPr>
          <p:cNvSpPr/>
          <p:nvPr/>
        </p:nvSpPr>
        <p:spPr>
          <a:xfrm>
            <a:off x="8178800" y="1651000"/>
            <a:ext cx="3556000" cy="457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BE90CC1D-6202-8D4B-B207-2C6302578209}"/>
              </a:ext>
            </a:extLst>
          </p:cNvPr>
          <p:cNvSpPr/>
          <p:nvPr/>
        </p:nvSpPr>
        <p:spPr>
          <a:xfrm>
            <a:off x="4318000" y="1651000"/>
            <a:ext cx="3556000" cy="4572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7E9BBA64-1329-6840-AFD4-83B22589DFD9}"/>
              </a:ext>
            </a:extLst>
          </p:cNvPr>
          <p:cNvSpPr/>
          <p:nvPr/>
        </p:nvSpPr>
        <p:spPr>
          <a:xfrm>
            <a:off x="457200" y="1651000"/>
            <a:ext cx="3556000" cy="457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76D1015-E7CA-4742-83EF-89AEF949540D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8E96310-C740-DE40-8DB8-DEA1728A1263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料金プラン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4233C96-EA3F-C34B-B90B-EC482BA4A502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8A95A3"/>
                </a:solidFill>
                <a:latin typeface="Meiryo UI"/>
                <a:ea typeface="Meiryo UI"/>
              </a:rPr>
              <a:t>PRICING — FREEMIUM × TEAM SUBSCRIPTION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6C6202A-FC5E-4A4A-B8D5-3D65F6BFDE10}"/>
              </a:ext>
            </a:extLst>
          </p:cNvPr>
          <p:cNvSpPr txBox="1"/>
          <p:nvPr/>
        </p:nvSpPr>
        <p:spPr>
          <a:xfrm>
            <a:off x="11684000" y="6629400"/>
            <a:ext cx="45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>
                <a:solidFill>
                  <a:srgbClr val="8A95A3"/>
                </a:solidFill>
                <a:latin typeface="Meiryo UI"/>
                <a:ea typeface="Meiryo UI"/>
              </a:rPr>
              <a:t>07</a:t>
            </a:r>
            <a:endParaRPr lang="ja-JP" altLang="en-US" sz="10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EAE90D23-6E95-E44C-BFBA-745C9DDD6669}"/>
              </a:ext>
            </a:extLst>
          </p:cNvPr>
          <p:cNvSpPr/>
          <p:nvPr/>
        </p:nvSpPr>
        <p:spPr>
          <a:xfrm>
            <a:off x="457200" y="1651000"/>
            <a:ext cx="3556000" cy="508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6D9967B-AE9D-FD49-88E3-506EA7A97CC1}"/>
              </a:ext>
            </a:extLst>
          </p:cNvPr>
          <p:cNvSpPr txBox="1"/>
          <p:nvPr/>
        </p:nvSpPr>
        <p:spPr>
          <a:xfrm>
            <a:off x="711200" y="20320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無料プラン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44068BE9-527A-E34F-8E2C-C58196FE6C2F}"/>
              </a:ext>
            </a:extLst>
          </p:cNvPr>
          <p:cNvSpPr txBox="1"/>
          <p:nvPr/>
        </p:nvSpPr>
        <p:spPr>
          <a:xfrm>
            <a:off x="711200" y="2413000"/>
            <a:ext cx="30480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FREE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CC2626F2-089B-084F-B711-F876ADCFF364}"/>
              </a:ext>
            </a:extLst>
          </p:cNvPr>
          <p:cNvSpPr txBox="1"/>
          <p:nvPr/>
        </p:nvSpPr>
        <p:spPr>
          <a:xfrm>
            <a:off x="711200" y="2819400"/>
            <a:ext cx="304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3600" b="1">
                <a:solidFill>
                  <a:srgbClr val="0B1F3A"/>
                </a:solidFill>
                <a:latin typeface="Meiryo UI"/>
                <a:ea typeface="Meiryo UI"/>
              </a:rPr>
              <a:t>¥0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CED636A-FBD8-8E40-A288-BF3A5B091DAC}"/>
              </a:ext>
            </a:extLst>
          </p:cNvPr>
          <p:cNvSpPr txBox="1"/>
          <p:nvPr/>
        </p:nvSpPr>
        <p:spPr>
          <a:xfrm>
            <a:off x="711200" y="3479800"/>
            <a:ext cx="3048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視聴者向け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1EC298B1-EA06-854D-BE4C-060CE9EE0F3D}"/>
              </a:ext>
            </a:extLst>
          </p:cNvPr>
          <p:cNvSpPr/>
          <p:nvPr/>
        </p:nvSpPr>
        <p:spPr>
          <a:xfrm>
            <a:off x="838200" y="3784600"/>
            <a:ext cx="2794000" cy="12700"/>
          </a:xfrm>
          <a:prstGeom prst="rect">
            <a:avLst/>
          </a:prstGeom>
          <a:solidFill>
            <a:srgbClr val="E5E8E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72FF05F-55D5-C449-AF63-E73B7F9B6143}"/>
              </a:ext>
            </a:extLst>
          </p:cNvPr>
          <p:cNvSpPr txBox="1"/>
          <p:nvPr/>
        </p:nvSpPr>
        <p:spPr>
          <a:xfrm>
            <a:off x="736600" y="39878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AF051923-1EA5-554F-834E-0D02F8A59A93}"/>
              </a:ext>
            </a:extLst>
          </p:cNvPr>
          <p:cNvSpPr txBox="1"/>
          <p:nvPr/>
        </p:nvSpPr>
        <p:spPr>
          <a:xfrm>
            <a:off x="990600" y="39878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ライブ視聴（無制限）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AE7ED11-983B-3C49-B8AE-E43603B3277E}"/>
              </a:ext>
            </a:extLst>
          </p:cNvPr>
          <p:cNvSpPr txBox="1"/>
          <p:nvPr/>
        </p:nvSpPr>
        <p:spPr>
          <a:xfrm>
            <a:off x="736600" y="43180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3F4A012-B086-E044-B58D-FD72B29952E7}"/>
              </a:ext>
            </a:extLst>
          </p:cNvPr>
          <p:cNvSpPr txBox="1"/>
          <p:nvPr/>
        </p:nvSpPr>
        <p:spPr>
          <a:xfrm>
            <a:off x="990600" y="43180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1ヶ月以内のアーカイブ視聴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D57505DC-E2BB-2B4E-BB69-0EAB3917274B}"/>
              </a:ext>
            </a:extLst>
          </p:cNvPr>
          <p:cNvSpPr txBox="1"/>
          <p:nvPr/>
        </p:nvSpPr>
        <p:spPr>
          <a:xfrm>
            <a:off x="736600" y="46482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597FAB44-DD87-7D48-ACA9-26585F533F2C}"/>
              </a:ext>
            </a:extLst>
          </p:cNvPr>
          <p:cNvSpPr txBox="1"/>
          <p:nvPr/>
        </p:nvSpPr>
        <p:spPr>
          <a:xfrm>
            <a:off x="990600" y="46482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試合スコアの閲覧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9245BEB9-361A-9744-A6FF-41D2455BE79B}"/>
              </a:ext>
            </a:extLst>
          </p:cNvPr>
          <p:cNvSpPr txBox="1"/>
          <p:nvPr/>
        </p:nvSpPr>
        <p:spPr>
          <a:xfrm>
            <a:off x="736600" y="4978400"/>
            <a:ext cx="2032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0100B1E1-3F82-E34A-9359-51E29FFCF574}"/>
              </a:ext>
            </a:extLst>
          </p:cNvPr>
          <p:cNvSpPr txBox="1"/>
          <p:nvPr/>
        </p:nvSpPr>
        <p:spPr>
          <a:xfrm>
            <a:off x="990600" y="4978400"/>
            <a:ext cx="279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B4737DB-4A59-7247-B8B5-AD66C2CE5167}"/>
              </a:ext>
            </a:extLst>
          </p:cNvPr>
          <p:cNvSpPr/>
          <p:nvPr/>
        </p:nvSpPr>
        <p:spPr>
          <a:xfrm>
            <a:off x="5283200" y="1498600"/>
            <a:ext cx="1625600" cy="304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1000" b="1">
                <a:solidFill>
                  <a:srgbClr val="FFFFFF"/>
                </a:solidFill>
                <a:latin typeface="Meiryo UI"/>
                <a:ea typeface="Meiryo UI"/>
              </a:rPr>
              <a:t>RECOMMENDED</a:t>
            </a:r>
            <a:endParaRPr lang="ja-JP" altLang="en-US" sz="10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1933ED56-F7BB-A042-AC68-56B1796D8283}"/>
              </a:ext>
            </a:extLst>
          </p:cNvPr>
          <p:cNvSpPr txBox="1"/>
          <p:nvPr/>
        </p:nvSpPr>
        <p:spPr>
          <a:xfrm>
            <a:off x="4572000" y="20320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b="1">
                <a:solidFill>
                  <a:srgbClr val="FFFFFF"/>
                </a:solidFill>
                <a:latin typeface="Meiryo UI"/>
                <a:ea typeface="Meiryo UI"/>
              </a:rPr>
              <a:t>チームプラン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8FFE53BB-22D0-9045-827C-383C9650DE3F}"/>
              </a:ext>
            </a:extLst>
          </p:cNvPr>
          <p:cNvSpPr txBox="1"/>
          <p:nvPr/>
        </p:nvSpPr>
        <p:spPr>
          <a:xfrm>
            <a:off x="4572000" y="2413000"/>
            <a:ext cx="30480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900">
                <a:solidFill>
                  <a:srgbClr val="A8B3C4"/>
                </a:solidFill>
                <a:latin typeface="Meiryo UI"/>
                <a:ea typeface="Meiryo UI"/>
              </a:rPr>
              <a:t>TEAM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26EDBDCF-5929-C94F-B414-2DA1381D16E7}"/>
              </a:ext>
            </a:extLst>
          </p:cNvPr>
          <p:cNvSpPr txBox="1"/>
          <p:nvPr/>
        </p:nvSpPr>
        <p:spPr>
          <a:xfrm>
            <a:off x="4572000" y="2819400"/>
            <a:ext cx="304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3600" b="1">
                <a:solidFill>
                  <a:srgbClr val="FFFFFF"/>
                </a:solidFill>
                <a:latin typeface="Meiryo UI"/>
                <a:ea typeface="Meiryo UI"/>
              </a:rPr>
              <a:t>¥500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9B4CF11-8CAE-9144-8D06-E8D679839E1D}"/>
              </a:ext>
            </a:extLst>
          </p:cNvPr>
          <p:cNvSpPr txBox="1"/>
          <p:nvPr/>
        </p:nvSpPr>
        <p:spPr>
          <a:xfrm>
            <a:off x="4572000" y="3479800"/>
            <a:ext cx="3048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A8B3C4"/>
                </a:solidFill>
                <a:latin typeface="Meiryo UI"/>
                <a:ea typeface="Meiryo UI"/>
              </a:rPr>
              <a:t>/月（チーム代表向け）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FFCF786-9143-2F47-B3B4-755DBE55FB8E}"/>
              </a:ext>
            </a:extLst>
          </p:cNvPr>
          <p:cNvSpPr/>
          <p:nvPr/>
        </p:nvSpPr>
        <p:spPr>
          <a:xfrm>
            <a:off x="4699000" y="3784600"/>
            <a:ext cx="2794000" cy="12700"/>
          </a:xfrm>
          <a:prstGeom prst="rect">
            <a:avLst/>
          </a:prstGeom>
          <a:solidFill>
            <a:srgbClr val="3A4A5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B30BFD57-19F0-F946-92C5-1E4F6B1513BF}"/>
              </a:ext>
            </a:extLst>
          </p:cNvPr>
          <p:cNvSpPr txBox="1"/>
          <p:nvPr/>
        </p:nvSpPr>
        <p:spPr>
          <a:xfrm>
            <a:off x="4597400" y="39878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FFFFFF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0089B376-6EAD-1A4E-A574-553A65CC39FB}"/>
              </a:ext>
            </a:extLst>
          </p:cNvPr>
          <p:cNvSpPr txBox="1"/>
          <p:nvPr/>
        </p:nvSpPr>
        <p:spPr>
          <a:xfrm>
            <a:off x="4851400" y="39878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FFFFFF"/>
                </a:solidFill>
                <a:latin typeface="Meiryo UI"/>
                <a:ea typeface="Meiryo UI"/>
              </a:rPr>
              <a:t>配信者プランの全機能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75A537A1-055B-064C-9FDF-DB069F1D77A7}"/>
              </a:ext>
            </a:extLst>
          </p:cNvPr>
          <p:cNvSpPr txBox="1"/>
          <p:nvPr/>
        </p:nvSpPr>
        <p:spPr>
          <a:xfrm>
            <a:off x="4597400" y="43180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FFFFFF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1E080B51-E78D-AF4E-BB2D-DF48F7DCB503}"/>
              </a:ext>
            </a:extLst>
          </p:cNvPr>
          <p:cNvSpPr txBox="1"/>
          <p:nvPr/>
        </p:nvSpPr>
        <p:spPr>
          <a:xfrm>
            <a:off x="4851400" y="43180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FFFFFF"/>
                </a:solidFill>
                <a:latin typeface="Meiryo UI"/>
                <a:ea typeface="Meiryo UI"/>
              </a:rPr>
              <a:t>YouTube Live 同時配信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0FA56EE2-4998-E443-92B7-0D66D5BAC2A5}"/>
              </a:ext>
            </a:extLst>
          </p:cNvPr>
          <p:cNvSpPr txBox="1"/>
          <p:nvPr/>
        </p:nvSpPr>
        <p:spPr>
          <a:xfrm>
            <a:off x="4597400" y="46482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FFFFFF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1B8157A0-5C79-2F40-A05E-38AA11A9A55B}"/>
              </a:ext>
            </a:extLst>
          </p:cNvPr>
          <p:cNvSpPr txBox="1"/>
          <p:nvPr/>
        </p:nvSpPr>
        <p:spPr>
          <a:xfrm>
            <a:off x="4851400" y="46482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FFFFFF"/>
                </a:solidFill>
                <a:latin typeface="Meiryo UI"/>
                <a:ea typeface="Meiryo UI"/>
              </a:rPr>
              <a:t>YouTube アーカイブ自動保存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F55FE5D4-D95C-714B-B9A1-651B39F7391F}"/>
              </a:ext>
            </a:extLst>
          </p:cNvPr>
          <p:cNvSpPr txBox="1"/>
          <p:nvPr/>
        </p:nvSpPr>
        <p:spPr>
          <a:xfrm>
            <a:off x="4597400" y="49784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FFFFFF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3347F220-6748-494E-816E-99717B342250}"/>
              </a:ext>
            </a:extLst>
          </p:cNvPr>
          <p:cNvSpPr txBox="1"/>
          <p:nvPr/>
        </p:nvSpPr>
        <p:spPr>
          <a:xfrm>
            <a:off x="4851400" y="49784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FFFFFF"/>
                </a:solidFill>
                <a:latin typeface="Meiryo UI"/>
                <a:ea typeface="Meiryo UI"/>
              </a:rPr>
              <a:t>チーム管理・スケジュール管理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1801D23-2708-984A-B665-C38EEFD75855}"/>
              </a:ext>
            </a:extLst>
          </p:cNvPr>
          <p:cNvSpPr txBox="1"/>
          <p:nvPr/>
        </p:nvSpPr>
        <p:spPr>
          <a:xfrm>
            <a:off x="4597400" y="53086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FFFFFF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9B04AB46-3A87-CB4C-97B6-B7CEB6FC6E0C}"/>
              </a:ext>
            </a:extLst>
          </p:cNvPr>
          <p:cNvSpPr txBox="1"/>
          <p:nvPr/>
        </p:nvSpPr>
        <p:spPr>
          <a:xfrm>
            <a:off x="4851400" y="5308600"/>
            <a:ext cx="2794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FFFFFF"/>
                </a:solidFill>
                <a:latin typeface="Meiryo UI"/>
                <a:ea typeface="Meiryo UI"/>
              </a:rPr>
              <a:t>AIハイライト（開発中）/ Made for Kids 対応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65D14829-35FB-F345-83EF-7AA37F2BBE19}"/>
              </a:ext>
            </a:extLst>
          </p:cNvPr>
          <p:cNvSpPr/>
          <p:nvPr/>
        </p:nvSpPr>
        <p:spPr>
          <a:xfrm>
            <a:off x="8178800" y="1651000"/>
            <a:ext cx="3556000" cy="508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6E76F11E-CBC9-A246-AB8B-137417093743}"/>
              </a:ext>
            </a:extLst>
          </p:cNvPr>
          <p:cNvSpPr txBox="1"/>
          <p:nvPr/>
        </p:nvSpPr>
        <p:spPr>
          <a:xfrm>
            <a:off x="8432800" y="20320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配信者プラン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BE52EAD-F027-7D41-B1A0-71E3CDA559A2}"/>
              </a:ext>
            </a:extLst>
          </p:cNvPr>
          <p:cNvSpPr txBox="1"/>
          <p:nvPr/>
        </p:nvSpPr>
        <p:spPr>
          <a:xfrm>
            <a:off x="8432800" y="2413000"/>
            <a:ext cx="30480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BROADCASTER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4A31AF8-EC40-5D4B-B86D-3B2ADBBE7C6F}"/>
              </a:ext>
            </a:extLst>
          </p:cNvPr>
          <p:cNvSpPr txBox="1"/>
          <p:nvPr/>
        </p:nvSpPr>
        <p:spPr>
          <a:xfrm>
            <a:off x="8432800" y="2819400"/>
            <a:ext cx="304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3600" b="1">
                <a:solidFill>
                  <a:srgbClr val="0B1F3A"/>
                </a:solidFill>
                <a:latin typeface="Meiryo UI"/>
                <a:ea typeface="Meiryo UI"/>
              </a:rPr>
              <a:t>¥300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6619B1D1-E6AE-D246-83AA-29E44D5E9B63}"/>
              </a:ext>
            </a:extLst>
          </p:cNvPr>
          <p:cNvSpPr txBox="1"/>
          <p:nvPr/>
        </p:nvSpPr>
        <p:spPr>
          <a:xfrm>
            <a:off x="8432800" y="3479800"/>
            <a:ext cx="3048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/月（個人保護者向け）</a:t>
            </a: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16DB9538-9BFB-CB48-B647-87591B1F0F9B}"/>
              </a:ext>
            </a:extLst>
          </p:cNvPr>
          <p:cNvSpPr/>
          <p:nvPr/>
        </p:nvSpPr>
        <p:spPr>
          <a:xfrm>
            <a:off x="8559800" y="3784600"/>
            <a:ext cx="2794000" cy="12700"/>
          </a:xfrm>
          <a:prstGeom prst="rect">
            <a:avLst/>
          </a:prstGeom>
          <a:solidFill>
            <a:srgbClr val="E5E8E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00DF71BA-A5F0-E847-B2D6-B005EC69FE55}"/>
              </a:ext>
            </a:extLst>
          </p:cNvPr>
          <p:cNvSpPr txBox="1"/>
          <p:nvPr/>
        </p:nvSpPr>
        <p:spPr>
          <a:xfrm>
            <a:off x="8458200" y="39878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4248B15C-274D-244A-AD8C-C4191BE93DCB}"/>
              </a:ext>
            </a:extLst>
          </p:cNvPr>
          <p:cNvSpPr txBox="1"/>
          <p:nvPr/>
        </p:nvSpPr>
        <p:spPr>
          <a:xfrm>
            <a:off x="8712200" y="39878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ライブ配信機能（無制限）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35BF2953-3968-B24B-888F-907327190E9B}"/>
              </a:ext>
            </a:extLst>
          </p:cNvPr>
          <p:cNvSpPr txBox="1"/>
          <p:nvPr/>
        </p:nvSpPr>
        <p:spPr>
          <a:xfrm>
            <a:off x="8458200" y="43180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A1C3E24-2FCA-1B48-B634-974931A0A117}"/>
              </a:ext>
            </a:extLst>
          </p:cNvPr>
          <p:cNvSpPr txBox="1"/>
          <p:nvPr/>
        </p:nvSpPr>
        <p:spPr>
          <a:xfrm>
            <a:off x="8712200" y="43180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スコアボード常時表示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54A801F3-8073-154D-9D8D-CF316D8EB3C9}"/>
              </a:ext>
            </a:extLst>
          </p:cNvPr>
          <p:cNvSpPr txBox="1"/>
          <p:nvPr/>
        </p:nvSpPr>
        <p:spPr>
          <a:xfrm>
            <a:off x="8458200" y="46482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9E494D2A-4923-DF4F-A94A-FD54F8CAF3DB}"/>
              </a:ext>
            </a:extLst>
          </p:cNvPr>
          <p:cNvSpPr txBox="1"/>
          <p:nvPr/>
        </p:nvSpPr>
        <p:spPr>
          <a:xfrm>
            <a:off x="8712200" y="46482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LINE共有・QRコード・限定公開URL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7864589-F5FC-0C48-9B8C-7E1904D8BB07}"/>
              </a:ext>
            </a:extLst>
          </p:cNvPr>
          <p:cNvSpPr txBox="1"/>
          <p:nvPr/>
        </p:nvSpPr>
        <p:spPr>
          <a:xfrm>
            <a:off x="8458200" y="4978400"/>
            <a:ext cx="20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5CCBBF97-D6ED-0041-ABF2-13C24FBB074D}"/>
              </a:ext>
            </a:extLst>
          </p:cNvPr>
          <p:cNvSpPr txBox="1"/>
          <p:nvPr/>
        </p:nvSpPr>
        <p:spPr>
          <a:xfrm>
            <a:off x="8712200" y="4978400"/>
            <a:ext cx="279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初回10分間無料お試し（※アーカイブなし）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4D95535C-293D-A044-BD0E-661AE8C9012C}"/>
              </a:ext>
            </a:extLst>
          </p:cNvPr>
          <p:cNvSpPr txBox="1"/>
          <p:nvPr/>
        </p:nvSpPr>
        <p:spPr>
          <a:xfrm>
            <a:off x="457200" y="6502400"/>
            <a:ext cx="1143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アーカイブ課金 ¥100/視聴：1ヶ月経過後のアーカイブはチームプラン配信のみ視聴可能（容量ベース従量課金）</a:t>
            </a:r>
          </a:p>
        </p:txBody>
      </p:sp>
    </p:spTree>
    <p:extLst>
      <p:ext uri="{BB962C8B-B14F-4D97-AF65-F5344CB8AC3E}">
        <p14:creationId xmlns:p14="http://schemas.microsoft.com/office/powerpoint/2010/main" val="389607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92A4CC89-8C4F-C046-BE76-3E757DDAD813}"/>
              </a:ext>
            </a:extLst>
          </p:cNvPr>
          <p:cNvSpPr/>
          <p:nvPr/>
        </p:nvSpPr>
        <p:spPr>
          <a:xfrm>
            <a:off x="711200" y="3145536"/>
            <a:ext cx="5283200" cy="6350"/>
          </a:xfrm>
          <a:prstGeom prst="rect">
            <a:avLst/>
          </a:prstGeom>
          <a:solidFill>
            <a:srgbClr val="E5E8E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A041E054-1352-6348-B12F-EF4655848D4F}"/>
              </a:ext>
            </a:extLst>
          </p:cNvPr>
          <p:cNvSpPr/>
          <p:nvPr/>
        </p:nvSpPr>
        <p:spPr>
          <a:xfrm>
            <a:off x="711200" y="3931920"/>
            <a:ext cx="5283200" cy="6350"/>
          </a:xfrm>
          <a:prstGeom prst="rect">
            <a:avLst/>
          </a:prstGeom>
          <a:solidFill>
            <a:srgbClr val="E5E8E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F9353298-C989-5647-B171-DA42C5F49716}"/>
              </a:ext>
            </a:extLst>
          </p:cNvPr>
          <p:cNvSpPr/>
          <p:nvPr/>
        </p:nvSpPr>
        <p:spPr>
          <a:xfrm>
            <a:off x="711200" y="4727448"/>
            <a:ext cx="5283200" cy="6350"/>
          </a:xfrm>
          <a:prstGeom prst="rect">
            <a:avLst/>
          </a:prstGeom>
          <a:solidFill>
            <a:srgbClr val="E5E8E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4621ECD-B338-E046-AA71-D463DF7B5663}"/>
              </a:ext>
            </a:extLst>
          </p:cNvPr>
          <p:cNvSpPr/>
          <p:nvPr/>
        </p:nvSpPr>
        <p:spPr>
          <a:xfrm>
            <a:off x="711200" y="5511800"/>
            <a:ext cx="5283200" cy="6350"/>
          </a:xfrm>
          <a:prstGeom prst="rect">
            <a:avLst/>
          </a:prstGeom>
          <a:solidFill>
            <a:srgbClr val="E5E8E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0F1D671-4F12-9844-991E-D0B5DEF65389}"/>
              </a:ext>
            </a:extLst>
          </p:cNvPr>
          <p:cNvSpPr/>
          <p:nvPr/>
        </p:nvSpPr>
        <p:spPr>
          <a:xfrm>
            <a:off x="6299200" y="3175000"/>
            <a:ext cx="5435600" cy="2794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4466C39-A0B9-8F41-826F-0924C11A6F9C}"/>
              </a:ext>
            </a:extLst>
          </p:cNvPr>
          <p:cNvSpPr/>
          <p:nvPr/>
        </p:nvSpPr>
        <p:spPr>
          <a:xfrm>
            <a:off x="457200" y="3175000"/>
            <a:ext cx="5588000" cy="27940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1CCC866-A284-B54B-BD8E-752B469D6769}"/>
              </a:ext>
            </a:extLst>
          </p:cNvPr>
          <p:cNvSpPr/>
          <p:nvPr/>
        </p:nvSpPr>
        <p:spPr>
          <a:xfrm>
            <a:off x="8077200" y="1397000"/>
            <a:ext cx="363220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1253908-D01E-D74A-B250-4A8335CCBB1B}"/>
              </a:ext>
            </a:extLst>
          </p:cNvPr>
          <p:cNvSpPr/>
          <p:nvPr/>
        </p:nvSpPr>
        <p:spPr>
          <a:xfrm>
            <a:off x="4267200" y="1397000"/>
            <a:ext cx="363220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00E585-67CE-5846-B8F4-09962528281A}"/>
              </a:ext>
            </a:extLst>
          </p:cNvPr>
          <p:cNvSpPr/>
          <p:nvPr/>
        </p:nvSpPr>
        <p:spPr>
          <a:xfrm>
            <a:off x="457200" y="1397000"/>
            <a:ext cx="363220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93B8416-3D31-9140-B618-AE6DAAAD41B6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F245F09-1A90-9246-8DB8-22B6931A6AA7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収支計画 </a:t>
            </a:r>
            <a:r>
              <a:rPr lang="en-US" altLang="ja-JP" sz="2600" b="1">
                <a:solidFill>
                  <a:srgbClr val="0B1F3A"/>
                </a:solidFill>
                <a:latin typeface="Meiryo UI"/>
                <a:ea typeface="Meiryo UI"/>
              </a:rPr>
              <a:t>— 3</a:t>
            </a:r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年見通し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17A88AD-73FF-A448-A0AA-2209BA2C3334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8A95A3"/>
                </a:solidFill>
                <a:latin typeface="Meiryo UI"/>
                <a:ea typeface="Meiryo UI"/>
              </a:rPr>
              <a:t>FINANCIAL PROJECTION (FY1-3)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7621F26-5477-4F45-A876-D3DFE8B4E42A}"/>
              </a:ext>
            </a:extLst>
          </p:cNvPr>
          <p:cNvSpPr txBox="1"/>
          <p:nvPr/>
        </p:nvSpPr>
        <p:spPr>
          <a:xfrm>
            <a:off x="11430000" y="62738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>
                <a:solidFill>
                  <a:srgbClr val="8A95A3"/>
                </a:solidFill>
                <a:latin typeface="Meiryo UI"/>
                <a:ea typeface="Meiryo UI"/>
              </a:rPr>
              <a:t>08</a:t>
            </a:r>
            <a:endParaRPr lang="ja-JP" altLang="en-US" sz="10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7DECB5E-F8A3-834A-879D-676496B79A62}"/>
              </a:ext>
            </a:extLst>
          </p:cNvPr>
          <p:cNvSpPr/>
          <p:nvPr/>
        </p:nvSpPr>
        <p:spPr>
          <a:xfrm>
            <a:off x="457200" y="1397000"/>
            <a:ext cx="3632200" cy="381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01C8681-446C-3F40-9190-33451FA4C18A}"/>
              </a:ext>
            </a:extLst>
          </p:cNvPr>
          <p:cNvSpPr txBox="1"/>
          <p:nvPr/>
        </p:nvSpPr>
        <p:spPr>
          <a:xfrm>
            <a:off x="660400" y="1574800"/>
            <a:ext cx="3225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3</a:t>
            </a:r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年目 売上目標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90F725E-222B-6040-B8D2-DF579617B6E1}"/>
              </a:ext>
            </a:extLst>
          </p:cNvPr>
          <p:cNvSpPr txBox="1"/>
          <p:nvPr/>
        </p:nvSpPr>
        <p:spPr>
          <a:xfrm>
            <a:off x="660400" y="1803400"/>
            <a:ext cx="26162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3200" b="1" dirty="0">
                <a:solidFill>
                  <a:srgbClr val="E63946"/>
                </a:solidFill>
                <a:latin typeface="Meiryo UI"/>
                <a:ea typeface="Meiryo UI"/>
              </a:rPr>
              <a:t>5,144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8E975F0-DFFF-914B-AB17-0B69A7C02699}"/>
              </a:ext>
            </a:extLst>
          </p:cNvPr>
          <p:cNvSpPr txBox="1"/>
          <p:nvPr/>
        </p:nvSpPr>
        <p:spPr>
          <a:xfrm>
            <a:off x="3200400" y="2057400"/>
            <a:ext cx="762000" cy="292388"/>
          </a:xfrm>
          <a:prstGeom prst="rect">
            <a:avLst/>
          </a:prstGeom>
          <a:noFill/>
        </p:spPr>
        <p:txBody>
          <a:bodyPr vertOverflow="overflow" vert="horz" rtlCol="0">
            <a:spAutoFit/>
          </a:bodyPr>
          <a:lstStyle/>
          <a:p>
            <a:pPr algn="l"/>
            <a:r>
              <a:rPr lang="ja-JP" altLang="en-US" sz="1300" dirty="0">
                <a:solidFill>
                  <a:srgbClr val="0B1F3A"/>
                </a:solidFill>
                <a:latin typeface="Meiryo UI"/>
                <a:ea typeface="Meiryo UI"/>
              </a:rPr>
              <a:t>万円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305D857-EB88-D842-9B5F-5999266418FD}"/>
              </a:ext>
            </a:extLst>
          </p:cNvPr>
          <p:cNvSpPr/>
          <p:nvPr/>
        </p:nvSpPr>
        <p:spPr>
          <a:xfrm>
            <a:off x="4267200" y="1397000"/>
            <a:ext cx="3632200" cy="381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D1D4B0E-B3B4-0A48-8409-75DF58A3D561}"/>
              </a:ext>
            </a:extLst>
          </p:cNvPr>
          <p:cNvSpPr txBox="1"/>
          <p:nvPr/>
        </p:nvSpPr>
        <p:spPr>
          <a:xfrm>
            <a:off x="4470400" y="1574800"/>
            <a:ext cx="3225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3年目 有料会員</a:t>
            </a:r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/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F5416A7-81F1-DC4D-927E-86672EABC3B4}"/>
              </a:ext>
            </a:extLst>
          </p:cNvPr>
          <p:cNvSpPr txBox="1"/>
          <p:nvPr/>
        </p:nvSpPr>
        <p:spPr>
          <a:xfrm>
            <a:off x="4470400" y="1803400"/>
            <a:ext cx="2616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3200" b="1">
                <a:solidFill>
                  <a:srgbClr val="E63946"/>
                </a:solidFill>
                <a:latin typeface="Meiryo UI"/>
                <a:ea typeface="Meiryo UI"/>
              </a:rPr>
              <a:t>13,000</a:t>
            </a:r>
            <a:endParaRPr lang="ja-JP" altLang="en-US" sz="32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6A6CB85-0326-4D40-A877-76065458C086}"/>
              </a:ext>
            </a:extLst>
          </p:cNvPr>
          <p:cNvSpPr txBox="1"/>
          <p:nvPr/>
        </p:nvSpPr>
        <p:spPr>
          <a:xfrm>
            <a:off x="7010400" y="20574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>
                <a:solidFill>
                  <a:srgbClr val="0B1F3A"/>
                </a:solidFill>
                <a:latin typeface="Meiryo UI"/>
                <a:ea typeface="Meiryo UI"/>
              </a:rPr>
              <a:t>人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1E09080-0868-4446-9C95-9FD8F60B684A}"/>
              </a:ext>
            </a:extLst>
          </p:cNvPr>
          <p:cNvSpPr/>
          <p:nvPr/>
        </p:nvSpPr>
        <p:spPr>
          <a:xfrm>
            <a:off x="8077200" y="1397000"/>
            <a:ext cx="3632200" cy="381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B44CE90-3EC2-B940-A845-95C61F5D362D}"/>
              </a:ext>
            </a:extLst>
          </p:cNvPr>
          <p:cNvSpPr txBox="1"/>
          <p:nvPr/>
        </p:nvSpPr>
        <p:spPr>
          <a:xfrm>
            <a:off x="8280400" y="1574800"/>
            <a:ext cx="3225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3</a:t>
            </a:r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年目 営業利益率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3DF1449-6EED-654B-9448-D73C3B1FD5D5}"/>
              </a:ext>
            </a:extLst>
          </p:cNvPr>
          <p:cNvSpPr txBox="1"/>
          <p:nvPr/>
        </p:nvSpPr>
        <p:spPr>
          <a:xfrm>
            <a:off x="8280400" y="1803400"/>
            <a:ext cx="2616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3200" b="1">
                <a:solidFill>
                  <a:srgbClr val="E63946"/>
                </a:solidFill>
                <a:latin typeface="Meiryo UI"/>
                <a:ea typeface="Meiryo UI"/>
              </a:rPr>
              <a:t>56</a:t>
            </a:r>
            <a:endParaRPr lang="ja-JP" altLang="en-US" sz="32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4755647-B9C1-2B4B-9207-59E18F111796}"/>
              </a:ext>
            </a:extLst>
          </p:cNvPr>
          <p:cNvSpPr txBox="1"/>
          <p:nvPr/>
        </p:nvSpPr>
        <p:spPr>
          <a:xfrm>
            <a:off x="10820400" y="20574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300">
                <a:solidFill>
                  <a:srgbClr val="0B1F3A"/>
                </a:solidFill>
                <a:latin typeface="Meiryo UI"/>
                <a:ea typeface="Meiryo UI"/>
              </a:rPr>
              <a:t>%</a:t>
            </a:r>
            <a:endParaRPr lang="ja-JP" altLang="en-US" sz="1300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ED76502-CB2E-7E49-BA0D-C751BD01D637}"/>
              </a:ext>
            </a:extLst>
          </p:cNvPr>
          <p:cNvSpPr txBox="1"/>
          <p:nvPr/>
        </p:nvSpPr>
        <p:spPr>
          <a:xfrm>
            <a:off x="457200" y="279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売上推移（百万円）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1AFBC34-851B-CF48-887C-EFD70F2DC8BD}"/>
              </a:ext>
            </a:extLst>
          </p:cNvPr>
          <p:cNvSpPr/>
          <p:nvPr/>
        </p:nvSpPr>
        <p:spPr>
          <a:xfrm>
            <a:off x="965200" y="5454591"/>
            <a:ext cx="889000" cy="5924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25DD874-E9CC-9B48-A398-EE9AF2219047}"/>
              </a:ext>
            </a:extLst>
          </p:cNvPr>
          <p:cNvSpPr txBox="1"/>
          <p:nvPr/>
        </p:nvSpPr>
        <p:spPr>
          <a:xfrm>
            <a:off x="838200" y="5125407"/>
            <a:ext cx="114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 dirty="0">
                <a:solidFill>
                  <a:srgbClr val="0B1F3A"/>
                </a:solidFill>
                <a:latin typeface="Meiryo UI"/>
                <a:ea typeface="Meiryo UI"/>
              </a:rPr>
              <a:t>1.5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1C789A6-6508-9B43-8B16-B399E68FB69E}"/>
              </a:ext>
            </a:extLst>
          </p:cNvPr>
          <p:cNvSpPr txBox="1"/>
          <p:nvPr/>
        </p:nvSpPr>
        <p:spPr>
          <a:xfrm>
            <a:off x="838200" y="5588000"/>
            <a:ext cx="114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5A6B7E"/>
                </a:solidFill>
                <a:latin typeface="Meiryo UI"/>
                <a:ea typeface="Meiryo UI"/>
              </a:rPr>
              <a:t>FY1</a:t>
            </a:r>
            <a:endParaRPr lang="ja-JP" altLang="en-US" sz="1100">
              <a:solidFill>
                <a:srgbClr val="5A6B7E"/>
              </a:solidFill>
              <a:latin typeface="Meiryo UI"/>
              <a:ea typeface="Meiryo UI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7404F5D-65E1-9345-B7FF-FF0E57A9D4EC}"/>
              </a:ext>
            </a:extLst>
          </p:cNvPr>
          <p:cNvSpPr/>
          <p:nvPr/>
        </p:nvSpPr>
        <p:spPr>
          <a:xfrm>
            <a:off x="2616200" y="5004365"/>
            <a:ext cx="889000" cy="509466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77CC487-DC4E-064C-9C1A-0BB6BCB6560D}"/>
              </a:ext>
            </a:extLst>
          </p:cNvPr>
          <p:cNvSpPr txBox="1"/>
          <p:nvPr/>
        </p:nvSpPr>
        <p:spPr>
          <a:xfrm>
            <a:off x="2489200" y="4675181"/>
            <a:ext cx="114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 dirty="0">
                <a:solidFill>
                  <a:srgbClr val="0B1F3A"/>
                </a:solidFill>
                <a:latin typeface="Meiryo UI"/>
                <a:ea typeface="Meiryo UI"/>
              </a:rPr>
              <a:t>12.9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C5A7F8E-EB9D-D04B-97DE-F94F3074289C}"/>
              </a:ext>
            </a:extLst>
          </p:cNvPr>
          <p:cNvSpPr txBox="1"/>
          <p:nvPr/>
        </p:nvSpPr>
        <p:spPr>
          <a:xfrm>
            <a:off x="2489200" y="5588000"/>
            <a:ext cx="114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5A6B7E"/>
                </a:solidFill>
                <a:latin typeface="Meiryo UI"/>
                <a:ea typeface="Meiryo UI"/>
              </a:rPr>
              <a:t>FY2</a:t>
            </a:r>
            <a:endParaRPr lang="ja-JP" altLang="en-US" sz="1100">
              <a:solidFill>
                <a:srgbClr val="5A6B7E"/>
              </a:solidFill>
              <a:latin typeface="Meiryo UI"/>
              <a:ea typeface="Meiryo UI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3FFEBFE-9EE6-D14E-9EC2-D0C738DA491D}"/>
              </a:ext>
            </a:extLst>
          </p:cNvPr>
          <p:cNvSpPr/>
          <p:nvPr/>
        </p:nvSpPr>
        <p:spPr>
          <a:xfrm>
            <a:off x="4267200" y="3479800"/>
            <a:ext cx="889000" cy="2032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BB38767-00D0-3B4E-A38B-8E9319DDB118}"/>
              </a:ext>
            </a:extLst>
          </p:cNvPr>
          <p:cNvSpPr txBox="1"/>
          <p:nvPr/>
        </p:nvSpPr>
        <p:spPr>
          <a:xfrm>
            <a:off x="4140200" y="3149600"/>
            <a:ext cx="114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 dirty="0">
                <a:solidFill>
                  <a:srgbClr val="E63946"/>
                </a:solidFill>
                <a:latin typeface="Meiryo UI"/>
                <a:ea typeface="Meiryo UI"/>
              </a:rPr>
              <a:t>51.4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2B15C1C-6147-7347-9458-069D8D77EA16}"/>
              </a:ext>
            </a:extLst>
          </p:cNvPr>
          <p:cNvSpPr txBox="1"/>
          <p:nvPr/>
        </p:nvSpPr>
        <p:spPr>
          <a:xfrm>
            <a:off x="4140200" y="5588000"/>
            <a:ext cx="114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5A6B7E"/>
                </a:solidFill>
                <a:latin typeface="Meiryo UI"/>
                <a:ea typeface="Meiryo UI"/>
              </a:rPr>
              <a:t>FY3</a:t>
            </a:r>
            <a:endParaRPr lang="ja-JP" altLang="en-US" sz="1100">
              <a:solidFill>
                <a:srgbClr val="5A6B7E"/>
              </a:solidFill>
              <a:latin typeface="Meiryo UI"/>
              <a:ea typeface="Meiryo UI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CE0FBA1-D74D-164B-BD8B-6024042C0380}"/>
              </a:ext>
            </a:extLst>
          </p:cNvPr>
          <p:cNvSpPr txBox="1"/>
          <p:nvPr/>
        </p:nvSpPr>
        <p:spPr>
          <a:xfrm>
            <a:off x="6299200" y="279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主要前提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4005E53-5A15-E948-8F74-B360039022EC}"/>
              </a:ext>
            </a:extLst>
          </p:cNvPr>
          <p:cNvSpPr txBox="1"/>
          <p:nvPr/>
        </p:nvSpPr>
        <p:spPr>
          <a:xfrm>
            <a:off x="6553200" y="33528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 b="1">
                <a:solidFill>
                  <a:srgbClr val="8A95A3"/>
                </a:solidFill>
                <a:latin typeface="Meiryo UI"/>
                <a:ea typeface="Meiryo UI"/>
              </a:rPr>
              <a:t>項目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9282B02-1DEE-2247-A4B1-DDEF9A8685ED}"/>
              </a:ext>
            </a:extLst>
          </p:cNvPr>
          <p:cNvSpPr txBox="1"/>
          <p:nvPr/>
        </p:nvSpPr>
        <p:spPr>
          <a:xfrm>
            <a:off x="8204200" y="3352800"/>
            <a:ext cx="9525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000" b="1" dirty="0">
                <a:solidFill>
                  <a:srgbClr val="8A95A3"/>
                </a:solidFill>
                <a:latin typeface="Meiryo UI"/>
                <a:ea typeface="Meiryo UI"/>
              </a:rPr>
              <a:t>FY1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03F6DAD-F3F8-2D44-BA3B-663FB1054D1C}"/>
              </a:ext>
            </a:extLst>
          </p:cNvPr>
          <p:cNvSpPr txBox="1"/>
          <p:nvPr/>
        </p:nvSpPr>
        <p:spPr>
          <a:xfrm>
            <a:off x="9156700" y="3352800"/>
            <a:ext cx="9525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000" b="1" dirty="0">
                <a:solidFill>
                  <a:srgbClr val="8A95A3"/>
                </a:solidFill>
                <a:latin typeface="Meiryo UI"/>
                <a:ea typeface="Meiryo UI"/>
              </a:rPr>
              <a:t>FY2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13CD4A4-14A0-9847-AC56-3C12C864B54E}"/>
              </a:ext>
            </a:extLst>
          </p:cNvPr>
          <p:cNvSpPr txBox="1"/>
          <p:nvPr/>
        </p:nvSpPr>
        <p:spPr>
          <a:xfrm>
            <a:off x="10109200" y="3352800"/>
            <a:ext cx="9525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000" b="1" dirty="0">
                <a:solidFill>
                  <a:srgbClr val="8A95A3"/>
                </a:solidFill>
                <a:latin typeface="Meiryo UI"/>
                <a:ea typeface="Meiryo UI"/>
              </a:rPr>
              <a:t>FY3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ADE916A-E75B-4F49-8ADE-A359C841B27F}"/>
              </a:ext>
            </a:extLst>
          </p:cNvPr>
          <p:cNvSpPr/>
          <p:nvPr/>
        </p:nvSpPr>
        <p:spPr>
          <a:xfrm>
            <a:off x="6553200" y="3657600"/>
            <a:ext cx="4927600" cy="12700"/>
          </a:xfrm>
          <a:prstGeom prst="rect">
            <a:avLst/>
          </a:prstGeom>
          <a:solidFill>
            <a:srgbClr val="E5E8E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2F2943B-B1FD-6B4E-9F92-14737EF9CD86}"/>
              </a:ext>
            </a:extLst>
          </p:cNvPr>
          <p:cNvSpPr txBox="1"/>
          <p:nvPr/>
        </p:nvSpPr>
        <p:spPr>
          <a:xfrm>
            <a:off x="6553200" y="3810000"/>
            <a:ext cx="165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有料会員（期末）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6DA426A-D287-2844-BA0E-2486EAC99B64}"/>
              </a:ext>
            </a:extLst>
          </p:cNvPr>
          <p:cNvSpPr txBox="1"/>
          <p:nvPr/>
        </p:nvSpPr>
        <p:spPr>
          <a:xfrm>
            <a:off x="8204200" y="3810000"/>
            <a:ext cx="9525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dirty="0">
                <a:solidFill>
                  <a:srgbClr val="2A3441"/>
                </a:solidFill>
                <a:latin typeface="Meiryo UI"/>
                <a:ea typeface="Meiryo UI"/>
              </a:rPr>
              <a:t>1,000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EF077AE-CFA9-214A-AB27-293F9E9F29FC}"/>
              </a:ext>
            </a:extLst>
          </p:cNvPr>
          <p:cNvSpPr txBox="1"/>
          <p:nvPr/>
        </p:nvSpPr>
        <p:spPr>
          <a:xfrm>
            <a:off x="9156700" y="3810000"/>
            <a:ext cx="9525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dirty="0">
                <a:solidFill>
                  <a:srgbClr val="2A3441"/>
                </a:solidFill>
                <a:latin typeface="Meiryo UI"/>
                <a:ea typeface="Meiryo UI"/>
              </a:rPr>
              <a:t>4,550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C474E88-F9F1-F248-AA9A-460EBDF46FEE}"/>
              </a:ext>
            </a:extLst>
          </p:cNvPr>
          <p:cNvSpPr txBox="1"/>
          <p:nvPr/>
        </p:nvSpPr>
        <p:spPr>
          <a:xfrm>
            <a:off x="10109200" y="3810000"/>
            <a:ext cx="9525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b="1" dirty="0">
                <a:solidFill>
                  <a:srgbClr val="E63946"/>
                </a:solidFill>
                <a:latin typeface="Meiryo UI"/>
                <a:ea typeface="Meiryo UI"/>
              </a:rPr>
              <a:t>13,000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4F9368F-2109-6D44-ADF9-5100DB78C457}"/>
              </a:ext>
            </a:extLst>
          </p:cNvPr>
          <p:cNvSpPr txBox="1"/>
          <p:nvPr/>
        </p:nvSpPr>
        <p:spPr>
          <a:xfrm>
            <a:off x="6553200" y="42164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>ARPU（加重平均）</a:t>
            </a:r>
            <a:r>
              <a:rPr lang="ja-JP" altLang="en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419C2F7F-3960-F044-9A88-B837238BE8F2}"/>
              </a:ext>
            </a:extLst>
          </p:cNvPr>
          <p:cNvSpPr txBox="1"/>
          <p:nvPr/>
        </p:nvSpPr>
        <p:spPr>
          <a:xfrm>
            <a:off x="8204200" y="4216400"/>
            <a:ext cx="95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dirty="0">
                <a:solidFill>
                  <a:srgbClr val="2A3441"/>
                </a:solidFill>
                <a:latin typeface="Meiryo UI"/>
                <a:ea typeface="Meiryo UI"/>
              </a:rPr>
              <a:t>¥350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A0E957A-509B-7345-A534-70FC6AD3E653}"/>
              </a:ext>
            </a:extLst>
          </p:cNvPr>
          <p:cNvSpPr txBox="1"/>
          <p:nvPr/>
        </p:nvSpPr>
        <p:spPr>
          <a:xfrm>
            <a:off x="9156700" y="4216400"/>
            <a:ext cx="95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dirty="0">
                <a:solidFill>
                  <a:srgbClr val="2A3441"/>
                </a:solidFill>
                <a:latin typeface="Meiryo UI"/>
                <a:ea typeface="Meiryo UI"/>
              </a:rPr>
              <a:t>¥360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036E3272-E54C-CE4E-9ED5-846717B2135D}"/>
              </a:ext>
            </a:extLst>
          </p:cNvPr>
          <p:cNvSpPr txBox="1"/>
          <p:nvPr/>
        </p:nvSpPr>
        <p:spPr>
          <a:xfrm>
            <a:off x="10109200" y="4216400"/>
            <a:ext cx="95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b="1" dirty="0">
                <a:solidFill>
                  <a:srgbClr val="E63946"/>
                </a:solidFill>
                <a:latin typeface="Meiryo UI"/>
                <a:ea typeface="Meiryo UI"/>
              </a:rPr>
              <a:t>¥370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9481597B-4D59-074E-98A9-A84316C00372}"/>
              </a:ext>
            </a:extLst>
          </p:cNvPr>
          <p:cNvSpPr txBox="1"/>
          <p:nvPr/>
        </p:nvSpPr>
        <p:spPr>
          <a:xfrm>
            <a:off x="6553200" y="46228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>Churn</a:t>
            </a:r>
            <a:r>
              <a:rPr lang="ja-JP" altLang="en" sz="1100">
                <a:solidFill>
                  <a:srgbClr val="2A3441"/>
                </a:solidFill>
                <a:latin typeface="Meiryo UI"/>
                <a:ea typeface="Meiryo UI"/>
              </a:rPr>
              <a:t>（</a:t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年率）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B6DC55A-F39F-5540-8A5D-ED3A4E1BD0A0}"/>
              </a:ext>
            </a:extLst>
          </p:cNvPr>
          <p:cNvSpPr txBox="1"/>
          <p:nvPr/>
        </p:nvSpPr>
        <p:spPr>
          <a:xfrm>
            <a:off x="8204200" y="4622800"/>
            <a:ext cx="95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2A3441"/>
                </a:solidFill>
                <a:latin typeface="Meiryo UI"/>
                <a:ea typeface="Meiryo UI"/>
              </a:rPr>
              <a:t>10%</a:t>
            </a:r>
            <a:endParaRPr lang="ja-JP" altLang="en-US" sz="1100">
              <a:solidFill>
                <a:srgbClr val="2A3441"/>
              </a:solidFill>
              <a:latin typeface="Meiryo UI"/>
              <a:ea typeface="Meiryo UI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65C0813-9926-594F-A3F7-255785144217}"/>
              </a:ext>
            </a:extLst>
          </p:cNvPr>
          <p:cNvSpPr txBox="1"/>
          <p:nvPr/>
        </p:nvSpPr>
        <p:spPr>
          <a:xfrm>
            <a:off x="9156700" y="4622800"/>
            <a:ext cx="95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2A3441"/>
                </a:solidFill>
                <a:latin typeface="Meiryo UI"/>
                <a:ea typeface="Meiryo UI"/>
              </a:rPr>
              <a:t>8%</a:t>
            </a:r>
            <a:endParaRPr lang="ja-JP" altLang="en-US" sz="1100">
              <a:solidFill>
                <a:srgbClr val="2A3441"/>
              </a:solidFill>
              <a:latin typeface="Meiryo UI"/>
              <a:ea typeface="Meiryo UI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9B228CBA-D8A5-0746-83F4-4594081CF2CC}"/>
              </a:ext>
            </a:extLst>
          </p:cNvPr>
          <p:cNvSpPr txBox="1"/>
          <p:nvPr/>
        </p:nvSpPr>
        <p:spPr>
          <a:xfrm>
            <a:off x="10109200" y="4622800"/>
            <a:ext cx="95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b="1">
                <a:solidFill>
                  <a:srgbClr val="E63946"/>
                </a:solidFill>
                <a:latin typeface="Meiryo UI"/>
                <a:ea typeface="Meiryo UI"/>
              </a:rPr>
              <a:t>7%</a:t>
            </a:r>
            <a:endParaRPr lang="ja-JP" altLang="en-US" sz="11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357EFC8D-CB6A-6D4D-927D-CE37785948B7}"/>
              </a:ext>
            </a:extLst>
          </p:cNvPr>
          <p:cNvSpPr txBox="1"/>
          <p:nvPr/>
        </p:nvSpPr>
        <p:spPr>
          <a:xfrm>
            <a:off x="6553200" y="5029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営業利益率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48CC3B6C-FC64-F641-9AA9-926954A129FF}"/>
              </a:ext>
            </a:extLst>
          </p:cNvPr>
          <p:cNvSpPr txBox="1"/>
          <p:nvPr/>
        </p:nvSpPr>
        <p:spPr>
          <a:xfrm>
            <a:off x="8204200" y="5029200"/>
            <a:ext cx="95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▲赤字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99307CE-8662-4346-8F94-FCA448B8B9DE}"/>
              </a:ext>
            </a:extLst>
          </p:cNvPr>
          <p:cNvSpPr txBox="1"/>
          <p:nvPr/>
        </p:nvSpPr>
        <p:spPr>
          <a:xfrm>
            <a:off x="9156700" y="5029200"/>
            <a:ext cx="95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2A3441"/>
                </a:solidFill>
                <a:latin typeface="Meiryo UI"/>
                <a:ea typeface="Meiryo UI"/>
              </a:rPr>
              <a:t>34%</a:t>
            </a:r>
            <a:endParaRPr lang="ja-JP" altLang="en-US" sz="1100">
              <a:solidFill>
                <a:srgbClr val="2A3441"/>
              </a:solidFill>
              <a:latin typeface="Meiryo UI"/>
              <a:ea typeface="Meiryo UI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A5850B53-121A-0B4C-B2D6-07516909750E}"/>
              </a:ext>
            </a:extLst>
          </p:cNvPr>
          <p:cNvSpPr txBox="1"/>
          <p:nvPr/>
        </p:nvSpPr>
        <p:spPr>
          <a:xfrm>
            <a:off x="10109200" y="5029200"/>
            <a:ext cx="952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 b="1">
                <a:solidFill>
                  <a:srgbClr val="E63946"/>
                </a:solidFill>
                <a:latin typeface="Meiryo UI"/>
                <a:ea typeface="Meiryo UI"/>
              </a:rPr>
              <a:t>56%</a:t>
            </a:r>
            <a:endParaRPr lang="ja-JP" altLang="en-US" sz="11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5F2C73B8-52C5-CB4A-8DF0-72BDEE7B8978}"/>
              </a:ext>
            </a:extLst>
          </p:cNvPr>
          <p:cNvSpPr txBox="1"/>
          <p:nvPr/>
        </p:nvSpPr>
        <p:spPr>
          <a:xfrm>
            <a:off x="457200" y="4626864"/>
            <a:ext cx="228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800">
                <a:solidFill>
                  <a:srgbClr val="8A95A3"/>
                </a:solidFill>
                <a:latin typeface="Meiryo UI"/>
                <a:ea typeface="Meiryo UI"/>
              </a:rPr>
              <a:t>20</a:t>
            </a:r>
            <a:endParaRPr lang="ja-JP" altLang="en-US" sz="8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352E7801-6BDA-554B-9020-0365FCC2D19A}"/>
              </a:ext>
            </a:extLst>
          </p:cNvPr>
          <p:cNvSpPr txBox="1"/>
          <p:nvPr/>
        </p:nvSpPr>
        <p:spPr>
          <a:xfrm>
            <a:off x="457200" y="3831336"/>
            <a:ext cx="228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800">
                <a:solidFill>
                  <a:srgbClr val="8A95A3"/>
                </a:solidFill>
                <a:latin typeface="Meiryo UI"/>
                <a:ea typeface="Meiryo UI"/>
              </a:rPr>
              <a:t>40</a:t>
            </a:r>
            <a:endParaRPr lang="ja-JP" altLang="en-US" sz="8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8E3A8ED2-0950-9043-A7E6-E2C576CF1E82}"/>
              </a:ext>
            </a:extLst>
          </p:cNvPr>
          <p:cNvSpPr txBox="1"/>
          <p:nvPr/>
        </p:nvSpPr>
        <p:spPr>
          <a:xfrm>
            <a:off x="457200" y="3044952"/>
            <a:ext cx="228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800">
                <a:solidFill>
                  <a:srgbClr val="8A95A3"/>
                </a:solidFill>
                <a:latin typeface="Meiryo UI"/>
                <a:ea typeface="Meiryo UI"/>
              </a:rPr>
              <a:t>60</a:t>
            </a:r>
            <a:endParaRPr lang="ja-JP" altLang="en-US" sz="8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BCD37DDF-5ED9-5C46-9503-5F4CF844F10B}"/>
              </a:ext>
            </a:extLst>
          </p:cNvPr>
          <p:cNvSpPr txBox="1"/>
          <p:nvPr/>
        </p:nvSpPr>
        <p:spPr>
          <a:xfrm>
            <a:off x="457200" y="6502400"/>
            <a:ext cx="1143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MRR: Monthly Recurring Revenue</a:t>
            </a:r>
            <a:r>
              <a:rPr lang="ja-JP" altLang="en" sz="900">
                <a:solidFill>
                  <a:srgbClr val="5A6B7E"/>
                </a:solidFill>
                <a:latin typeface="Meiryo UI"/>
                <a:ea typeface="Meiryo UI"/>
              </a:rPr>
              <a:t>（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月次経常収益）／</a:t>
            </a:r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Churn: 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解約率（月次）／</a:t>
            </a:r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LTV: Lifetime Value</a:t>
            </a:r>
            <a:r>
              <a:rPr lang="ja-JP" altLang="en" sz="900">
                <a:solidFill>
                  <a:srgbClr val="5A6B7E"/>
                </a:solidFill>
                <a:latin typeface="Meiryo UI"/>
                <a:ea typeface="Meiryo UI"/>
              </a:rPr>
              <a:t>（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顧客生涯価値）／数値は当社事業計画に基づく予測</a:t>
            </a:r>
          </a:p>
        </p:txBody>
      </p:sp>
    </p:spTree>
    <p:extLst>
      <p:ext uri="{BB962C8B-B14F-4D97-AF65-F5344CB8AC3E}">
        <p14:creationId xmlns:p14="http://schemas.microsoft.com/office/powerpoint/2010/main" val="2169617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D2206706-CBA1-AF49-BF87-5B9E2F9E18B1}"/>
              </a:ext>
            </a:extLst>
          </p:cNvPr>
          <p:cNvSpPr/>
          <p:nvPr/>
        </p:nvSpPr>
        <p:spPr>
          <a:xfrm>
            <a:off x="457200" y="4826000"/>
            <a:ext cx="4064000" cy="13970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88790A9A-3116-4A41-BEE0-1567819153B9}"/>
              </a:ext>
            </a:extLst>
          </p:cNvPr>
          <p:cNvSpPr/>
          <p:nvPr/>
        </p:nvSpPr>
        <p:spPr>
          <a:xfrm>
            <a:off x="4876800" y="5156200"/>
            <a:ext cx="6858000" cy="965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0AAB7611-57B7-2949-AF7D-2368FDE0BFD6}"/>
              </a:ext>
            </a:extLst>
          </p:cNvPr>
          <p:cNvSpPr/>
          <p:nvPr/>
        </p:nvSpPr>
        <p:spPr>
          <a:xfrm>
            <a:off x="4876800" y="4089400"/>
            <a:ext cx="6858000" cy="965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E7DE15D-76AA-6F4B-903C-1B0840904B5A}"/>
              </a:ext>
            </a:extLst>
          </p:cNvPr>
          <p:cNvSpPr/>
          <p:nvPr/>
        </p:nvSpPr>
        <p:spPr>
          <a:xfrm>
            <a:off x="4876800" y="3022600"/>
            <a:ext cx="6858000" cy="965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64C80168-2479-F44A-9AFF-93DD9582EE16}"/>
              </a:ext>
            </a:extLst>
          </p:cNvPr>
          <p:cNvSpPr/>
          <p:nvPr/>
        </p:nvSpPr>
        <p:spPr>
          <a:xfrm>
            <a:off x="4876800" y="1955800"/>
            <a:ext cx="6858000" cy="965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F8206EC-30F5-294C-B18B-B92889FCB5D3}"/>
              </a:ext>
            </a:extLst>
          </p:cNvPr>
          <p:cNvSpPr/>
          <p:nvPr/>
        </p:nvSpPr>
        <p:spPr>
          <a:xfrm>
            <a:off x="457200" y="1524000"/>
            <a:ext cx="4064000" cy="2540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E4701EC-8D68-0F42-BCDF-81F937F5AD8A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F0D53F1-FAD0-FB4D-8FDB-C15E6482AEFE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資金計画 </a:t>
            </a:r>
            <a:r>
              <a:rPr lang="en-US" altLang="ja-JP" sz="2600" b="1">
                <a:solidFill>
                  <a:srgbClr val="0B1F3A"/>
                </a:solidFill>
                <a:latin typeface="Meiryo UI"/>
                <a:ea typeface="Meiryo UI"/>
              </a:rPr>
              <a:t>— </a:t>
            </a:r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調達</a:t>
            </a:r>
            <a:r>
              <a:rPr lang="en-US" altLang="ja-JP" sz="2600" b="1">
                <a:solidFill>
                  <a:srgbClr val="0B1F3A"/>
                </a:solidFill>
                <a:latin typeface="Meiryo UI"/>
                <a:ea typeface="Meiryo UI"/>
              </a:rPr>
              <a:t>700</a:t>
            </a:r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万円の使途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0BDCD70-C27E-6740-86D6-88411DE14361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1100">
                <a:solidFill>
                  <a:srgbClr val="8A95A3"/>
                </a:solidFill>
                <a:latin typeface="Meiryo UI"/>
                <a:ea typeface="Meiryo UI"/>
              </a:rPr>
              <a:t>USE OF PROCEEDS — ¥7M SEED ROUND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0FC0402-AD28-E147-A7C0-56E40BE76BAF}"/>
              </a:ext>
            </a:extLst>
          </p:cNvPr>
          <p:cNvSpPr txBox="1"/>
          <p:nvPr/>
        </p:nvSpPr>
        <p:spPr>
          <a:xfrm>
            <a:off x="11430000" y="62738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>
                <a:solidFill>
                  <a:srgbClr val="8A95A3"/>
                </a:solidFill>
                <a:latin typeface="Meiryo UI"/>
                <a:ea typeface="Meiryo UI"/>
              </a:rPr>
              <a:t>09</a:t>
            </a:r>
            <a:endParaRPr lang="ja-JP" altLang="en-US" sz="10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81B0F387-92D9-F046-BC5F-3B8C31D45754}"/>
              </a:ext>
            </a:extLst>
          </p:cNvPr>
          <p:cNvSpPr txBox="1"/>
          <p:nvPr/>
        </p:nvSpPr>
        <p:spPr>
          <a:xfrm>
            <a:off x="711200" y="18288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>
                <a:solidFill>
                  <a:srgbClr val="A8B3C4"/>
                </a:solidFill>
                <a:latin typeface="Meiryo UI"/>
                <a:ea typeface="Meiryo UI"/>
              </a:rPr>
              <a:t>借入希望額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0605ACB-F17F-2B43-9D17-6B02939F8784}"/>
              </a:ext>
            </a:extLst>
          </p:cNvPr>
          <p:cNvSpPr txBox="1"/>
          <p:nvPr/>
        </p:nvSpPr>
        <p:spPr>
          <a:xfrm>
            <a:off x="711200" y="2184400"/>
            <a:ext cx="2540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7200" b="1">
                <a:solidFill>
                  <a:srgbClr val="FFFFFF"/>
                </a:solidFill>
                <a:latin typeface="Meiryo UI"/>
                <a:ea typeface="Meiryo UI"/>
              </a:rPr>
              <a:t>700</a:t>
            </a:r>
            <a:endParaRPr lang="ja-JP" altLang="en-US" sz="72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199E41EC-E9BF-BC4A-AF22-6DE6F25539F0}"/>
              </a:ext>
            </a:extLst>
          </p:cNvPr>
          <p:cNvSpPr txBox="1"/>
          <p:nvPr/>
        </p:nvSpPr>
        <p:spPr>
          <a:xfrm>
            <a:off x="3048000" y="2768600"/>
            <a:ext cx="1016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200" b="1">
                <a:solidFill>
                  <a:srgbClr val="FFFFFF"/>
                </a:solidFill>
                <a:latin typeface="Meiryo UI"/>
                <a:ea typeface="Meiryo UI"/>
              </a:rPr>
              <a:t>万円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ADBC662-7F55-484F-833B-997750AF6F9D}"/>
              </a:ext>
            </a:extLst>
          </p:cNvPr>
          <p:cNvSpPr txBox="1"/>
          <p:nvPr/>
        </p:nvSpPr>
        <p:spPr>
          <a:xfrm>
            <a:off x="711200" y="3454400"/>
            <a:ext cx="3556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A8B3C4"/>
                </a:solidFill>
                <a:latin typeface="Meiryo UI"/>
                <a:ea typeface="Meiryo UI"/>
              </a:rPr>
              <a:t>公庫350万 + 埼玉りそな350万（協調融資）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2AF9BA5-11E3-D445-9878-4569F14BE419}"/>
              </a:ext>
            </a:extLst>
          </p:cNvPr>
          <p:cNvSpPr txBox="1"/>
          <p:nvPr/>
        </p:nvSpPr>
        <p:spPr>
          <a:xfrm>
            <a:off x="4876800" y="1524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使途内訳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45935AB-AC3A-5B45-BF2F-7106585B6616}"/>
              </a:ext>
            </a:extLst>
          </p:cNvPr>
          <p:cNvSpPr/>
          <p:nvPr/>
        </p:nvSpPr>
        <p:spPr>
          <a:xfrm>
            <a:off x="4876800" y="1955800"/>
            <a:ext cx="50800" cy="9652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4BCAC31A-1A35-2141-94E2-C00BDDF6383C}"/>
              </a:ext>
            </a:extLst>
          </p:cNvPr>
          <p:cNvSpPr txBox="1"/>
          <p:nvPr/>
        </p:nvSpPr>
        <p:spPr>
          <a:xfrm>
            <a:off x="5080000" y="2108200"/>
            <a:ext cx="4064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マーケティング費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5C4A0F2A-FFEB-AE4D-B8F3-521665C2AF2F}"/>
              </a:ext>
            </a:extLst>
          </p:cNvPr>
          <p:cNvSpPr txBox="1"/>
          <p:nvPr/>
        </p:nvSpPr>
        <p:spPr>
          <a:xfrm>
            <a:off x="5080000" y="2438400"/>
            <a:ext cx="4572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Meta / Google 広告、PRTIMES、SNS、販促物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86E384BE-3569-384B-8962-5033AE544D0C}"/>
              </a:ext>
            </a:extLst>
          </p:cNvPr>
          <p:cNvSpPr txBox="1"/>
          <p:nvPr/>
        </p:nvSpPr>
        <p:spPr>
          <a:xfrm>
            <a:off x="10083800" y="2108200"/>
            <a:ext cx="1397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240万円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0960616F-1E25-9248-A036-A9221F0955BD}"/>
              </a:ext>
            </a:extLst>
          </p:cNvPr>
          <p:cNvSpPr txBox="1"/>
          <p:nvPr/>
        </p:nvSpPr>
        <p:spPr>
          <a:xfrm>
            <a:off x="10083800" y="2489200"/>
            <a:ext cx="1397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34%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D723BC38-23DF-A04A-AC03-226739508DDE}"/>
              </a:ext>
            </a:extLst>
          </p:cNvPr>
          <p:cNvSpPr/>
          <p:nvPr/>
        </p:nvSpPr>
        <p:spPr>
          <a:xfrm>
            <a:off x="4876800" y="3022600"/>
            <a:ext cx="50800" cy="9652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84703E0B-ADFC-984B-8535-34C2B4CA5620}"/>
              </a:ext>
            </a:extLst>
          </p:cNvPr>
          <p:cNvSpPr txBox="1"/>
          <p:nvPr/>
        </p:nvSpPr>
        <p:spPr>
          <a:xfrm>
            <a:off x="5080000" y="3175000"/>
            <a:ext cx="4064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開発費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0F1AF2C-C334-7448-A6B5-67475F9DF3DB}"/>
              </a:ext>
            </a:extLst>
          </p:cNvPr>
          <p:cNvSpPr txBox="1"/>
          <p:nvPr/>
        </p:nvSpPr>
        <p:spPr>
          <a:xfrm>
            <a:off x="5080000" y="3505200"/>
            <a:ext cx="4572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AI開発支援ツール + 保守・新機能開発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FFD31346-1072-0E4F-99D3-F4FE294499E0}"/>
              </a:ext>
            </a:extLst>
          </p:cNvPr>
          <p:cNvSpPr txBox="1"/>
          <p:nvPr/>
        </p:nvSpPr>
        <p:spPr>
          <a:xfrm>
            <a:off x="10083800" y="3175000"/>
            <a:ext cx="1397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180万円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4912FDD2-7AF8-9B40-823A-B314951C6C10}"/>
              </a:ext>
            </a:extLst>
          </p:cNvPr>
          <p:cNvSpPr txBox="1"/>
          <p:nvPr/>
        </p:nvSpPr>
        <p:spPr>
          <a:xfrm>
            <a:off x="10083800" y="3556000"/>
            <a:ext cx="1397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26%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B9301EDB-6AC4-E54D-A3B5-F3C0350DBD53}"/>
              </a:ext>
            </a:extLst>
          </p:cNvPr>
          <p:cNvSpPr/>
          <p:nvPr/>
        </p:nvSpPr>
        <p:spPr>
          <a:xfrm>
            <a:off x="4876800" y="4089400"/>
            <a:ext cx="50800" cy="9652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42E4C5C9-C52C-484C-A539-E5B53C7149E4}"/>
              </a:ext>
            </a:extLst>
          </p:cNvPr>
          <p:cNvSpPr txBox="1"/>
          <p:nvPr/>
        </p:nvSpPr>
        <p:spPr>
          <a:xfrm>
            <a:off x="5080000" y="4241800"/>
            <a:ext cx="4064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運転資金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2D5F353-04B8-A847-944F-C3241E1DCAF4}"/>
              </a:ext>
            </a:extLst>
          </p:cNvPr>
          <p:cNvSpPr txBox="1"/>
          <p:nvPr/>
        </p:nvSpPr>
        <p:spPr>
          <a:xfrm>
            <a:off x="5080000" y="4572000"/>
            <a:ext cx="4572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LIN-NAH既存事業との並行運営（6ヶ月分）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C9EC8672-8179-EE45-A5B3-AF3907367437}"/>
              </a:ext>
            </a:extLst>
          </p:cNvPr>
          <p:cNvSpPr txBox="1"/>
          <p:nvPr/>
        </p:nvSpPr>
        <p:spPr>
          <a:xfrm>
            <a:off x="10083800" y="4241800"/>
            <a:ext cx="1397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170万円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079AE76A-F27A-5947-9B83-9F6A3391AC63}"/>
              </a:ext>
            </a:extLst>
          </p:cNvPr>
          <p:cNvSpPr txBox="1"/>
          <p:nvPr/>
        </p:nvSpPr>
        <p:spPr>
          <a:xfrm>
            <a:off x="10083800" y="4622800"/>
            <a:ext cx="1397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24%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460C72CB-80FC-5C45-92B7-D8877B0343C4}"/>
              </a:ext>
            </a:extLst>
          </p:cNvPr>
          <p:cNvSpPr/>
          <p:nvPr/>
        </p:nvSpPr>
        <p:spPr>
          <a:xfrm>
            <a:off x="4876800" y="5156200"/>
            <a:ext cx="50800" cy="9652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54272C76-1E58-8C4E-BC4D-E09BEEADD6F5}"/>
              </a:ext>
            </a:extLst>
          </p:cNvPr>
          <p:cNvSpPr txBox="1"/>
          <p:nvPr/>
        </p:nvSpPr>
        <p:spPr>
          <a:xfrm>
            <a:off x="5080000" y="5308600"/>
            <a:ext cx="4064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インフラ費・予備費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1F14BDE1-9567-8A42-8B95-C40FF8F77A34}"/>
              </a:ext>
            </a:extLst>
          </p:cNvPr>
          <p:cNvSpPr txBox="1"/>
          <p:nvPr/>
        </p:nvSpPr>
        <p:spPr>
          <a:xfrm>
            <a:off x="5080000" y="5638800"/>
            <a:ext cx="457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LiveKit Cloud Ship + TCP化中継 + YouTube API/Egress + OAuth/法務予備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741430EC-987E-664E-834A-17D963764D69}"/>
              </a:ext>
            </a:extLst>
          </p:cNvPr>
          <p:cNvSpPr txBox="1"/>
          <p:nvPr/>
        </p:nvSpPr>
        <p:spPr>
          <a:xfrm>
            <a:off x="10083800" y="5308600"/>
            <a:ext cx="1397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E63946"/>
                </a:solidFill>
                <a:latin typeface="Meiryo UI"/>
                <a:ea typeface="Meiryo UI"/>
              </a:rPr>
              <a:t>110万円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AFB36D69-71D6-7147-8F19-C0EFF7E5DC86}"/>
              </a:ext>
            </a:extLst>
          </p:cNvPr>
          <p:cNvSpPr txBox="1"/>
          <p:nvPr/>
        </p:nvSpPr>
        <p:spPr>
          <a:xfrm>
            <a:off x="10083800" y="5689600"/>
            <a:ext cx="1397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16%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CBEDDA8-CACE-6147-9E65-00C8A1AAD5EE}"/>
              </a:ext>
            </a:extLst>
          </p:cNvPr>
          <p:cNvSpPr txBox="1"/>
          <p:nvPr/>
        </p:nvSpPr>
        <p:spPr>
          <a:xfrm>
            <a:off x="457200" y="4445000"/>
            <a:ext cx="4064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資金で達成するマイルストーン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E31863E3-AD6C-DE40-8CAF-283A7469F202}"/>
              </a:ext>
            </a:extLst>
          </p:cNvPr>
          <p:cNvSpPr/>
          <p:nvPr/>
        </p:nvSpPr>
        <p:spPr>
          <a:xfrm>
            <a:off x="457200" y="4826000"/>
            <a:ext cx="50800" cy="1397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AED194C-F6F4-3943-A80F-A6BB5641B6A5}"/>
              </a:ext>
            </a:extLst>
          </p:cNvPr>
          <p:cNvSpPr txBox="1"/>
          <p:nvPr/>
        </p:nvSpPr>
        <p:spPr>
          <a:xfrm>
            <a:off x="711200" y="4978400"/>
            <a:ext cx="203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C8CC0D78-E649-344A-962B-E6193B7E6FC0}"/>
              </a:ext>
            </a:extLst>
          </p:cNvPr>
          <p:cNvSpPr txBox="1"/>
          <p:nvPr/>
        </p:nvSpPr>
        <p:spPr>
          <a:xfrm>
            <a:off x="965200" y="49784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 b="1">
                <a:solidFill>
                  <a:srgbClr val="0B1F3A"/>
                </a:solidFill>
                <a:latin typeface="Meiryo UI"/>
                <a:ea typeface="Meiryo UI"/>
              </a:rPr>
              <a:t>6月中旬 正式ローンチ + 広告運用開始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43C72252-6222-2843-A4D2-26DA1E283D5D}"/>
              </a:ext>
            </a:extLst>
          </p:cNvPr>
          <p:cNvSpPr txBox="1"/>
          <p:nvPr/>
        </p:nvSpPr>
        <p:spPr>
          <a:xfrm>
            <a:off x="711200" y="5359400"/>
            <a:ext cx="203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824E2A46-0E46-4743-AB21-AC82E0B0EA71}"/>
              </a:ext>
            </a:extLst>
          </p:cNvPr>
          <p:cNvSpPr txBox="1"/>
          <p:nvPr/>
        </p:nvSpPr>
        <p:spPr>
          <a:xfrm>
            <a:off x="965200" y="53594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 b="1">
                <a:solidFill>
                  <a:srgbClr val="0B1F3A"/>
                </a:solidFill>
                <a:latin typeface="Meiryo UI"/>
                <a:ea typeface="Meiryo UI"/>
              </a:rPr>
              <a:t>8月末 有料5名 / 10月初 有料20名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735B875-0FC3-434E-BE6A-896C3DBF8DA4}"/>
              </a:ext>
            </a:extLst>
          </p:cNvPr>
          <p:cNvSpPr txBox="1"/>
          <p:nvPr/>
        </p:nvSpPr>
        <p:spPr>
          <a:xfrm>
            <a:off x="711200" y="5740400"/>
            <a:ext cx="203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300" b="1">
                <a:solidFill>
                  <a:srgbClr val="E63946"/>
                </a:solidFill>
                <a:latin typeface="Meiryo UI"/>
                <a:ea typeface="Meiryo UI"/>
              </a:rPr>
              <a:t>✓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A7F8E496-95D7-A445-BB9E-2B1375886729}"/>
              </a:ext>
            </a:extLst>
          </p:cNvPr>
          <p:cNvSpPr txBox="1"/>
          <p:nvPr/>
        </p:nvSpPr>
        <p:spPr>
          <a:xfrm>
            <a:off x="965200" y="57404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200" b="1">
                <a:solidFill>
                  <a:srgbClr val="0B1F3A"/>
                </a:solidFill>
                <a:latin typeface="Meiryo UI"/>
                <a:ea typeface="Meiryo UI"/>
              </a:rPr>
              <a:t>Year 2（2027/6〜）営業黒字化 +436万円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B7B7DE4A-EB3C-E642-8E44-BB587D71F174}"/>
              </a:ext>
            </a:extLst>
          </p:cNvPr>
          <p:cNvSpPr txBox="1"/>
          <p:nvPr/>
        </p:nvSpPr>
        <p:spPr>
          <a:xfrm>
            <a:off x="457200" y="6502400"/>
            <a:ext cx="1143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Pre-Seed: 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創業初期の資金調達ラウンド／</a:t>
            </a:r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Seed: PMF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前後のシード調達／</a:t>
            </a:r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Series A: 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事業拡大段階の本格調達／</a:t>
            </a:r>
            <a:r>
              <a:rPr lang="en" altLang="ja-JP" sz="900">
                <a:solidFill>
                  <a:srgbClr val="5A6B7E"/>
                </a:solidFill>
                <a:latin typeface="Meiryo UI"/>
                <a:ea typeface="Meiryo UI"/>
              </a:rPr>
              <a:t>PMF: Product Market Fit</a:t>
            </a:r>
            <a:r>
              <a:rPr lang="ja-JP" altLang="en" sz="900">
                <a:solidFill>
                  <a:srgbClr val="5A6B7E"/>
                </a:solidFill>
                <a:latin typeface="Meiryo UI"/>
                <a:ea typeface="Meiryo UI"/>
              </a:rPr>
              <a:t>（</a:t>
            </a:r>
            <a:r>
              <a:rPr lang="ja-JP" altLang="en-US" sz="900">
                <a:solidFill>
                  <a:srgbClr val="5A6B7E"/>
                </a:solidFill>
                <a:latin typeface="Meiryo UI"/>
                <a:ea typeface="Meiryo UI"/>
              </a:rPr>
              <a:t>市場適合）</a:t>
            </a:r>
          </a:p>
        </p:txBody>
      </p:sp>
    </p:spTree>
    <p:extLst>
      <p:ext uri="{BB962C8B-B14F-4D97-AF65-F5344CB8AC3E}">
        <p14:creationId xmlns:p14="http://schemas.microsoft.com/office/powerpoint/2010/main" val="3385505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12FC7E2B-A448-7F4B-BDA9-1E0EE1828E1A}"/>
              </a:ext>
            </a:extLst>
          </p:cNvPr>
          <p:cNvSpPr/>
          <p:nvPr/>
        </p:nvSpPr>
        <p:spPr>
          <a:xfrm>
            <a:off x="457200" y="5918200"/>
            <a:ext cx="11277600" cy="635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154B1A3E-22FF-B74E-AE28-1F14393A67DB}"/>
              </a:ext>
            </a:extLst>
          </p:cNvPr>
          <p:cNvSpPr/>
          <p:nvPr/>
        </p:nvSpPr>
        <p:spPr>
          <a:xfrm>
            <a:off x="9448800" y="4038600"/>
            <a:ext cx="22860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AB530BCD-255F-0B4E-8FE5-D92E79ED6A6D}"/>
              </a:ext>
            </a:extLst>
          </p:cNvPr>
          <p:cNvSpPr/>
          <p:nvPr/>
        </p:nvSpPr>
        <p:spPr>
          <a:xfrm>
            <a:off x="6451600" y="1422400"/>
            <a:ext cx="22860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61146812-C86A-DD48-AE39-E2D2B3342ED6}"/>
              </a:ext>
            </a:extLst>
          </p:cNvPr>
          <p:cNvSpPr/>
          <p:nvPr/>
        </p:nvSpPr>
        <p:spPr>
          <a:xfrm>
            <a:off x="3454400" y="4038600"/>
            <a:ext cx="22860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2F464711-FE52-1344-9FFE-E3AD3CABD7BF}"/>
              </a:ext>
            </a:extLst>
          </p:cNvPr>
          <p:cNvSpPr/>
          <p:nvPr/>
        </p:nvSpPr>
        <p:spPr>
          <a:xfrm>
            <a:off x="457200" y="1422400"/>
            <a:ext cx="22860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C12CD1B3-92AB-7C41-A4D7-DD9E5EE93AA5}"/>
              </a:ext>
            </a:extLst>
          </p:cNvPr>
          <p:cNvSpPr/>
          <p:nvPr/>
        </p:nvSpPr>
        <p:spPr>
          <a:xfrm>
            <a:off x="1600200" y="3556000"/>
            <a:ext cx="8991600" cy="25400"/>
          </a:xfrm>
          <a:prstGeom prst="rect">
            <a:avLst/>
          </a:prstGeom>
          <a:solidFill>
            <a:srgbClr val="E5E8E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08AE5873-7573-6B49-AB8E-902669416463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95FC6156-F04B-D94C-B549-DC5A67258343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ローンチタイムライン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9A5FC70E-C7B4-C04C-B40F-5ECAC9E51EBF}"/>
              </a:ext>
            </a:extLst>
          </p:cNvPr>
          <p:cNvSpPr txBox="1"/>
          <p:nvPr/>
        </p:nvSpPr>
        <p:spPr>
          <a:xfrm>
            <a:off x="457200" y="838200"/>
            <a:ext cx="9144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融資着金後の正式ローンチ計画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2F30071-4E61-7E47-8950-54F8D44C6CEF}"/>
              </a:ext>
            </a:extLst>
          </p:cNvPr>
          <p:cNvSpPr txBox="1"/>
          <p:nvPr/>
        </p:nvSpPr>
        <p:spPr>
          <a:xfrm>
            <a:off x="11430000" y="64770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>
                <a:solidFill>
                  <a:srgbClr val="8A95A3"/>
                </a:solidFill>
                <a:latin typeface="Meiryo UI"/>
                <a:ea typeface="Meiryo UI"/>
              </a:rPr>
              <a:t>10</a:t>
            </a:r>
            <a:endParaRPr lang="ja-JP" altLang="en-US" sz="10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87" name="円/楕円 86">
            <a:extLst>
              <a:ext uri="{FF2B5EF4-FFF2-40B4-BE49-F238E27FC236}">
                <a16:creationId xmlns:a16="http://schemas.microsoft.com/office/drawing/2014/main" id="{C2978D09-B6E7-ED48-A835-6F823006252A}"/>
              </a:ext>
            </a:extLst>
          </p:cNvPr>
          <p:cNvSpPr/>
          <p:nvPr/>
        </p:nvSpPr>
        <p:spPr>
          <a:xfrm>
            <a:off x="1397000" y="3365500"/>
            <a:ext cx="406400" cy="406400"/>
          </a:xfrm>
          <a:prstGeom prst="ellipse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7158BFEB-A17F-6E44-9C71-8617DFA7BC53}"/>
              </a:ext>
            </a:extLst>
          </p:cNvPr>
          <p:cNvSpPr txBox="1"/>
          <p:nvPr/>
        </p:nvSpPr>
        <p:spPr>
          <a:xfrm>
            <a:off x="1397000" y="3403600"/>
            <a:ext cx="40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Meiryo UI"/>
                <a:ea typeface="Meiryo UI"/>
              </a:rPr>
              <a:t>1</a:t>
            </a:r>
            <a:endParaRPr lang="ja-JP" altLang="en-US" sz="14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9D7DBA7B-62B5-754E-B2DA-A5C86DA44FFA}"/>
              </a:ext>
            </a:extLst>
          </p:cNvPr>
          <p:cNvSpPr/>
          <p:nvPr/>
        </p:nvSpPr>
        <p:spPr>
          <a:xfrm>
            <a:off x="1593850" y="3073400"/>
            <a:ext cx="12700" cy="4826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DF0FF7C5-5D4A-514D-89B8-9EBEB615CEBC}"/>
              </a:ext>
            </a:extLst>
          </p:cNvPr>
          <p:cNvSpPr/>
          <p:nvPr/>
        </p:nvSpPr>
        <p:spPr>
          <a:xfrm>
            <a:off x="457200" y="1422400"/>
            <a:ext cx="2286000" cy="381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D312E2F5-C0BC-4C40-A83D-667A0B390EED}"/>
              </a:ext>
            </a:extLst>
          </p:cNvPr>
          <p:cNvSpPr txBox="1"/>
          <p:nvPr/>
        </p:nvSpPr>
        <p:spPr>
          <a:xfrm>
            <a:off x="635000" y="1574800"/>
            <a:ext cx="19304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 b="1">
                <a:solidFill>
                  <a:srgbClr val="0B1F3A"/>
                </a:solidFill>
                <a:latin typeface="Meiryo UI"/>
                <a:ea typeface="Meiryo UI"/>
              </a:rPr>
              <a:t>〜2026/5/29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4C231872-CB7B-054C-AB1D-6517E372228D}"/>
              </a:ext>
            </a:extLst>
          </p:cNvPr>
          <p:cNvSpPr txBox="1"/>
          <p:nvPr/>
        </p:nvSpPr>
        <p:spPr>
          <a:xfrm>
            <a:off x="635000" y="1828800"/>
            <a:ext cx="19304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500" b="1">
                <a:solidFill>
                  <a:srgbClr val="0B1F3A"/>
                </a:solidFill>
                <a:latin typeface="Meiryo UI"/>
                <a:ea typeface="Meiryo UI"/>
              </a:rPr>
              <a:t>本番稼働・完璧化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2484503D-4AFF-F246-97DF-9B4B4A379A3B}"/>
              </a:ext>
            </a:extLst>
          </p:cNvPr>
          <p:cNvSpPr txBox="1"/>
          <p:nvPr/>
        </p:nvSpPr>
        <p:spPr>
          <a:xfrm>
            <a:off x="635000" y="2184400"/>
            <a:ext cx="19304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5/10 大会53分配信完走
5/13 Google OAuth 通過
5/21 外部有料3件確認</a:t>
            </a:r>
          </a:p>
        </p:txBody>
      </p:sp>
      <p:sp>
        <p:nvSpPr>
          <p:cNvPr id="95" name="円/楕円 94">
            <a:extLst>
              <a:ext uri="{FF2B5EF4-FFF2-40B4-BE49-F238E27FC236}">
                <a16:creationId xmlns:a16="http://schemas.microsoft.com/office/drawing/2014/main" id="{32FF4C4B-E6C8-E840-A730-21B5CB34A88E}"/>
              </a:ext>
            </a:extLst>
          </p:cNvPr>
          <p:cNvSpPr/>
          <p:nvPr/>
        </p:nvSpPr>
        <p:spPr>
          <a:xfrm>
            <a:off x="4394200" y="3365500"/>
            <a:ext cx="406400" cy="4064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35DEEBDC-D48E-F947-9375-1D332504E77C}"/>
              </a:ext>
            </a:extLst>
          </p:cNvPr>
          <p:cNvSpPr txBox="1"/>
          <p:nvPr/>
        </p:nvSpPr>
        <p:spPr>
          <a:xfrm>
            <a:off x="4394200" y="3403600"/>
            <a:ext cx="40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Meiryo UI"/>
                <a:ea typeface="Meiryo UI"/>
              </a:rPr>
              <a:t>2</a:t>
            </a:r>
            <a:endParaRPr lang="ja-JP" altLang="en-US" sz="14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00857F05-F9A1-5444-A58E-5702E21B3C94}"/>
              </a:ext>
            </a:extLst>
          </p:cNvPr>
          <p:cNvSpPr/>
          <p:nvPr/>
        </p:nvSpPr>
        <p:spPr>
          <a:xfrm>
            <a:off x="4591050" y="3581400"/>
            <a:ext cx="12700" cy="4572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0658098A-2EDB-DF43-967F-A9922BA7944C}"/>
              </a:ext>
            </a:extLst>
          </p:cNvPr>
          <p:cNvSpPr/>
          <p:nvPr/>
        </p:nvSpPr>
        <p:spPr>
          <a:xfrm>
            <a:off x="3454400" y="4038600"/>
            <a:ext cx="2286000" cy="381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F44CC5FF-A5DE-1545-9029-8B9D6AB4C676}"/>
              </a:ext>
            </a:extLst>
          </p:cNvPr>
          <p:cNvSpPr txBox="1"/>
          <p:nvPr/>
        </p:nvSpPr>
        <p:spPr>
          <a:xfrm>
            <a:off x="3632200" y="4191000"/>
            <a:ext cx="19304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 b="1">
                <a:solidFill>
                  <a:srgbClr val="E63946"/>
                </a:solidFill>
                <a:latin typeface="Meiryo UI"/>
                <a:ea typeface="Meiryo UI"/>
              </a:rPr>
              <a:t>2026/6 中旬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920D858F-353B-FC4E-9A9A-87E558D66A21}"/>
              </a:ext>
            </a:extLst>
          </p:cNvPr>
          <p:cNvSpPr txBox="1"/>
          <p:nvPr/>
        </p:nvSpPr>
        <p:spPr>
          <a:xfrm>
            <a:off x="3632200" y="4445000"/>
            <a:ext cx="19304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500" b="1">
                <a:solidFill>
                  <a:srgbClr val="0B1F3A"/>
                </a:solidFill>
                <a:latin typeface="Meiryo UI"/>
                <a:ea typeface="Meiryo UI"/>
              </a:rPr>
              <a:t>正式ローンチ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4157FB96-CE82-8C43-9D2B-9EE7EBA40B84}"/>
              </a:ext>
            </a:extLst>
          </p:cNvPr>
          <p:cNvSpPr txBox="1"/>
          <p:nvPr/>
        </p:nvSpPr>
        <p:spPr>
          <a:xfrm>
            <a:off x="3632200" y="4800600"/>
            <a:ext cx="19304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6/1 顧問税理士へ最終共有
6月上旬 公庫＋埼玉りそな提出
6月中旬 着金＋広告運用開始</a:t>
            </a:r>
          </a:p>
        </p:txBody>
      </p:sp>
      <p:sp>
        <p:nvSpPr>
          <p:cNvPr id="103" name="円/楕円 102">
            <a:extLst>
              <a:ext uri="{FF2B5EF4-FFF2-40B4-BE49-F238E27FC236}">
                <a16:creationId xmlns:a16="http://schemas.microsoft.com/office/drawing/2014/main" id="{5FA534BF-9F81-3548-AC31-6563F15FBA47}"/>
              </a:ext>
            </a:extLst>
          </p:cNvPr>
          <p:cNvSpPr/>
          <p:nvPr/>
        </p:nvSpPr>
        <p:spPr>
          <a:xfrm>
            <a:off x="7391400" y="3365500"/>
            <a:ext cx="406400" cy="406400"/>
          </a:xfrm>
          <a:prstGeom prst="ellipse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DC314456-235F-0A42-B419-9C2044FE7559}"/>
              </a:ext>
            </a:extLst>
          </p:cNvPr>
          <p:cNvSpPr txBox="1"/>
          <p:nvPr/>
        </p:nvSpPr>
        <p:spPr>
          <a:xfrm>
            <a:off x="7391400" y="3403600"/>
            <a:ext cx="40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Meiryo UI"/>
                <a:ea typeface="Meiryo UI"/>
              </a:rPr>
              <a:t>3</a:t>
            </a:r>
            <a:endParaRPr lang="ja-JP" altLang="en-US" sz="14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DB34860E-0CE6-EA4C-BA45-0B0968BAD20D}"/>
              </a:ext>
            </a:extLst>
          </p:cNvPr>
          <p:cNvSpPr/>
          <p:nvPr/>
        </p:nvSpPr>
        <p:spPr>
          <a:xfrm>
            <a:off x="7588250" y="3073400"/>
            <a:ext cx="12700" cy="4826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AC40C6B7-581D-024E-84EE-A4B06B9CAEED}"/>
              </a:ext>
            </a:extLst>
          </p:cNvPr>
          <p:cNvSpPr/>
          <p:nvPr/>
        </p:nvSpPr>
        <p:spPr>
          <a:xfrm>
            <a:off x="6451600" y="1422400"/>
            <a:ext cx="2286000" cy="381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90C856D7-1C6C-4541-A92D-FC29ED1068FB}"/>
              </a:ext>
            </a:extLst>
          </p:cNvPr>
          <p:cNvSpPr txBox="1"/>
          <p:nvPr/>
        </p:nvSpPr>
        <p:spPr>
          <a:xfrm>
            <a:off x="6629400" y="1574800"/>
            <a:ext cx="19304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 b="1">
                <a:solidFill>
                  <a:srgbClr val="0B1F3A"/>
                </a:solidFill>
                <a:latin typeface="Meiryo UI"/>
                <a:ea typeface="Meiryo UI"/>
              </a:rPr>
              <a:t>2026/8 末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27A7B716-10AF-0649-B3EB-42861D9E7B85}"/>
              </a:ext>
            </a:extLst>
          </p:cNvPr>
          <p:cNvSpPr txBox="1"/>
          <p:nvPr/>
        </p:nvSpPr>
        <p:spPr>
          <a:xfrm>
            <a:off x="6629400" y="1828800"/>
            <a:ext cx="19304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500" b="1">
                <a:solidFill>
                  <a:srgbClr val="0B1F3A"/>
                </a:solidFill>
                <a:latin typeface="Meiryo UI"/>
                <a:ea typeface="Meiryo UI"/>
              </a:rPr>
              <a:t>KPIゲート1</a:t>
            </a: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3826AF32-567A-684B-8384-67874F9BBADC}"/>
              </a:ext>
            </a:extLst>
          </p:cNvPr>
          <p:cNvSpPr txBox="1"/>
          <p:nvPr/>
        </p:nvSpPr>
        <p:spPr>
          <a:xfrm>
            <a:off x="6629400" y="2184400"/>
            <a:ext cx="19304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有料5名達成
初期広告効果検証
口コミ獲得開始</a:t>
            </a:r>
          </a:p>
        </p:txBody>
      </p:sp>
      <p:sp>
        <p:nvSpPr>
          <p:cNvPr id="111" name="円/楕円 110">
            <a:extLst>
              <a:ext uri="{FF2B5EF4-FFF2-40B4-BE49-F238E27FC236}">
                <a16:creationId xmlns:a16="http://schemas.microsoft.com/office/drawing/2014/main" id="{9A8D91F1-8333-C247-9481-14A18FCBB9C3}"/>
              </a:ext>
            </a:extLst>
          </p:cNvPr>
          <p:cNvSpPr/>
          <p:nvPr/>
        </p:nvSpPr>
        <p:spPr>
          <a:xfrm>
            <a:off x="10388600" y="3365500"/>
            <a:ext cx="406400" cy="4064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711D5B1B-9263-AA4E-8E20-B54BBE88C7EF}"/>
              </a:ext>
            </a:extLst>
          </p:cNvPr>
          <p:cNvSpPr txBox="1"/>
          <p:nvPr/>
        </p:nvSpPr>
        <p:spPr>
          <a:xfrm>
            <a:off x="10388600" y="3403600"/>
            <a:ext cx="40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Meiryo UI"/>
                <a:ea typeface="Meiryo UI"/>
              </a:rPr>
              <a:t>4</a:t>
            </a:r>
            <a:endParaRPr lang="ja-JP" altLang="en-US" sz="14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32F45700-C88B-C742-88EA-E4C9B2E9A9BB}"/>
              </a:ext>
            </a:extLst>
          </p:cNvPr>
          <p:cNvSpPr/>
          <p:nvPr/>
        </p:nvSpPr>
        <p:spPr>
          <a:xfrm>
            <a:off x="10585450" y="3581400"/>
            <a:ext cx="12700" cy="4572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ADF21AA9-1F86-8F47-B089-63AD139E4FD6}"/>
              </a:ext>
            </a:extLst>
          </p:cNvPr>
          <p:cNvSpPr/>
          <p:nvPr/>
        </p:nvSpPr>
        <p:spPr>
          <a:xfrm>
            <a:off x="9448800" y="4038600"/>
            <a:ext cx="2286000" cy="381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987818EE-D9A7-3D4C-9620-91EBEEB558D7}"/>
              </a:ext>
            </a:extLst>
          </p:cNvPr>
          <p:cNvSpPr txBox="1"/>
          <p:nvPr/>
        </p:nvSpPr>
        <p:spPr>
          <a:xfrm>
            <a:off x="9626600" y="4191000"/>
            <a:ext cx="19304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000" b="1">
                <a:solidFill>
                  <a:srgbClr val="E63946"/>
                </a:solidFill>
                <a:latin typeface="Meiryo UI"/>
                <a:ea typeface="Meiryo UI"/>
              </a:rPr>
              <a:t>2026/10 初</a:t>
            </a: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B0223D21-88FB-5044-A724-D4F83BA796F7}"/>
              </a:ext>
            </a:extLst>
          </p:cNvPr>
          <p:cNvSpPr txBox="1"/>
          <p:nvPr/>
        </p:nvSpPr>
        <p:spPr>
          <a:xfrm>
            <a:off x="9626600" y="4445000"/>
            <a:ext cx="19304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500" b="1">
                <a:solidFill>
                  <a:srgbClr val="0B1F3A"/>
                </a:solidFill>
                <a:latin typeface="Meiryo UI"/>
                <a:ea typeface="Meiryo UI"/>
              </a:rPr>
              <a:t>KPIゲート2</a:t>
            </a:r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40665B45-F6D2-8E4E-BDA5-4989ECF1E947}"/>
              </a:ext>
            </a:extLst>
          </p:cNvPr>
          <p:cNvSpPr txBox="1"/>
          <p:nvPr/>
        </p:nvSpPr>
        <p:spPr>
          <a:xfrm>
            <a:off x="9626600" y="4800600"/>
            <a:ext cx="19304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00">
                <a:solidFill>
                  <a:srgbClr val="5A6B7E"/>
                </a:solidFill>
                <a:latin typeface="Meiryo UI"/>
                <a:ea typeface="Meiryo UI"/>
              </a:rPr>
              <a:t>有料20名達成
Year 2（2027/6〜）
営業黒字化へ</a:t>
            </a: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84AEF175-CB33-1F48-86D9-35A831022D14}"/>
              </a:ext>
            </a:extLst>
          </p:cNvPr>
          <p:cNvSpPr txBox="1"/>
          <p:nvPr/>
        </p:nvSpPr>
        <p:spPr>
          <a:xfrm>
            <a:off x="711200" y="6070600"/>
            <a:ext cx="1076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Meiryo UI"/>
                <a:ea typeface="Meiryo UI"/>
              </a:rPr>
              <a:t>6月中旬 正式ローンチ → 8月末 有料5名 → 10月初 有料20名 → Year 2 営業黒字化</a:t>
            </a:r>
          </a:p>
        </p:txBody>
      </p:sp>
    </p:spTree>
    <p:extLst>
      <p:ext uri="{BB962C8B-B14F-4D97-AF65-F5344CB8AC3E}">
        <p14:creationId xmlns:p14="http://schemas.microsoft.com/office/powerpoint/2010/main" val="666563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0" name="HeaderBar"/>
          <p:cNvSpPr/>
          <p:nvPr/>
        </p:nvSpPr>
        <p:spPr>
          <a:xfrm>
            <a:off x="457200" y="355600"/>
            <a:ext cx="50800" cy="635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01" name="HeaderTitle"/>
          <p:cNvSpPr txBox="1"/>
          <p:nvPr/>
        </p:nvSpPr>
        <p:spPr>
          <a:xfrm>
            <a:off x="609600" y="3302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2400" b="1" dirty="0">
                <a:solidFill>
                  <a:srgbClr val="0B1F3A"/>
                </a:solidFill>
                <a:latin typeface="Meiryo UI"/>
                <a:ea typeface="Meiryo UI"/>
              </a:rPr>
              <a:t>マーケティング&amp;チャネル拡大ロードマップ</a:t>
            </a:r>
          </a:p>
        </p:txBody>
      </p:sp>
      <p:sp>
        <p:nvSpPr>
          <p:cNvPr id="5002" name="HeaderSub"/>
          <p:cNvSpPr txBox="1"/>
          <p:nvPr/>
        </p:nvSpPr>
        <p:spPr>
          <a:xfrm>
            <a:off x="609600" y="812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dirty="0">
                <a:solidFill>
                  <a:srgbClr val="5A6B7E"/>
                </a:solidFill>
                <a:latin typeface="Meiryo UI"/>
                <a:ea typeface="Meiryo UI"/>
              </a:rPr>
              <a:t>シード段階の初動施策 / マーケ予算240万円の配分 / KPI目標</a:t>
            </a:r>
          </a:p>
        </p:txBody>
      </p:sp>
      <p:sp>
        <p:nvSpPr>
          <p:cNvPr id="5003" name="PageNum"/>
          <p:cNvSpPr txBox="1"/>
          <p:nvPr/>
        </p:nvSpPr>
        <p:spPr>
          <a:xfrm>
            <a:off x="11582400" y="6527800"/>
            <a:ext cx="55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900" dirty="0">
                <a:solidFill>
                  <a:srgbClr val="8A95A3"/>
                </a:solidFill>
                <a:latin typeface="Meiryo UI"/>
              </a:rPr>
              <a:t>12 / 17</a:t>
            </a:r>
          </a:p>
        </p:txBody>
      </p:sp>
      <p:sp>
        <p:nvSpPr>
          <p:cNvPr id="5004" name="PhaseCard1"/>
          <p:cNvSpPr/>
          <p:nvPr/>
        </p:nvSpPr>
        <p:spPr>
          <a:xfrm>
            <a:off x="457200" y="1270000"/>
            <a:ext cx="2743200" cy="1778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05" name="PhaseAccent1"/>
          <p:cNvSpPr/>
          <p:nvPr/>
        </p:nvSpPr>
        <p:spPr>
          <a:xfrm>
            <a:off x="457200" y="1270000"/>
            <a:ext cx="2743200" cy="3810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06" name="PhaseLabel1"/>
          <p:cNvSpPr txBox="1"/>
          <p:nvPr/>
        </p:nvSpPr>
        <p:spPr>
          <a:xfrm>
            <a:off x="635000" y="1397000"/>
            <a:ext cx="2387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00" b="1" dirty="0">
                <a:solidFill>
                  <a:srgbClr val="1D4E89"/>
                </a:solidFill>
                <a:latin typeface="Meiryo UI"/>
              </a:rPr>
              <a:t>Phase 1</a:t>
            </a:r>
            <a:r>
              <a:rPr lang="ja-JP" sz="1000" dirty="0">
                <a:solidFill>
                  <a:srgbClr val="5A6B7E"/>
                </a:solidFill>
                <a:latin typeface="Meiryo UI"/>
                <a:ea typeface="Meiryo UI"/>
              </a:rPr>
              <a:t>  2026 Q3-Q4</a:t>
            </a:r>
          </a:p>
        </p:txBody>
      </p:sp>
      <p:sp>
        <p:nvSpPr>
          <p:cNvPr id="5007" name="PhaseFocus1"/>
          <p:cNvSpPr txBox="1"/>
          <p:nvPr/>
        </p:nvSpPr>
        <p:spPr>
          <a:xfrm>
            <a:off x="635000" y="1625600"/>
            <a:ext cx="238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500" b="1" dirty="0">
                <a:solidFill>
                  <a:srgbClr val="0B1F3A"/>
                </a:solidFill>
                <a:latin typeface="Meiryo UI"/>
                <a:ea typeface="Meiryo UI"/>
              </a:rPr>
              <a:t>認知獲得</a:t>
            </a:r>
          </a:p>
        </p:txBody>
      </p:sp>
      <p:sp>
        <p:nvSpPr>
          <p:cNvPr id="5008" name="PhaseKpiLbl1"/>
          <p:cNvSpPr txBox="1"/>
          <p:nvPr/>
        </p:nvSpPr>
        <p:spPr>
          <a:xfrm>
            <a:off x="635000" y="1981200"/>
            <a:ext cx="238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00" dirty="0">
                <a:solidFill>
                  <a:srgbClr val="8A95A3"/>
                </a:solidFill>
                <a:latin typeface="Meiryo UI"/>
              </a:rPr>
              <a:t>KPI</a:t>
            </a:r>
          </a:p>
        </p:txBody>
      </p:sp>
      <p:sp>
        <p:nvSpPr>
          <p:cNvPr id="5009" name="PhaseKpi1"/>
          <p:cNvSpPr txBox="1"/>
          <p:nvPr/>
        </p:nvSpPr>
        <p:spPr>
          <a:xfrm>
            <a:off x="635000" y="2133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300" b="1" dirty="0">
                <a:solidFill>
                  <a:srgbClr val="1D4E89"/>
                </a:solidFill>
                <a:latin typeface="Meiryo UI"/>
                <a:ea typeface="Meiryo UI"/>
              </a:rPr>
              <a:t>リーチ 5万人</a:t>
            </a:r>
          </a:p>
        </p:txBody>
      </p:sp>
      <p:sp>
        <p:nvSpPr>
          <p:cNvPr id="5010" name="PhaseDiv1"/>
          <p:cNvSpPr/>
          <p:nvPr/>
        </p:nvSpPr>
        <p:spPr>
          <a:xfrm>
            <a:off x="635000" y="2438400"/>
            <a:ext cx="355600" cy="2540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11" name="PhaseDesc1"/>
          <p:cNvSpPr txBox="1"/>
          <p:nvPr/>
        </p:nvSpPr>
        <p:spPr>
          <a:xfrm>
            <a:off x="635000" y="2540000"/>
            <a:ext cx="238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SNS広告 + プレスリリース</a:t>
            </a:r>
          </a:p>
          <a:p>
            <a:pPr algn="l">
              <a:lnSpc>
                <a:spcPct val="120000"/>
              </a:lnSpc>
            </a:pPr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インフルエンサー試験運用</a:t>
            </a:r>
          </a:p>
        </p:txBody>
      </p:sp>
      <p:sp>
        <p:nvSpPr>
          <p:cNvPr id="5012" name="PhaseCard2"/>
          <p:cNvSpPr/>
          <p:nvPr/>
        </p:nvSpPr>
        <p:spPr>
          <a:xfrm>
            <a:off x="3200400" y="1270000"/>
            <a:ext cx="2743200" cy="1778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13" name="PhaseAccent2"/>
          <p:cNvSpPr/>
          <p:nvPr/>
        </p:nvSpPr>
        <p:spPr>
          <a:xfrm>
            <a:off x="3200400" y="1270000"/>
            <a:ext cx="27432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14" name="PhaseLabel2"/>
          <p:cNvSpPr txBox="1"/>
          <p:nvPr/>
        </p:nvSpPr>
        <p:spPr>
          <a:xfrm>
            <a:off x="3378200" y="1397000"/>
            <a:ext cx="2387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00" b="1" dirty="0">
                <a:solidFill>
                  <a:srgbClr val="2A9D8F"/>
                </a:solidFill>
                <a:latin typeface="Meiryo UI"/>
              </a:rPr>
              <a:t>Phase 2</a:t>
            </a:r>
            <a:r>
              <a:rPr lang="ja-JP" sz="1000" dirty="0">
                <a:solidFill>
                  <a:srgbClr val="5A6B7E"/>
                </a:solidFill>
                <a:latin typeface="Meiryo UI"/>
                <a:ea typeface="Meiryo UI"/>
              </a:rPr>
              <a:t>  2027 Q1-Q2</a:t>
            </a:r>
          </a:p>
        </p:txBody>
      </p:sp>
      <p:sp>
        <p:nvSpPr>
          <p:cNvPr id="5015" name="PhaseFocus2"/>
          <p:cNvSpPr txBox="1"/>
          <p:nvPr/>
        </p:nvSpPr>
        <p:spPr>
          <a:xfrm>
            <a:off x="3378200" y="1625600"/>
            <a:ext cx="238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500" b="1" dirty="0">
                <a:solidFill>
                  <a:srgbClr val="0B1F3A"/>
                </a:solidFill>
                <a:latin typeface="Meiryo UI"/>
                <a:ea typeface="Meiryo UI"/>
              </a:rPr>
              <a:t>リード拡大</a:t>
            </a:r>
          </a:p>
        </p:txBody>
      </p:sp>
      <p:sp>
        <p:nvSpPr>
          <p:cNvPr id="5016" name="PhaseKpiLbl2"/>
          <p:cNvSpPr txBox="1"/>
          <p:nvPr/>
        </p:nvSpPr>
        <p:spPr>
          <a:xfrm>
            <a:off x="3378200" y="1981200"/>
            <a:ext cx="238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00" dirty="0">
                <a:solidFill>
                  <a:srgbClr val="8A95A3"/>
                </a:solidFill>
                <a:latin typeface="Meiryo UI"/>
              </a:rPr>
              <a:t>KPI</a:t>
            </a:r>
          </a:p>
        </p:txBody>
      </p:sp>
      <p:sp>
        <p:nvSpPr>
          <p:cNvPr id="5017" name="PhaseKpi2"/>
          <p:cNvSpPr txBox="1"/>
          <p:nvPr/>
        </p:nvSpPr>
        <p:spPr>
          <a:xfrm>
            <a:off x="3378200" y="2133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300" b="1" dirty="0">
                <a:solidFill>
                  <a:srgbClr val="16A085"/>
                </a:solidFill>
                <a:latin typeface="Meiryo UI"/>
                <a:ea typeface="Meiryo UI"/>
              </a:rPr>
              <a:t>MQL 月50件</a:t>
            </a:r>
          </a:p>
        </p:txBody>
      </p:sp>
      <p:sp>
        <p:nvSpPr>
          <p:cNvPr id="5018" name="PhaseDiv2"/>
          <p:cNvSpPr/>
          <p:nvPr/>
        </p:nvSpPr>
        <p:spPr>
          <a:xfrm>
            <a:off x="3378200" y="2438400"/>
            <a:ext cx="355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19" name="PhaseDesc2"/>
          <p:cNvSpPr txBox="1"/>
          <p:nvPr/>
        </p:nvSpPr>
        <p:spPr>
          <a:xfrm>
            <a:off x="3378200" y="2540000"/>
            <a:ext cx="238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オウンドメディア強化</a:t>
            </a:r>
          </a:p>
          <a:p>
            <a:pPr algn="l">
              <a:lnSpc>
                <a:spcPct val="120000"/>
              </a:lnSpc>
            </a:pPr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比較サイト掲載 / 展示会2件</a:t>
            </a:r>
          </a:p>
        </p:txBody>
      </p:sp>
      <p:sp>
        <p:nvSpPr>
          <p:cNvPr id="5020" name="PhaseCard3"/>
          <p:cNvSpPr/>
          <p:nvPr/>
        </p:nvSpPr>
        <p:spPr>
          <a:xfrm>
            <a:off x="5943600" y="1270000"/>
            <a:ext cx="2743200" cy="1778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21" name="PhaseAccent3"/>
          <p:cNvSpPr/>
          <p:nvPr/>
        </p:nvSpPr>
        <p:spPr>
          <a:xfrm>
            <a:off x="5943600" y="1270000"/>
            <a:ext cx="2743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22" name="PhaseLabel3"/>
          <p:cNvSpPr txBox="1"/>
          <p:nvPr/>
        </p:nvSpPr>
        <p:spPr>
          <a:xfrm>
            <a:off x="6121400" y="1397000"/>
            <a:ext cx="2387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00" b="1" dirty="0">
                <a:solidFill>
                  <a:srgbClr val="F4A261"/>
                </a:solidFill>
                <a:latin typeface="Meiryo UI"/>
              </a:rPr>
              <a:t>Phase 3</a:t>
            </a:r>
            <a:r>
              <a:rPr lang="ja-JP" sz="1000" dirty="0">
                <a:solidFill>
                  <a:srgbClr val="5A6B7E"/>
                </a:solidFill>
                <a:latin typeface="Meiryo UI"/>
                <a:ea typeface="Meiryo UI"/>
              </a:rPr>
              <a:t>  2027 Q3-Q4</a:t>
            </a:r>
          </a:p>
        </p:txBody>
      </p:sp>
      <p:sp>
        <p:nvSpPr>
          <p:cNvPr id="5023" name="PhaseFocus3"/>
          <p:cNvSpPr txBox="1"/>
          <p:nvPr/>
        </p:nvSpPr>
        <p:spPr>
          <a:xfrm>
            <a:off x="6121400" y="1625600"/>
            <a:ext cx="238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500" b="1" dirty="0">
                <a:solidFill>
                  <a:srgbClr val="0B1F3A"/>
                </a:solidFill>
                <a:latin typeface="Meiryo UI"/>
                <a:ea typeface="Meiryo UI"/>
              </a:rPr>
              <a:t>成約最適化</a:t>
            </a:r>
          </a:p>
        </p:txBody>
      </p:sp>
      <p:sp>
        <p:nvSpPr>
          <p:cNvPr id="5024" name="PhaseKpiLbl3"/>
          <p:cNvSpPr txBox="1"/>
          <p:nvPr/>
        </p:nvSpPr>
        <p:spPr>
          <a:xfrm>
            <a:off x="6121400" y="1981200"/>
            <a:ext cx="238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00" dirty="0">
                <a:solidFill>
                  <a:srgbClr val="8A95A3"/>
                </a:solidFill>
                <a:latin typeface="Meiryo UI"/>
              </a:rPr>
              <a:t>KPI</a:t>
            </a:r>
          </a:p>
        </p:txBody>
      </p:sp>
      <p:sp>
        <p:nvSpPr>
          <p:cNvPr id="5025" name="PhaseKpi3"/>
          <p:cNvSpPr txBox="1"/>
          <p:nvPr/>
        </p:nvSpPr>
        <p:spPr>
          <a:xfrm>
            <a:off x="6121400" y="2133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300" b="1" dirty="0">
                <a:solidFill>
                  <a:srgbClr val="E67E22"/>
                </a:solidFill>
                <a:latin typeface="Meiryo UI"/>
              </a:rPr>
              <a:t>CVR 2.0%</a:t>
            </a:r>
          </a:p>
        </p:txBody>
      </p:sp>
      <p:sp>
        <p:nvSpPr>
          <p:cNvPr id="5026" name="PhaseDiv3"/>
          <p:cNvSpPr/>
          <p:nvPr/>
        </p:nvSpPr>
        <p:spPr>
          <a:xfrm>
            <a:off x="6121400" y="2438400"/>
            <a:ext cx="35560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27" name="PhaseDesc3"/>
          <p:cNvSpPr txBox="1"/>
          <p:nvPr/>
        </p:nvSpPr>
        <p:spPr>
          <a:xfrm>
            <a:off x="6121400" y="2540000"/>
            <a:ext cx="238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営業組織8名体制 / ABM</a:t>
            </a:r>
          </a:p>
          <a:p>
            <a:pPr algn="l">
              <a:lnSpc>
                <a:spcPct val="120000"/>
              </a:lnSpc>
            </a:pPr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カスタマーサクセス本格化</a:t>
            </a:r>
          </a:p>
        </p:txBody>
      </p:sp>
      <p:sp>
        <p:nvSpPr>
          <p:cNvPr id="5028" name="PhaseCard4"/>
          <p:cNvSpPr/>
          <p:nvPr/>
        </p:nvSpPr>
        <p:spPr>
          <a:xfrm>
            <a:off x="8686800" y="1270000"/>
            <a:ext cx="2743200" cy="1778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29" name="PhaseAccent4"/>
          <p:cNvSpPr/>
          <p:nvPr/>
        </p:nvSpPr>
        <p:spPr>
          <a:xfrm>
            <a:off x="8686800" y="1270000"/>
            <a:ext cx="2743200" cy="381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30" name="PhaseLabel4"/>
          <p:cNvSpPr txBox="1"/>
          <p:nvPr/>
        </p:nvSpPr>
        <p:spPr>
          <a:xfrm>
            <a:off x="8864600" y="1397000"/>
            <a:ext cx="2387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00" b="1" dirty="0">
                <a:solidFill>
                  <a:srgbClr val="8E44AD"/>
                </a:solidFill>
                <a:latin typeface="Meiryo UI"/>
              </a:rPr>
              <a:t>Phase 4</a:t>
            </a:r>
            <a:r>
              <a:rPr lang="ja-JP" sz="1000" dirty="0">
                <a:solidFill>
                  <a:srgbClr val="5A6B7E"/>
                </a:solidFill>
                <a:latin typeface="Meiryo UI"/>
                <a:ea typeface="Meiryo UI"/>
              </a:rPr>
              <a:t>  2028 通年</a:t>
            </a:r>
          </a:p>
        </p:txBody>
      </p:sp>
      <p:sp>
        <p:nvSpPr>
          <p:cNvPr id="5031" name="PhaseFocus4"/>
          <p:cNvSpPr txBox="1"/>
          <p:nvPr/>
        </p:nvSpPr>
        <p:spPr>
          <a:xfrm>
            <a:off x="8864600" y="1625600"/>
            <a:ext cx="238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500" b="1" dirty="0">
                <a:solidFill>
                  <a:srgbClr val="0B1F3A"/>
                </a:solidFill>
                <a:latin typeface="Meiryo UI"/>
                <a:ea typeface="Meiryo UI"/>
              </a:rPr>
              <a:t>横展開</a:t>
            </a:r>
          </a:p>
        </p:txBody>
      </p:sp>
      <p:sp>
        <p:nvSpPr>
          <p:cNvPr id="5032" name="PhaseKpiLbl4"/>
          <p:cNvSpPr txBox="1"/>
          <p:nvPr/>
        </p:nvSpPr>
        <p:spPr>
          <a:xfrm>
            <a:off x="8864600" y="1981200"/>
            <a:ext cx="238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00" dirty="0">
                <a:solidFill>
                  <a:srgbClr val="8A95A3"/>
                </a:solidFill>
                <a:latin typeface="Meiryo UI"/>
              </a:rPr>
              <a:t>KPI</a:t>
            </a:r>
          </a:p>
        </p:txBody>
      </p:sp>
      <p:sp>
        <p:nvSpPr>
          <p:cNvPr id="5033" name="PhaseKpi4"/>
          <p:cNvSpPr txBox="1"/>
          <p:nvPr/>
        </p:nvSpPr>
        <p:spPr>
          <a:xfrm>
            <a:off x="8864600" y="2133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300" b="1" dirty="0">
                <a:solidFill>
                  <a:srgbClr val="8E44AD"/>
                </a:solidFill>
                <a:latin typeface="Meiryo UI"/>
                <a:ea typeface="Meiryo UI"/>
              </a:rPr>
              <a:t>ARR ¥3,600万</a:t>
            </a:r>
          </a:p>
        </p:txBody>
      </p:sp>
      <p:sp>
        <p:nvSpPr>
          <p:cNvPr id="5034" name="PhaseDiv4"/>
          <p:cNvSpPr/>
          <p:nvPr/>
        </p:nvSpPr>
        <p:spPr>
          <a:xfrm>
            <a:off x="8864600" y="2438400"/>
            <a:ext cx="355600" cy="25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35" name="PhaseDesc4"/>
          <p:cNvSpPr txBox="1"/>
          <p:nvPr/>
        </p:nvSpPr>
        <p:spPr>
          <a:xfrm>
            <a:off x="8864600" y="2540000"/>
            <a:ext cx="238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代理店3社・海外PoC開始</a:t>
            </a:r>
          </a:p>
          <a:p>
            <a:pPr algn="l">
              <a:lnSpc>
                <a:spcPct val="120000"/>
              </a:lnSpc>
            </a:pPr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プロダクトLed成長導入</a:t>
            </a:r>
          </a:p>
        </p:txBody>
      </p:sp>
      <p:sp>
        <p:nvSpPr>
          <p:cNvPr id="5036" name="MidLabelBar"/>
          <p:cNvSpPr/>
          <p:nvPr/>
        </p:nvSpPr>
        <p:spPr>
          <a:xfrm>
            <a:off x="457200" y="3251200"/>
            <a:ext cx="50800" cy="279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37" name="MidLabel"/>
          <p:cNvSpPr txBox="1"/>
          <p:nvPr/>
        </p:nvSpPr>
        <p:spPr>
          <a:xfrm>
            <a:off x="609600" y="32512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500" b="1" dirty="0">
                <a:solidFill>
                  <a:srgbClr val="0B1F3A"/>
                </a:solidFill>
                <a:latin typeface="Meiryo UI"/>
                <a:ea typeface="Meiryo UI"/>
              </a:rPr>
              <a:t>チャネル別予算配分・KPI目標 (初年度・マーケ予算240万円)</a:t>
            </a:r>
          </a:p>
        </p:txBody>
      </p:sp>
      <p:sp>
        <p:nvSpPr>
          <p:cNvPr id="5038" name="TblHeader"/>
          <p:cNvSpPr/>
          <p:nvPr/>
        </p:nvSpPr>
        <p:spPr>
          <a:xfrm>
            <a:off x="457200" y="3683000"/>
            <a:ext cx="11277600" cy="279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39" name="TblH0"/>
          <p:cNvSpPr txBox="1"/>
          <p:nvPr/>
        </p:nvSpPr>
        <p:spPr>
          <a:xfrm>
            <a:off x="609600" y="37338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b="1" dirty="0">
                <a:solidFill>
                  <a:srgbClr val="FFFFFF"/>
                </a:solidFill>
                <a:latin typeface="Meiryo UI"/>
                <a:ea typeface="Meiryo UI"/>
              </a:rPr>
              <a:t>チャネル</a:t>
            </a:r>
          </a:p>
        </p:txBody>
      </p:sp>
      <p:sp>
        <p:nvSpPr>
          <p:cNvPr id="5040" name="TblH1"/>
          <p:cNvSpPr txBox="1"/>
          <p:nvPr/>
        </p:nvSpPr>
        <p:spPr>
          <a:xfrm>
            <a:off x="2819400" y="373380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b="1" dirty="0">
                <a:solidFill>
                  <a:srgbClr val="FFFFFF"/>
                </a:solidFill>
                <a:latin typeface="Meiryo UI"/>
                <a:ea typeface="Meiryo UI"/>
              </a:rPr>
              <a:t>配分</a:t>
            </a:r>
          </a:p>
        </p:txBody>
      </p:sp>
      <p:sp>
        <p:nvSpPr>
          <p:cNvPr id="5041" name="TblH2"/>
          <p:cNvSpPr txBox="1"/>
          <p:nvPr/>
        </p:nvSpPr>
        <p:spPr>
          <a:xfrm>
            <a:off x="4673600" y="3733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b="1" dirty="0">
                <a:solidFill>
                  <a:srgbClr val="FFFFFF"/>
                </a:solidFill>
                <a:latin typeface="Meiryo UI"/>
                <a:ea typeface="Meiryo UI"/>
              </a:rPr>
              <a:t>予算(年)</a:t>
            </a:r>
          </a:p>
        </p:txBody>
      </p:sp>
      <p:sp>
        <p:nvSpPr>
          <p:cNvPr id="5042" name="TblH3"/>
          <p:cNvSpPr txBox="1"/>
          <p:nvPr/>
        </p:nvSpPr>
        <p:spPr>
          <a:xfrm>
            <a:off x="5486400" y="3733800"/>
            <a:ext cx="53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b="1" dirty="0">
                <a:solidFill>
                  <a:srgbClr val="FFFFFF"/>
                </a:solidFill>
                <a:latin typeface="Meiryo UI"/>
                <a:ea typeface="Meiryo UI"/>
              </a:rPr>
              <a:t>比率</a:t>
            </a:r>
          </a:p>
        </p:txBody>
      </p:sp>
      <p:sp>
        <p:nvSpPr>
          <p:cNvPr id="5043" name="TblH4"/>
          <p:cNvSpPr txBox="1"/>
          <p:nvPr/>
        </p:nvSpPr>
        <p:spPr>
          <a:xfrm>
            <a:off x="6070600" y="37338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b="1" dirty="0">
                <a:solidFill>
                  <a:srgbClr val="FFFFFF"/>
                </a:solidFill>
                <a:latin typeface="Meiryo UI"/>
                <a:ea typeface="Meiryo UI"/>
              </a:rPr>
              <a:t>ROAS/CPA目標</a:t>
            </a:r>
          </a:p>
        </p:txBody>
      </p:sp>
      <p:sp>
        <p:nvSpPr>
          <p:cNvPr id="5044" name="TblH5"/>
          <p:cNvSpPr txBox="1"/>
          <p:nvPr/>
        </p:nvSpPr>
        <p:spPr>
          <a:xfrm>
            <a:off x="7277100" y="3733800"/>
            <a:ext cx="43053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b="1" dirty="0">
                <a:solidFill>
                  <a:srgbClr val="FFFFFF"/>
                </a:solidFill>
                <a:latin typeface="Meiryo UI"/>
                <a:ea typeface="Meiryo UI"/>
              </a:rPr>
              <a:t>主要施策</a:t>
            </a:r>
          </a:p>
        </p:txBody>
      </p:sp>
      <p:sp>
        <p:nvSpPr>
          <p:cNvPr id="5045" name="TblCh0"/>
          <p:cNvSpPr txBox="1"/>
          <p:nvPr/>
        </p:nvSpPr>
        <p:spPr>
          <a:xfrm>
            <a:off x="609600" y="40513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0B1F3A"/>
                </a:solidFill>
                <a:latin typeface="Meiryo UI"/>
                <a:ea typeface="Meiryo UI"/>
              </a:rPr>
              <a:t>デジタル広告 (検索/SNS)</a:t>
            </a:r>
          </a:p>
        </p:txBody>
      </p:sp>
      <p:sp>
        <p:nvSpPr>
          <p:cNvPr id="5046" name="ChBarBg0"/>
          <p:cNvSpPr/>
          <p:nvPr/>
        </p:nvSpPr>
        <p:spPr>
          <a:xfrm>
            <a:off x="2819400" y="4102100"/>
            <a:ext cx="1778000" cy="101600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47" name="ChBar0"/>
          <p:cNvSpPr/>
          <p:nvPr/>
        </p:nvSpPr>
        <p:spPr>
          <a:xfrm>
            <a:off x="2819400" y="4102100"/>
            <a:ext cx="1778000" cy="10160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48" name="TblBudget0"/>
          <p:cNvSpPr txBox="1"/>
          <p:nvPr/>
        </p:nvSpPr>
        <p:spPr>
          <a:xfrm>
            <a:off x="4673600" y="40513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0B1F3A"/>
                </a:solidFill>
                <a:latin typeface="Meiryo UI"/>
              </a:rPr>
              <a:t>¥77万</a:t>
            </a:r>
          </a:p>
        </p:txBody>
      </p:sp>
      <p:sp>
        <p:nvSpPr>
          <p:cNvPr id="5049" name="TblPct0"/>
          <p:cNvSpPr txBox="1"/>
          <p:nvPr/>
        </p:nvSpPr>
        <p:spPr>
          <a:xfrm>
            <a:off x="5486400" y="4051300"/>
            <a:ext cx="53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100" dirty="0">
                <a:solidFill>
                  <a:srgbClr val="5A6B7E"/>
                </a:solidFill>
                <a:latin typeface="Meiryo UI"/>
              </a:rPr>
              <a:t>32%</a:t>
            </a:r>
          </a:p>
        </p:txBody>
      </p:sp>
      <p:sp>
        <p:nvSpPr>
          <p:cNvPr id="5050" name="TblMet0"/>
          <p:cNvSpPr txBox="1"/>
          <p:nvPr/>
        </p:nvSpPr>
        <p:spPr>
          <a:xfrm>
            <a:off x="6070600" y="40513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1D4E89"/>
                </a:solidFill>
                <a:latin typeface="Meiryo UI"/>
                <a:ea typeface="Meiryo UI"/>
              </a:rPr>
              <a:t>ROAS 2.5x</a:t>
            </a:r>
          </a:p>
        </p:txBody>
      </p:sp>
      <p:sp>
        <p:nvSpPr>
          <p:cNvPr id="5051" name="TblPlan0"/>
          <p:cNvSpPr txBox="1"/>
          <p:nvPr/>
        </p:nvSpPr>
        <p:spPr>
          <a:xfrm>
            <a:off x="7277100" y="4051300"/>
            <a:ext cx="43053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Google/Meta/LinkedIn 三軸運用</a:t>
            </a:r>
          </a:p>
        </p:txBody>
      </p:sp>
      <p:sp>
        <p:nvSpPr>
          <p:cNvPr id="5052" name="TblRowBg1"/>
          <p:cNvSpPr/>
          <p:nvPr/>
        </p:nvSpPr>
        <p:spPr>
          <a:xfrm>
            <a:off x="457200" y="4292600"/>
            <a:ext cx="11277600" cy="304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53" name="TblCh1"/>
          <p:cNvSpPr txBox="1"/>
          <p:nvPr/>
        </p:nvSpPr>
        <p:spPr>
          <a:xfrm>
            <a:off x="609600" y="43561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0B1F3A"/>
                </a:solidFill>
                <a:latin typeface="Meiryo UI"/>
                <a:ea typeface="Meiryo UI"/>
              </a:rPr>
              <a:t>コンテンツマーケ / SEO</a:t>
            </a:r>
          </a:p>
        </p:txBody>
      </p:sp>
      <p:sp>
        <p:nvSpPr>
          <p:cNvPr id="5054" name="ChBarBg1"/>
          <p:cNvSpPr/>
          <p:nvPr/>
        </p:nvSpPr>
        <p:spPr>
          <a:xfrm>
            <a:off x="2819400" y="4406900"/>
            <a:ext cx="1778000" cy="101600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55" name="ChBar1"/>
          <p:cNvSpPr/>
          <p:nvPr/>
        </p:nvSpPr>
        <p:spPr>
          <a:xfrm>
            <a:off x="2819400" y="4406900"/>
            <a:ext cx="11049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56" name="TblBudget1"/>
          <p:cNvSpPr txBox="1"/>
          <p:nvPr/>
        </p:nvSpPr>
        <p:spPr>
          <a:xfrm>
            <a:off x="4673600" y="43561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0B1F3A"/>
                </a:solidFill>
                <a:latin typeface="Meiryo UI"/>
              </a:rPr>
              <a:t>¥48万</a:t>
            </a:r>
          </a:p>
        </p:txBody>
      </p:sp>
      <p:sp>
        <p:nvSpPr>
          <p:cNvPr id="5057" name="TblPct1"/>
          <p:cNvSpPr txBox="1"/>
          <p:nvPr/>
        </p:nvSpPr>
        <p:spPr>
          <a:xfrm>
            <a:off x="5486400" y="4356100"/>
            <a:ext cx="53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100" dirty="0">
                <a:solidFill>
                  <a:srgbClr val="5A6B7E"/>
                </a:solidFill>
                <a:latin typeface="Meiryo UI"/>
              </a:rPr>
              <a:t>20%</a:t>
            </a:r>
          </a:p>
        </p:txBody>
      </p:sp>
      <p:sp>
        <p:nvSpPr>
          <p:cNvPr id="5058" name="TblMet1"/>
          <p:cNvSpPr txBox="1"/>
          <p:nvPr/>
        </p:nvSpPr>
        <p:spPr>
          <a:xfrm>
            <a:off x="6070600" y="43561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16A085"/>
                </a:solidFill>
                <a:latin typeface="Meiryo UI"/>
                <a:ea typeface="Meiryo UI"/>
              </a:rPr>
              <a:t>CPA ¥8,000</a:t>
            </a:r>
          </a:p>
        </p:txBody>
      </p:sp>
      <p:sp>
        <p:nvSpPr>
          <p:cNvPr id="5059" name="TblPlan1"/>
          <p:cNvSpPr txBox="1"/>
          <p:nvPr/>
        </p:nvSpPr>
        <p:spPr>
          <a:xfrm>
            <a:off x="7277100" y="4356100"/>
            <a:ext cx="43053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ホワイトペーパー月4本 / 事例10本</a:t>
            </a:r>
          </a:p>
        </p:txBody>
      </p:sp>
      <p:sp>
        <p:nvSpPr>
          <p:cNvPr id="5060" name="TblCh2"/>
          <p:cNvSpPr txBox="1"/>
          <p:nvPr/>
        </p:nvSpPr>
        <p:spPr>
          <a:xfrm>
            <a:off x="609600" y="46609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0B1F3A"/>
                </a:solidFill>
                <a:latin typeface="Meiryo UI"/>
                <a:ea typeface="Meiryo UI"/>
              </a:rPr>
              <a:t>イベント / 展示会</a:t>
            </a:r>
          </a:p>
        </p:txBody>
      </p:sp>
      <p:sp>
        <p:nvSpPr>
          <p:cNvPr id="5061" name="ChBarBg2"/>
          <p:cNvSpPr/>
          <p:nvPr/>
        </p:nvSpPr>
        <p:spPr>
          <a:xfrm>
            <a:off x="2819400" y="4711700"/>
            <a:ext cx="1778000" cy="101600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62" name="ChBar2"/>
          <p:cNvSpPr/>
          <p:nvPr/>
        </p:nvSpPr>
        <p:spPr>
          <a:xfrm>
            <a:off x="2819400" y="4711700"/>
            <a:ext cx="8763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63" name="TblBudget2"/>
          <p:cNvSpPr txBox="1"/>
          <p:nvPr/>
        </p:nvSpPr>
        <p:spPr>
          <a:xfrm>
            <a:off x="4673600" y="46609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0B1F3A"/>
                </a:solidFill>
                <a:latin typeface="Meiryo UI"/>
              </a:rPr>
              <a:t>¥38万</a:t>
            </a:r>
          </a:p>
        </p:txBody>
      </p:sp>
      <p:sp>
        <p:nvSpPr>
          <p:cNvPr id="5064" name="TblPct2"/>
          <p:cNvSpPr txBox="1"/>
          <p:nvPr/>
        </p:nvSpPr>
        <p:spPr>
          <a:xfrm>
            <a:off x="5486400" y="4660900"/>
            <a:ext cx="53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100" dirty="0">
                <a:solidFill>
                  <a:srgbClr val="5A6B7E"/>
                </a:solidFill>
                <a:latin typeface="Meiryo UI"/>
              </a:rPr>
              <a:t>16%</a:t>
            </a:r>
          </a:p>
        </p:txBody>
      </p:sp>
      <p:sp>
        <p:nvSpPr>
          <p:cNvPr id="5065" name="TblMet2"/>
          <p:cNvSpPr txBox="1"/>
          <p:nvPr/>
        </p:nvSpPr>
        <p:spPr>
          <a:xfrm>
            <a:off x="6070600" y="46609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E67E22"/>
                </a:solidFill>
                <a:latin typeface="Meiryo UI"/>
                <a:ea typeface="Meiryo UI"/>
              </a:rPr>
              <a:t>CPA ¥15,000</a:t>
            </a:r>
          </a:p>
        </p:txBody>
      </p:sp>
      <p:sp>
        <p:nvSpPr>
          <p:cNvPr id="5066" name="TblPlan2"/>
          <p:cNvSpPr txBox="1"/>
          <p:nvPr/>
        </p:nvSpPr>
        <p:spPr>
          <a:xfrm>
            <a:off x="7277100" y="4660900"/>
            <a:ext cx="43053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国内2件 + 海外1件 出展</a:t>
            </a:r>
          </a:p>
        </p:txBody>
      </p:sp>
      <p:sp>
        <p:nvSpPr>
          <p:cNvPr id="5067" name="TblRowBg3"/>
          <p:cNvSpPr/>
          <p:nvPr/>
        </p:nvSpPr>
        <p:spPr>
          <a:xfrm>
            <a:off x="457200" y="4902200"/>
            <a:ext cx="11277600" cy="304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68" name="TblCh3"/>
          <p:cNvSpPr txBox="1"/>
          <p:nvPr/>
        </p:nvSpPr>
        <p:spPr>
          <a:xfrm>
            <a:off x="609600" y="49657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0B1F3A"/>
                </a:solidFill>
                <a:latin typeface="Meiryo UI"/>
                <a:ea typeface="Meiryo UI"/>
              </a:rPr>
              <a:t>インサイドセールス</a:t>
            </a:r>
          </a:p>
        </p:txBody>
      </p:sp>
      <p:sp>
        <p:nvSpPr>
          <p:cNvPr id="5069" name="ChBarBg3"/>
          <p:cNvSpPr/>
          <p:nvPr/>
        </p:nvSpPr>
        <p:spPr>
          <a:xfrm>
            <a:off x="2819400" y="5016500"/>
            <a:ext cx="1778000" cy="101600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70" name="ChBar3"/>
          <p:cNvSpPr/>
          <p:nvPr/>
        </p:nvSpPr>
        <p:spPr>
          <a:xfrm>
            <a:off x="2819400" y="5016500"/>
            <a:ext cx="787400" cy="10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71" name="TblBudget3"/>
          <p:cNvSpPr txBox="1"/>
          <p:nvPr/>
        </p:nvSpPr>
        <p:spPr>
          <a:xfrm>
            <a:off x="4673600" y="49657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0B1F3A"/>
                </a:solidFill>
                <a:latin typeface="Meiryo UI"/>
              </a:rPr>
              <a:t>¥34万</a:t>
            </a:r>
          </a:p>
        </p:txBody>
      </p:sp>
      <p:sp>
        <p:nvSpPr>
          <p:cNvPr id="5072" name="TblPct3"/>
          <p:cNvSpPr txBox="1"/>
          <p:nvPr/>
        </p:nvSpPr>
        <p:spPr>
          <a:xfrm>
            <a:off x="5486400" y="4965700"/>
            <a:ext cx="53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100" dirty="0">
                <a:solidFill>
                  <a:srgbClr val="5A6B7E"/>
                </a:solidFill>
                <a:latin typeface="Meiryo UI"/>
              </a:rPr>
              <a:t>14%</a:t>
            </a:r>
          </a:p>
        </p:txBody>
      </p:sp>
      <p:sp>
        <p:nvSpPr>
          <p:cNvPr id="5073" name="TblMet3"/>
          <p:cNvSpPr txBox="1"/>
          <p:nvPr/>
        </p:nvSpPr>
        <p:spPr>
          <a:xfrm>
            <a:off x="6070600" y="49657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8E44AD"/>
                </a:solidFill>
                <a:latin typeface="Meiryo UI"/>
                <a:ea typeface="Meiryo UI"/>
              </a:rPr>
              <a:t>商談化率 12%</a:t>
            </a:r>
          </a:p>
        </p:txBody>
      </p:sp>
      <p:sp>
        <p:nvSpPr>
          <p:cNvPr id="5074" name="TblPlan3"/>
          <p:cNvSpPr txBox="1"/>
          <p:nvPr/>
        </p:nvSpPr>
        <p:spPr>
          <a:xfrm>
            <a:off x="7277100" y="4965700"/>
            <a:ext cx="43053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3名体制 / ABMリスト300社</a:t>
            </a:r>
          </a:p>
        </p:txBody>
      </p:sp>
      <p:sp>
        <p:nvSpPr>
          <p:cNvPr id="5075" name="TblCh4"/>
          <p:cNvSpPr txBox="1"/>
          <p:nvPr/>
        </p:nvSpPr>
        <p:spPr>
          <a:xfrm>
            <a:off x="609600" y="52705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0B1F3A"/>
                </a:solidFill>
                <a:latin typeface="Meiryo UI"/>
                <a:ea typeface="Meiryo UI"/>
              </a:rPr>
              <a:t>パートナー / 紹介</a:t>
            </a:r>
          </a:p>
        </p:txBody>
      </p:sp>
      <p:sp>
        <p:nvSpPr>
          <p:cNvPr id="5076" name="ChBarBg4"/>
          <p:cNvSpPr/>
          <p:nvPr/>
        </p:nvSpPr>
        <p:spPr>
          <a:xfrm>
            <a:off x="2819400" y="5321300"/>
            <a:ext cx="1778000" cy="101600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77" name="ChBar4"/>
          <p:cNvSpPr/>
          <p:nvPr/>
        </p:nvSpPr>
        <p:spPr>
          <a:xfrm>
            <a:off x="2819400" y="5321300"/>
            <a:ext cx="6731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78" name="TblBudget4"/>
          <p:cNvSpPr txBox="1"/>
          <p:nvPr/>
        </p:nvSpPr>
        <p:spPr>
          <a:xfrm>
            <a:off x="4673600" y="5270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0B1F3A"/>
                </a:solidFill>
                <a:latin typeface="Meiryo UI"/>
              </a:rPr>
              <a:t>¥29万</a:t>
            </a:r>
          </a:p>
        </p:txBody>
      </p:sp>
      <p:sp>
        <p:nvSpPr>
          <p:cNvPr id="5079" name="TblPct4"/>
          <p:cNvSpPr txBox="1"/>
          <p:nvPr/>
        </p:nvSpPr>
        <p:spPr>
          <a:xfrm>
            <a:off x="5486400" y="5270500"/>
            <a:ext cx="53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100" dirty="0">
                <a:solidFill>
                  <a:srgbClr val="5A6B7E"/>
                </a:solidFill>
                <a:latin typeface="Meiryo UI"/>
              </a:rPr>
              <a:t>12%</a:t>
            </a:r>
          </a:p>
        </p:txBody>
      </p:sp>
      <p:sp>
        <p:nvSpPr>
          <p:cNvPr id="5080" name="TblMet4"/>
          <p:cNvSpPr txBox="1"/>
          <p:nvPr/>
        </p:nvSpPr>
        <p:spPr>
          <a:xfrm>
            <a:off x="6070600" y="52705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C0392B"/>
                </a:solidFill>
                <a:latin typeface="Meiryo UI"/>
                <a:ea typeface="Meiryo UI"/>
              </a:rPr>
              <a:t>ROAS 3.0x</a:t>
            </a:r>
          </a:p>
        </p:txBody>
      </p:sp>
      <p:sp>
        <p:nvSpPr>
          <p:cNvPr id="5081" name="TblPlan4"/>
          <p:cNvSpPr txBox="1"/>
          <p:nvPr/>
        </p:nvSpPr>
        <p:spPr>
          <a:xfrm>
            <a:off x="7277100" y="5270500"/>
            <a:ext cx="43053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代理店3社 + 既存顧客紹介</a:t>
            </a:r>
          </a:p>
        </p:txBody>
      </p:sp>
      <p:sp>
        <p:nvSpPr>
          <p:cNvPr id="5082" name="TblRowBg5"/>
          <p:cNvSpPr/>
          <p:nvPr/>
        </p:nvSpPr>
        <p:spPr>
          <a:xfrm>
            <a:off x="457200" y="5511800"/>
            <a:ext cx="11277600" cy="304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83" name="TblCh5"/>
          <p:cNvSpPr txBox="1"/>
          <p:nvPr/>
        </p:nvSpPr>
        <p:spPr>
          <a:xfrm>
            <a:off x="609600" y="5575300"/>
            <a:ext cx="2133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0B1F3A"/>
                </a:solidFill>
                <a:latin typeface="Meiryo UI"/>
                <a:ea typeface="Meiryo UI"/>
              </a:rPr>
              <a:t>ブランド / PR</a:t>
            </a:r>
          </a:p>
        </p:txBody>
      </p:sp>
      <p:sp>
        <p:nvSpPr>
          <p:cNvPr id="5084" name="ChBarBg5"/>
          <p:cNvSpPr/>
          <p:nvPr/>
        </p:nvSpPr>
        <p:spPr>
          <a:xfrm>
            <a:off x="2819400" y="5626100"/>
            <a:ext cx="1778000" cy="101600"/>
          </a:xfrm>
          <a:prstGeom prst="rect">
            <a:avLst/>
          </a:prstGeom>
          <a:solidFill>
            <a:srgbClr val="DDE3EB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85" name="ChBar5"/>
          <p:cNvSpPr/>
          <p:nvPr/>
        </p:nvSpPr>
        <p:spPr>
          <a:xfrm>
            <a:off x="2819400" y="5626100"/>
            <a:ext cx="317500" cy="101600"/>
          </a:xfrm>
          <a:prstGeom prst="rect">
            <a:avLst/>
          </a:prstGeom>
          <a:solidFill>
            <a:srgbClr val="8A95A3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86" name="TblBudget5"/>
          <p:cNvSpPr txBox="1"/>
          <p:nvPr/>
        </p:nvSpPr>
        <p:spPr>
          <a:xfrm>
            <a:off x="4673600" y="55753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0B1F3A"/>
                </a:solidFill>
                <a:latin typeface="Meiryo UI"/>
              </a:rPr>
              <a:t>¥14万</a:t>
            </a:r>
          </a:p>
        </p:txBody>
      </p:sp>
      <p:sp>
        <p:nvSpPr>
          <p:cNvPr id="5087" name="TblPct5"/>
          <p:cNvSpPr txBox="1"/>
          <p:nvPr/>
        </p:nvSpPr>
        <p:spPr>
          <a:xfrm>
            <a:off x="5486400" y="5575300"/>
            <a:ext cx="533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100" dirty="0">
                <a:solidFill>
                  <a:srgbClr val="5A6B7E"/>
                </a:solidFill>
                <a:latin typeface="Meiryo UI"/>
              </a:rPr>
              <a:t>6%</a:t>
            </a:r>
          </a:p>
        </p:txBody>
      </p:sp>
      <p:sp>
        <p:nvSpPr>
          <p:cNvPr id="5088" name="TblMet5"/>
          <p:cNvSpPr txBox="1"/>
          <p:nvPr/>
        </p:nvSpPr>
        <p:spPr>
          <a:xfrm>
            <a:off x="6070600" y="55753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b="1" dirty="0">
                <a:solidFill>
                  <a:srgbClr val="7F8C8D"/>
                </a:solidFill>
                <a:latin typeface="Meiryo UI"/>
                <a:ea typeface="Meiryo UI"/>
              </a:rPr>
              <a:t>認知率 +5pt</a:t>
            </a:r>
          </a:p>
        </p:txBody>
      </p:sp>
      <p:sp>
        <p:nvSpPr>
          <p:cNvPr id="5089" name="TblPlan5"/>
          <p:cNvSpPr txBox="1"/>
          <p:nvPr/>
        </p:nvSpPr>
        <p:spPr>
          <a:xfrm>
            <a:off x="7277100" y="5575300"/>
            <a:ext cx="43053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000" dirty="0">
                <a:solidFill>
                  <a:srgbClr val="5A6B7E"/>
                </a:solidFill>
                <a:latin typeface="Meiryo UI"/>
                <a:ea typeface="Meiryo UI"/>
              </a:rPr>
              <a:t>業界誌 / メディア露出</a:t>
            </a:r>
          </a:p>
        </p:txBody>
      </p:sp>
      <p:sp>
        <p:nvSpPr>
          <p:cNvPr id="5090" name="TotalDiv"/>
          <p:cNvSpPr/>
          <p:nvPr/>
        </p:nvSpPr>
        <p:spPr>
          <a:xfrm>
            <a:off x="457200" y="5842000"/>
            <a:ext cx="11277600" cy="127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91" name="TotalLbl"/>
          <p:cNvSpPr txBox="1"/>
          <p:nvPr/>
        </p:nvSpPr>
        <p:spPr>
          <a:xfrm>
            <a:off x="609600" y="59182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200" b="1" dirty="0">
                <a:solidFill>
                  <a:srgbClr val="0B1F3A"/>
                </a:solidFill>
                <a:latin typeface="Meiryo UI"/>
                <a:ea typeface="Meiryo UI"/>
              </a:rPr>
              <a:t>マーケ年間予算 合計</a:t>
            </a:r>
          </a:p>
        </p:txBody>
      </p:sp>
      <p:sp>
        <p:nvSpPr>
          <p:cNvPr id="5092" name="TotalBudget"/>
          <p:cNvSpPr txBox="1"/>
          <p:nvPr/>
        </p:nvSpPr>
        <p:spPr>
          <a:xfrm>
            <a:off x="4673600" y="59182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B1F3A"/>
                </a:solidFill>
                <a:latin typeface="Meiryo UI"/>
              </a:rPr>
              <a:t>¥240万</a:t>
            </a:r>
          </a:p>
        </p:txBody>
      </p:sp>
      <p:sp>
        <p:nvSpPr>
          <p:cNvPr id="5093" name="TotalPct"/>
          <p:cNvSpPr txBox="1"/>
          <p:nvPr/>
        </p:nvSpPr>
        <p:spPr>
          <a:xfrm>
            <a:off x="5486400" y="59182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1200" b="1" dirty="0">
                <a:solidFill>
                  <a:srgbClr val="5A6B7E"/>
                </a:solidFill>
                <a:latin typeface="Meiryo UI"/>
              </a:rPr>
              <a:t>100%</a:t>
            </a:r>
          </a:p>
        </p:txBody>
      </p:sp>
      <p:sp>
        <p:nvSpPr>
          <p:cNvPr id="5094" name="BottomStrap"/>
          <p:cNvSpPr/>
          <p:nvPr/>
        </p:nvSpPr>
        <p:spPr>
          <a:xfrm>
            <a:off x="457200" y="5905500"/>
            <a:ext cx="11277600" cy="635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95" name="BottomStrapAccent"/>
          <p:cNvSpPr/>
          <p:nvPr/>
        </p:nvSpPr>
        <p:spPr>
          <a:xfrm>
            <a:off x="457200" y="5905500"/>
            <a:ext cx="50800" cy="635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none" lIns="0" tIns="0" rIns="0" bIns="0"/>
          <a:lstStyle/>
          <a:p>
            <a:endParaRPr lang="ja-JP"/>
          </a:p>
        </p:txBody>
      </p:sp>
      <p:sp>
        <p:nvSpPr>
          <p:cNvPr id="5096" name="StrapLbl"/>
          <p:cNvSpPr txBox="1"/>
          <p:nvPr/>
        </p:nvSpPr>
        <p:spPr>
          <a:xfrm>
            <a:off x="711200" y="60071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100" dirty="0">
                <a:solidFill>
                  <a:srgbClr val="FFFFFF"/>
                </a:solidFill>
                <a:latin typeface="Meiryo UI"/>
                <a:ea typeface="Meiryo UI"/>
              </a:rPr>
              <a:t>初年度 (2026) 到達目標</a:t>
            </a:r>
          </a:p>
        </p:txBody>
      </p:sp>
      <p:sp>
        <p:nvSpPr>
          <p:cNvPr id="5097" name="StrapKpiLbl0"/>
          <p:cNvSpPr txBox="1"/>
          <p:nvPr/>
        </p:nvSpPr>
        <p:spPr>
          <a:xfrm>
            <a:off x="711200" y="62865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900" dirty="0">
                <a:solidFill>
                  <a:srgbClr val="8A95A3"/>
                </a:solidFill>
                <a:latin typeface="Meiryo UI"/>
                <a:ea typeface="Meiryo UI"/>
              </a:rPr>
              <a:t>ARR</a:t>
            </a:r>
          </a:p>
        </p:txBody>
      </p:sp>
      <p:sp>
        <p:nvSpPr>
          <p:cNvPr id="5098" name="StrapKpiVal0"/>
          <p:cNvSpPr txBox="1"/>
          <p:nvPr/>
        </p:nvSpPr>
        <p:spPr>
          <a:xfrm>
            <a:off x="1397000" y="62103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Meiryo UI"/>
              </a:rPr>
              <a:t>¥36M</a:t>
            </a:r>
          </a:p>
        </p:txBody>
      </p:sp>
      <p:sp>
        <p:nvSpPr>
          <p:cNvPr id="5099" name="StrapKpiLbl1"/>
          <p:cNvSpPr txBox="1"/>
          <p:nvPr/>
        </p:nvSpPr>
        <p:spPr>
          <a:xfrm>
            <a:off x="3556000" y="62865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900" dirty="0">
                <a:solidFill>
                  <a:srgbClr val="8A95A3"/>
                </a:solidFill>
                <a:latin typeface="Meiryo UI"/>
                <a:ea typeface="Meiryo UI"/>
              </a:rPr>
              <a:t>顧客数</a:t>
            </a:r>
          </a:p>
        </p:txBody>
      </p:sp>
      <p:sp>
        <p:nvSpPr>
          <p:cNvPr id="5100" name="StrapKpiVal1"/>
          <p:cNvSpPr txBox="1"/>
          <p:nvPr/>
        </p:nvSpPr>
        <p:spPr>
          <a:xfrm>
            <a:off x="4241800" y="62103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600" b="1" dirty="0">
                <a:solidFill>
                  <a:srgbClr val="FFFFFF"/>
                </a:solidFill>
                <a:latin typeface="Meiryo UI"/>
                <a:ea typeface="Meiryo UI"/>
              </a:rPr>
              <a:t>24社</a:t>
            </a:r>
          </a:p>
        </p:txBody>
      </p:sp>
      <p:sp>
        <p:nvSpPr>
          <p:cNvPr id="5101" name="StrapKpiLbl2"/>
          <p:cNvSpPr txBox="1"/>
          <p:nvPr/>
        </p:nvSpPr>
        <p:spPr>
          <a:xfrm>
            <a:off x="6096000" y="62865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900" dirty="0">
                <a:solidFill>
                  <a:srgbClr val="8A95A3"/>
                </a:solidFill>
                <a:latin typeface="Meiryo UI"/>
                <a:ea typeface="Meiryo UI"/>
              </a:rPr>
              <a:t>NRR</a:t>
            </a:r>
          </a:p>
        </p:txBody>
      </p:sp>
      <p:sp>
        <p:nvSpPr>
          <p:cNvPr id="5102" name="StrapKpiVal2"/>
          <p:cNvSpPr txBox="1"/>
          <p:nvPr/>
        </p:nvSpPr>
        <p:spPr>
          <a:xfrm>
            <a:off x="6781800" y="62103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Meiryo UI"/>
              </a:rPr>
              <a:t>110%</a:t>
            </a:r>
          </a:p>
        </p:txBody>
      </p:sp>
      <p:sp>
        <p:nvSpPr>
          <p:cNvPr id="5103" name="StrapKpiLbl3"/>
          <p:cNvSpPr txBox="1"/>
          <p:nvPr/>
        </p:nvSpPr>
        <p:spPr>
          <a:xfrm>
            <a:off x="8382000" y="62865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900" dirty="0">
                <a:solidFill>
                  <a:srgbClr val="8A95A3"/>
                </a:solidFill>
                <a:latin typeface="Meiryo UI"/>
                <a:ea typeface="Meiryo UI"/>
              </a:rPr>
              <a:t>LTV/CAC</a:t>
            </a:r>
          </a:p>
        </p:txBody>
      </p:sp>
      <p:sp>
        <p:nvSpPr>
          <p:cNvPr id="5104" name="StrapKpiVal3"/>
          <p:cNvSpPr txBox="1"/>
          <p:nvPr/>
        </p:nvSpPr>
        <p:spPr>
          <a:xfrm>
            <a:off x="9067800" y="62103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Meiryo UI"/>
              </a:rPr>
              <a:t>3.0x</a:t>
            </a:r>
          </a:p>
        </p:txBody>
      </p:sp>
    </p:spTree>
    <p:extLst>
      <p:ext uri="{BB962C8B-B14F-4D97-AF65-F5344CB8AC3E}">
        <p14:creationId xmlns:p14="http://schemas.microsoft.com/office/powerpoint/2010/main" val="58218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50575BF-4C21-804F-82D1-F1E79CC65422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9313308-AA1B-C049-9983-FECD29226F0A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実課金トラクション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2E9CD01-5EEE-3847-892F-BCB8AC493457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100">
                <a:solidFill>
                  <a:srgbClr val="5A6B7E"/>
                </a:solidFill>
                <a:latin typeface="Meiryo UI"/>
                <a:ea typeface="Meiryo UI"/>
              </a:rPr>
              <a:t>Pre-Launch Paid Traction — 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ローンチ前・無施策で外部有料課金 </a:t>
            </a:r>
            <a:r>
              <a:rPr lang="en-US" altLang="ja-JP" sz="1100">
                <a:solidFill>
                  <a:srgbClr val="5A6B7E"/>
                </a:solidFill>
                <a:latin typeface="Meiryo UI"/>
                <a:ea typeface="Meiryo UI"/>
              </a:rPr>
              <a:t>3 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件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C33ACF6-E4A8-144D-A35E-D339A70F4FD3}"/>
              </a:ext>
            </a:extLst>
          </p:cNvPr>
          <p:cNvSpPr txBox="1"/>
          <p:nvPr/>
        </p:nvSpPr>
        <p:spPr>
          <a:xfrm>
            <a:off x="11430000" y="6477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11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5310612-AE81-4442-B6A8-EAE32FCAB5D1}"/>
              </a:ext>
            </a:extLst>
          </p:cNvPr>
          <p:cNvSpPr/>
          <p:nvPr/>
        </p:nvSpPr>
        <p:spPr>
          <a:xfrm>
            <a:off x="457200" y="1397000"/>
            <a:ext cx="11277600" cy="11430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B88952A-5D3F-D24D-ABE6-F71D4A416C8A}"/>
              </a:ext>
            </a:extLst>
          </p:cNvPr>
          <p:cNvSpPr/>
          <p:nvPr/>
        </p:nvSpPr>
        <p:spPr>
          <a:xfrm>
            <a:off x="457200" y="1397000"/>
            <a:ext cx="50800" cy="1143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D36B9FA-1C48-A144-B244-1F8C9F657E48}"/>
              </a:ext>
            </a:extLst>
          </p:cNvPr>
          <p:cNvSpPr txBox="1"/>
          <p:nvPr/>
        </p:nvSpPr>
        <p:spPr>
          <a:xfrm>
            <a:off x="762000" y="15748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正式ローンチ前・広告ゼロ・営業ゼロの段階で、外部から有料課金 </a:t>
            </a:r>
            <a:r>
              <a:rPr lang="en-US" altLang="ja-JP" b="1">
                <a:solidFill>
                  <a:srgbClr val="0B1F3A"/>
                </a:solidFill>
                <a:latin typeface="Meiryo UI"/>
                <a:ea typeface="Meiryo UI"/>
              </a:rPr>
              <a:t>3 </a:t>
            </a:r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件が自然発生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33DD850-37DD-7542-A669-BE2D8A502F93}"/>
              </a:ext>
            </a:extLst>
          </p:cNvPr>
          <p:cNvSpPr txBox="1"/>
          <p:nvPr/>
        </p:nvSpPr>
        <p:spPr>
          <a:xfrm>
            <a:off x="762000" y="2006600"/>
            <a:ext cx="1079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>
                <a:solidFill>
                  <a:srgbClr val="5A6B7E"/>
                </a:solidFill>
                <a:latin typeface="Meiryo UI"/>
                <a:ea typeface="Meiryo UI"/>
              </a:rPr>
              <a:t>「作ったが誰も使わない」リスクの低い、市場に求められた事業である実証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820738F-75D0-0143-BC57-E9CD7B6D4005}"/>
              </a:ext>
            </a:extLst>
          </p:cNvPr>
          <p:cNvSpPr/>
          <p:nvPr/>
        </p:nvSpPr>
        <p:spPr>
          <a:xfrm>
            <a:off x="457200" y="2794000"/>
            <a:ext cx="5486400" cy="1905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1E477CE-35E7-4B40-8F6C-210F74BEAF48}"/>
              </a:ext>
            </a:extLst>
          </p:cNvPr>
          <p:cNvSpPr/>
          <p:nvPr/>
        </p:nvSpPr>
        <p:spPr>
          <a:xfrm>
            <a:off x="457200" y="2794000"/>
            <a:ext cx="5486400" cy="50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116750B-1E2A-7B43-967A-1C2094506242}"/>
              </a:ext>
            </a:extLst>
          </p:cNvPr>
          <p:cNvSpPr txBox="1"/>
          <p:nvPr/>
        </p:nvSpPr>
        <p:spPr>
          <a:xfrm>
            <a:off x="711200" y="3048000"/>
            <a:ext cx="4978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実課金 </a:t>
            </a:r>
            <a:r>
              <a:rPr lang="en" altLang="ja-JP" sz="1100">
                <a:solidFill>
                  <a:srgbClr val="8A95A3"/>
                </a:solidFill>
                <a:latin typeface="Meiryo UI"/>
                <a:ea typeface="Meiryo UI"/>
              </a:rPr>
              <a:t>MRR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F1D5377-D1C5-CF40-A47F-AD24584C880A}"/>
              </a:ext>
            </a:extLst>
          </p:cNvPr>
          <p:cNvSpPr txBox="1"/>
          <p:nvPr/>
        </p:nvSpPr>
        <p:spPr>
          <a:xfrm>
            <a:off x="711200" y="33274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800" b="1">
                <a:solidFill>
                  <a:srgbClr val="E63946"/>
                </a:solidFill>
                <a:latin typeface="Meiryo UI"/>
                <a:ea typeface="Meiryo UI"/>
              </a:rPr>
              <a:t>¥1,300</a:t>
            </a:r>
            <a:endParaRPr lang="ja-JP" altLang="en-US" sz="48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803CDE8-DA0F-1546-9052-01E3293936B9}"/>
              </a:ext>
            </a:extLst>
          </p:cNvPr>
          <p:cNvSpPr txBox="1"/>
          <p:nvPr/>
        </p:nvSpPr>
        <p:spPr>
          <a:xfrm>
            <a:off x="711200" y="4191000"/>
            <a:ext cx="4978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A3441"/>
                </a:solidFill>
                <a:latin typeface="Meiryo UI"/>
                <a:ea typeface="Meiryo UI"/>
              </a:rPr>
              <a:t>月額（チーム</a:t>
            </a:r>
            <a:r>
              <a:rPr lang="en-US" altLang="ja-JP" sz="1300">
                <a:solidFill>
                  <a:srgbClr val="2A3441"/>
                </a:solidFill>
                <a:latin typeface="Meiryo UI"/>
                <a:ea typeface="Meiryo UI"/>
              </a:rPr>
              <a:t>¥500 × 2 + </a:t>
            </a:r>
            <a:r>
              <a:rPr lang="ja-JP" altLang="en-US" sz="1300">
                <a:solidFill>
                  <a:srgbClr val="2A3441"/>
                </a:solidFill>
                <a:latin typeface="Meiryo UI"/>
                <a:ea typeface="Meiryo UI"/>
              </a:rPr>
              <a:t>配信者</a:t>
            </a:r>
            <a:r>
              <a:rPr lang="en-US" altLang="ja-JP" sz="1300">
                <a:solidFill>
                  <a:srgbClr val="2A3441"/>
                </a:solidFill>
                <a:latin typeface="Meiryo UI"/>
                <a:ea typeface="Meiryo UI"/>
              </a:rPr>
              <a:t>¥300 × 1</a:t>
            </a:r>
            <a:r>
              <a:rPr lang="ja-JP" altLang="en-US" sz="1300">
                <a:solidFill>
                  <a:srgbClr val="2A3441"/>
                </a:solidFill>
                <a:latin typeface="Meiryo UI"/>
                <a:ea typeface="Meiryo UI"/>
              </a:rPr>
              <a:t>）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6C206CB-7634-E345-96EF-A6589668A5E9}"/>
              </a:ext>
            </a:extLst>
          </p:cNvPr>
          <p:cNvSpPr/>
          <p:nvPr/>
        </p:nvSpPr>
        <p:spPr>
          <a:xfrm>
            <a:off x="6248400" y="2794000"/>
            <a:ext cx="5486400" cy="1905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48ED20D-9100-4240-B6F5-9CF25796374A}"/>
              </a:ext>
            </a:extLst>
          </p:cNvPr>
          <p:cNvSpPr txBox="1"/>
          <p:nvPr/>
        </p:nvSpPr>
        <p:spPr>
          <a:xfrm>
            <a:off x="6502400" y="3048000"/>
            <a:ext cx="4978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A5B0C0"/>
                </a:solidFill>
                <a:latin typeface="Meiryo UI"/>
                <a:ea typeface="Meiryo UI"/>
              </a:rPr>
              <a:t>実配信回数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36BB915-BA75-7F45-BD19-8AC40DC6AB3C}"/>
              </a:ext>
            </a:extLst>
          </p:cNvPr>
          <p:cNvSpPr txBox="1"/>
          <p:nvPr/>
        </p:nvSpPr>
        <p:spPr>
          <a:xfrm>
            <a:off x="6502400" y="33274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800" b="1">
                <a:solidFill>
                  <a:srgbClr val="FFFFFF"/>
                </a:solidFill>
                <a:latin typeface="Meiryo UI"/>
                <a:ea typeface="Meiryo UI"/>
              </a:rPr>
              <a:t>11</a:t>
            </a:r>
            <a:endParaRPr lang="ja-JP" altLang="en-US" sz="48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68DC866-CDE0-7542-B243-C7FA66AC6D46}"/>
              </a:ext>
            </a:extLst>
          </p:cNvPr>
          <p:cNvSpPr txBox="1"/>
          <p:nvPr/>
        </p:nvSpPr>
        <p:spPr>
          <a:xfrm>
            <a:off x="6502400" y="4191000"/>
            <a:ext cx="4978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FFFFFF"/>
                </a:solidFill>
                <a:latin typeface="Meiryo UI"/>
                <a:ea typeface="Meiryo UI"/>
              </a:rPr>
              <a:t>計</a:t>
            </a:r>
            <a:r>
              <a:rPr lang="en-US" altLang="ja-JP" sz="1300">
                <a:solidFill>
                  <a:srgbClr val="FFFFFF"/>
                </a:solidFill>
                <a:latin typeface="Meiryo UI"/>
                <a:ea typeface="Meiryo UI"/>
              </a:rPr>
              <a:t>11</a:t>
            </a:r>
            <a:r>
              <a:rPr lang="ja-JP" altLang="en-US" sz="1300">
                <a:solidFill>
                  <a:srgbClr val="FFFFFF"/>
                </a:solidFill>
                <a:latin typeface="Meiryo UI"/>
                <a:ea typeface="Meiryo UI"/>
              </a:rPr>
              <a:t>配信 全員が実際に試合配信に利用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896B20B-E0DA-8D41-809A-74EB54DAAF6A}"/>
              </a:ext>
            </a:extLst>
          </p:cNvPr>
          <p:cNvSpPr txBox="1"/>
          <p:nvPr/>
        </p:nvSpPr>
        <p:spPr>
          <a:xfrm>
            <a:off x="457200" y="49530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実証ポイント</a:t>
            </a:r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id="{0C8C4B23-968C-D345-9E82-52E33E967495}"/>
              </a:ext>
            </a:extLst>
          </p:cNvPr>
          <p:cNvSpPr/>
          <p:nvPr/>
        </p:nvSpPr>
        <p:spPr>
          <a:xfrm>
            <a:off x="457200" y="5334000"/>
            <a:ext cx="228600" cy="2286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2D15018-0C8A-AC4B-A6FB-49A2EACF9660}"/>
              </a:ext>
            </a:extLst>
          </p:cNvPr>
          <p:cNvSpPr txBox="1"/>
          <p:nvPr/>
        </p:nvSpPr>
        <p:spPr>
          <a:xfrm>
            <a:off x="812800" y="5308600"/>
            <a:ext cx="1079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Stripe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本番決済での課金が継続中・全員が実際に試合配信に利用（計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11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配信）</a:t>
            </a:r>
          </a:p>
        </p:txBody>
      </p:sp>
      <p:sp>
        <p:nvSpPr>
          <p:cNvPr id="39" name="円/楕円 38">
            <a:extLst>
              <a:ext uri="{FF2B5EF4-FFF2-40B4-BE49-F238E27FC236}">
                <a16:creationId xmlns:a16="http://schemas.microsoft.com/office/drawing/2014/main" id="{2E4ACA01-22BB-994D-9887-359981A89C08}"/>
              </a:ext>
            </a:extLst>
          </p:cNvPr>
          <p:cNvSpPr/>
          <p:nvPr/>
        </p:nvSpPr>
        <p:spPr>
          <a:xfrm>
            <a:off x="457200" y="5715000"/>
            <a:ext cx="228600" cy="2286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401D562C-E277-A34D-A0F3-D61521A6EE44}"/>
              </a:ext>
            </a:extLst>
          </p:cNvPr>
          <p:cNvSpPr txBox="1"/>
          <p:nvPr/>
        </p:nvSpPr>
        <p:spPr>
          <a:xfrm>
            <a:off x="812800" y="5689600"/>
            <a:ext cx="1079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うち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2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件は地域の子どもスポーツチーム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—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ターゲット層そのものが自発的に発見・課金</a:t>
            </a:r>
          </a:p>
        </p:txBody>
      </p:sp>
      <p:sp>
        <p:nvSpPr>
          <p:cNvPr id="41" name="円/楕円 40">
            <a:extLst>
              <a:ext uri="{FF2B5EF4-FFF2-40B4-BE49-F238E27FC236}">
                <a16:creationId xmlns:a16="http://schemas.microsoft.com/office/drawing/2014/main" id="{95B90F44-4DE5-3B4E-916B-36DBAA5719C7}"/>
              </a:ext>
            </a:extLst>
          </p:cNvPr>
          <p:cNvSpPr/>
          <p:nvPr/>
        </p:nvSpPr>
        <p:spPr>
          <a:xfrm>
            <a:off x="457200" y="6096000"/>
            <a:ext cx="228600" cy="2286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4AA76F1-6273-6C4D-B813-BA9E68D941C5}"/>
              </a:ext>
            </a:extLst>
          </p:cNvPr>
          <p:cNvSpPr txBox="1"/>
          <p:nvPr/>
        </p:nvSpPr>
        <p:spPr>
          <a:xfrm>
            <a:off x="812800" y="6070600"/>
            <a:ext cx="1079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5/21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オーナー確認時点。</a:t>
            </a:r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Stripe</a:t>
            </a:r>
            <a:r>
              <a:rPr lang="ja-JP" altLang="en" sz="1200">
                <a:solidFill>
                  <a:srgbClr val="2A3441"/>
                </a:solidFill>
                <a:latin typeface="Meiryo UI"/>
                <a:ea typeface="Meiryo UI"/>
              </a:rPr>
              <a:t>・</a:t>
            </a:r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Supabase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記録にて実在確認可能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433A0CC-06C7-8E49-92BD-E37E8C9A2C6A}"/>
              </a:ext>
            </a:extLst>
          </p:cNvPr>
          <p:cNvSpPr txBox="1"/>
          <p:nvPr/>
        </p:nvSpPr>
        <p:spPr>
          <a:xfrm>
            <a:off x="457200" y="6502400"/>
            <a:ext cx="1079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個人情報保護のため氏名・チーム名は匿名化／</a:t>
            </a:r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Stripe</a:t>
            </a:r>
            <a:r>
              <a:rPr lang="ja-JP" altLang="en" sz="900">
                <a:solidFill>
                  <a:srgbClr val="8A95A3"/>
                </a:solidFill>
                <a:latin typeface="Meiryo UI"/>
                <a:ea typeface="Meiryo UI"/>
              </a:rPr>
              <a:t>・</a:t>
            </a:r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Supabase</a:t>
            </a:r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記録にて当社確認</a:t>
            </a:r>
          </a:p>
        </p:txBody>
      </p:sp>
    </p:spTree>
    <p:extLst>
      <p:ext uri="{BB962C8B-B14F-4D97-AF65-F5344CB8AC3E}">
        <p14:creationId xmlns:p14="http://schemas.microsoft.com/office/powerpoint/2010/main" val="4205427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8351FFCC-F778-C448-810D-00A9D7ECD17E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58C2327-592A-994F-8413-4681168A5295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開発実績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86C63CF-BED7-2141-940D-DD4ABD73A6D1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本番稼働中 </a:t>
            </a:r>
            <a:r>
              <a:rPr lang="en-US" altLang="ja-JP" sz="1100">
                <a:solidFill>
                  <a:srgbClr val="5A6B7E"/>
                </a:solidFill>
                <a:latin typeface="Meiryo UI"/>
                <a:ea typeface="Meiryo UI"/>
              </a:rPr>
              <a:t>— 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直近 </a:t>
            </a:r>
            <a:r>
              <a:rPr lang="en-US" altLang="ja-JP" sz="1100">
                <a:solidFill>
                  <a:srgbClr val="5A6B7E"/>
                </a:solidFill>
                <a:latin typeface="Meiryo UI"/>
                <a:ea typeface="Meiryo UI"/>
              </a:rPr>
              <a:t>50 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日で計 </a:t>
            </a:r>
            <a:r>
              <a:rPr lang="en-US" altLang="ja-JP" sz="1100">
                <a:solidFill>
                  <a:srgbClr val="5A6B7E"/>
                </a:solidFill>
                <a:latin typeface="Meiryo UI"/>
                <a:ea typeface="Meiryo UI"/>
              </a:rPr>
              <a:t>127 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件 </a:t>
            </a:r>
            <a:r>
              <a:rPr lang="en" altLang="ja-JP" sz="1100">
                <a:solidFill>
                  <a:srgbClr val="5A6B7E"/>
                </a:solidFill>
                <a:latin typeface="Meiryo UI"/>
                <a:ea typeface="Meiryo UI"/>
              </a:rPr>
              <a:t>PR 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マージ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5902FBE-DDD9-5C45-A493-A23520F02445}"/>
              </a:ext>
            </a:extLst>
          </p:cNvPr>
          <p:cNvSpPr txBox="1"/>
          <p:nvPr/>
        </p:nvSpPr>
        <p:spPr>
          <a:xfrm>
            <a:off x="11430000" y="6477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12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850E1CA-F4CE-7645-8ED7-1246BD474468}"/>
              </a:ext>
            </a:extLst>
          </p:cNvPr>
          <p:cNvSpPr/>
          <p:nvPr/>
        </p:nvSpPr>
        <p:spPr>
          <a:xfrm>
            <a:off x="457200" y="1397000"/>
            <a:ext cx="11277600" cy="7620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C00A7B1-DF45-144C-A157-586DF7859949}"/>
              </a:ext>
            </a:extLst>
          </p:cNvPr>
          <p:cNvSpPr txBox="1"/>
          <p:nvPr/>
        </p:nvSpPr>
        <p:spPr>
          <a:xfrm>
            <a:off x="711200" y="157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本番稼働状況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F546392-B0C1-7644-AAEC-54D4F11BA57F}"/>
              </a:ext>
            </a:extLst>
          </p:cNvPr>
          <p:cNvSpPr txBox="1"/>
          <p:nvPr/>
        </p:nvSpPr>
        <p:spPr>
          <a:xfrm>
            <a:off x="711200" y="1803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本番稼働 </a:t>
            </a:r>
            <a:r>
              <a:rPr lang="en-US" altLang="ja-JP" sz="1400" b="1">
                <a:solidFill>
                  <a:srgbClr val="0B1F3A"/>
                </a:solidFill>
                <a:latin typeface="Meiryo UI"/>
                <a:ea typeface="Meiryo UI"/>
              </a:rPr>
              <a:t>100%</a:t>
            </a:r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（基盤完成・細部仕上げ完了）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F2BCDEA1-552C-E44B-9ED6-C471288F040E}"/>
              </a:ext>
            </a:extLst>
          </p:cNvPr>
          <p:cNvSpPr txBox="1"/>
          <p:nvPr/>
        </p:nvSpPr>
        <p:spPr>
          <a:xfrm>
            <a:off x="6350000" y="15748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本番</a:t>
            </a:r>
            <a:r>
              <a:rPr lang="en" altLang="ja-JP" sz="1100">
                <a:solidFill>
                  <a:srgbClr val="8A95A3"/>
                </a:solidFill>
                <a:latin typeface="Meiryo UI"/>
                <a:ea typeface="Meiryo UI"/>
              </a:rPr>
              <a:t>URL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7744229-107E-9341-9D4E-3244F59FFF8E}"/>
              </a:ext>
            </a:extLst>
          </p:cNvPr>
          <p:cNvSpPr txBox="1"/>
          <p:nvPr/>
        </p:nvSpPr>
        <p:spPr>
          <a:xfrm>
            <a:off x="6350000" y="1803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E63946"/>
                </a:solidFill>
                <a:latin typeface="Meiryo UI"/>
                <a:ea typeface="Meiryo UI"/>
              </a:rPr>
              <a:t>live-spotch.com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B97534F-6626-3B4A-824A-6323DA083A24}"/>
              </a:ext>
            </a:extLst>
          </p:cNvPr>
          <p:cNvSpPr txBox="1"/>
          <p:nvPr/>
        </p:nvSpPr>
        <p:spPr>
          <a:xfrm>
            <a:off x="9144000" y="15748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本番稼働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0D482272-684F-004D-8FEC-7405283C8C0F}"/>
              </a:ext>
            </a:extLst>
          </p:cNvPr>
          <p:cNvSpPr txBox="1"/>
          <p:nvPr/>
        </p:nvSpPr>
        <p:spPr>
          <a:xfrm>
            <a:off x="9144000" y="1803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0B1F3A"/>
                </a:solidFill>
                <a:latin typeface="Meiryo UI"/>
                <a:ea typeface="Meiryo UI"/>
              </a:rPr>
              <a:t>2026/4/19 〜</a:t>
            </a:r>
            <a:endParaRPr lang="ja-JP" altLang="en-US" sz="14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26841947-930A-C64D-9E94-28479F704126}"/>
              </a:ext>
            </a:extLst>
          </p:cNvPr>
          <p:cNvSpPr txBox="1"/>
          <p:nvPr/>
        </p:nvSpPr>
        <p:spPr>
          <a:xfrm>
            <a:off x="457200" y="24130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直近 </a:t>
            </a:r>
            <a:r>
              <a:rPr lang="en-US" altLang="ja-JP" sz="1400" b="1">
                <a:solidFill>
                  <a:srgbClr val="0B1F3A"/>
                </a:solidFill>
                <a:latin typeface="Meiryo UI"/>
                <a:ea typeface="Meiryo UI"/>
              </a:rPr>
              <a:t>50 </a:t>
            </a:r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日（</a:t>
            </a:r>
            <a:r>
              <a:rPr lang="en-US" altLang="ja-JP" sz="1400" b="1">
                <a:solidFill>
                  <a:srgbClr val="0B1F3A"/>
                </a:solidFill>
                <a:latin typeface="Meiryo UI"/>
                <a:ea typeface="Meiryo UI"/>
              </a:rPr>
              <a:t>4/9–5/29</a:t>
            </a:r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）</a:t>
            </a:r>
            <a:r>
              <a:rPr lang="en" altLang="ja-JP" sz="1400" b="1">
                <a:solidFill>
                  <a:srgbClr val="0B1F3A"/>
                </a:solidFill>
                <a:latin typeface="Meiryo UI"/>
                <a:ea typeface="Meiryo UI"/>
              </a:rPr>
              <a:t>PR </a:t>
            </a:r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内訳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F8C225E-E089-0541-A593-ED3213A17F39}"/>
              </a:ext>
            </a:extLst>
          </p:cNvPr>
          <p:cNvSpPr/>
          <p:nvPr/>
        </p:nvSpPr>
        <p:spPr>
          <a:xfrm>
            <a:off x="457200" y="2819400"/>
            <a:ext cx="6858000" cy="3479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E1929E1-1E45-D144-AD3E-630C46C4B550}"/>
              </a:ext>
            </a:extLst>
          </p:cNvPr>
          <p:cNvSpPr txBox="1"/>
          <p:nvPr/>
        </p:nvSpPr>
        <p:spPr>
          <a:xfrm>
            <a:off x="711200" y="2946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インフラ・セキュリティ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1809B42-161A-A148-8F5C-A84E18DB5144}"/>
              </a:ext>
            </a:extLst>
          </p:cNvPr>
          <p:cNvSpPr txBox="1"/>
          <p:nvPr/>
        </p:nvSpPr>
        <p:spPr>
          <a:xfrm>
            <a:off x="5791200" y="29464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0B1F3A"/>
                </a:solidFill>
                <a:latin typeface="Meiryo UI"/>
                <a:ea typeface="Meiryo UI"/>
              </a:rPr>
              <a:t>18 </a:t>
            </a:r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件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5ADECC04-6321-564A-9E1D-69AA40D40C11}"/>
              </a:ext>
            </a:extLst>
          </p:cNvPr>
          <p:cNvSpPr/>
          <p:nvPr/>
        </p:nvSpPr>
        <p:spPr>
          <a:xfrm>
            <a:off x="469900" y="3302000"/>
            <a:ext cx="6832600" cy="4064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479D7CCA-6BFE-EA4D-B5FC-6DE4F141627B}"/>
              </a:ext>
            </a:extLst>
          </p:cNvPr>
          <p:cNvSpPr txBox="1"/>
          <p:nvPr/>
        </p:nvSpPr>
        <p:spPr>
          <a:xfrm>
            <a:off x="711200" y="3352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配信品質改善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(</a:t>
            </a:r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A/V drift /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カメラ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/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音声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)</a:t>
            </a:r>
            <a:endParaRPr lang="ja-JP" altLang="en-US" sz="1200">
              <a:solidFill>
                <a:srgbClr val="2A3441"/>
              </a:solidFill>
              <a:latin typeface="Meiryo UI"/>
              <a:ea typeface="Meiryo UI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2AF182A-861D-A54B-AB9A-2596A974858D}"/>
              </a:ext>
            </a:extLst>
          </p:cNvPr>
          <p:cNvSpPr txBox="1"/>
          <p:nvPr/>
        </p:nvSpPr>
        <p:spPr>
          <a:xfrm>
            <a:off x="5791200" y="33528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0B1F3A"/>
                </a:solidFill>
                <a:latin typeface="Meiryo UI"/>
                <a:ea typeface="Meiryo UI"/>
              </a:rPr>
              <a:t>28 </a:t>
            </a:r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件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8B46F5C7-C380-7B43-B2AB-16887E0BBB2E}"/>
              </a:ext>
            </a:extLst>
          </p:cNvPr>
          <p:cNvSpPr txBox="1"/>
          <p:nvPr/>
        </p:nvSpPr>
        <p:spPr>
          <a:xfrm>
            <a:off x="711200" y="3759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YouTube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連携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(</a:t>
            </a:r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OAuth / Live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同時配信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)</a:t>
            </a:r>
            <a:endParaRPr lang="ja-JP" altLang="en-US" sz="1200">
              <a:solidFill>
                <a:srgbClr val="2A3441"/>
              </a:solidFill>
              <a:latin typeface="Meiryo UI"/>
              <a:ea typeface="Meiryo UI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0FECB4C-6962-204B-A49D-3B292B78711A}"/>
              </a:ext>
            </a:extLst>
          </p:cNvPr>
          <p:cNvSpPr txBox="1"/>
          <p:nvPr/>
        </p:nvSpPr>
        <p:spPr>
          <a:xfrm>
            <a:off x="5791200" y="37592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0B1F3A"/>
                </a:solidFill>
                <a:latin typeface="Meiryo UI"/>
                <a:ea typeface="Meiryo UI"/>
              </a:rPr>
              <a:t>19 </a:t>
            </a:r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件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1843A0C9-CEFA-3A48-98A3-5AB7A3A506E0}"/>
              </a:ext>
            </a:extLst>
          </p:cNvPr>
          <p:cNvSpPr/>
          <p:nvPr/>
        </p:nvSpPr>
        <p:spPr>
          <a:xfrm>
            <a:off x="469900" y="4114800"/>
            <a:ext cx="6832600" cy="4064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BC30B75D-CB57-B343-9615-9D3732B82470}"/>
              </a:ext>
            </a:extLst>
          </p:cNvPr>
          <p:cNvSpPr txBox="1"/>
          <p:nvPr/>
        </p:nvSpPr>
        <p:spPr>
          <a:xfrm>
            <a:off x="711200" y="4165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決済・課金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(</a:t>
            </a:r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Stripe)</a:t>
            </a:r>
            <a:endParaRPr lang="ja-JP" altLang="en-US" sz="1200">
              <a:solidFill>
                <a:srgbClr val="2A3441"/>
              </a:solidFill>
              <a:latin typeface="Meiryo UI"/>
              <a:ea typeface="Meiryo UI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E1539CCE-C6C7-5B41-9681-61CEC55B5763}"/>
              </a:ext>
            </a:extLst>
          </p:cNvPr>
          <p:cNvSpPr txBox="1"/>
          <p:nvPr/>
        </p:nvSpPr>
        <p:spPr>
          <a:xfrm>
            <a:off x="5791200" y="41656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0B1F3A"/>
                </a:solidFill>
                <a:latin typeface="Meiryo UI"/>
                <a:ea typeface="Meiryo UI"/>
              </a:rPr>
              <a:t>8 </a:t>
            </a:r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件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DB4C8600-9B6D-5341-B25B-04146F88B663}"/>
              </a:ext>
            </a:extLst>
          </p:cNvPr>
          <p:cNvSpPr txBox="1"/>
          <p:nvPr/>
        </p:nvSpPr>
        <p:spPr>
          <a:xfrm>
            <a:off x="711200" y="4572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UI/UX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改善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(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モバイル含む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)</a:t>
            </a:r>
            <a:endParaRPr lang="ja-JP" altLang="en-US" sz="1200">
              <a:solidFill>
                <a:srgbClr val="2A3441"/>
              </a:solidFill>
              <a:latin typeface="Meiryo UI"/>
              <a:ea typeface="Meiryo UI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249E25E-9DEB-6646-AD63-4587046A3641}"/>
              </a:ext>
            </a:extLst>
          </p:cNvPr>
          <p:cNvSpPr txBox="1"/>
          <p:nvPr/>
        </p:nvSpPr>
        <p:spPr>
          <a:xfrm>
            <a:off x="5791200" y="45720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0B1F3A"/>
                </a:solidFill>
                <a:latin typeface="Meiryo UI"/>
                <a:ea typeface="Meiryo UI"/>
              </a:rPr>
              <a:t>31 </a:t>
            </a:r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件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A73E764C-3B23-E74C-8185-5EA4019F86F5}"/>
              </a:ext>
            </a:extLst>
          </p:cNvPr>
          <p:cNvSpPr/>
          <p:nvPr/>
        </p:nvSpPr>
        <p:spPr>
          <a:xfrm>
            <a:off x="469900" y="4927600"/>
            <a:ext cx="6832600" cy="4064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B4C5185B-5134-2F49-BDFC-EFE7720B7C95}"/>
              </a:ext>
            </a:extLst>
          </p:cNvPr>
          <p:cNvSpPr txBox="1"/>
          <p:nvPr/>
        </p:nvSpPr>
        <p:spPr>
          <a:xfrm>
            <a:off x="711200" y="4978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運用堅牢化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45E93579-9661-284C-BEDB-4E4D6B3DABB4}"/>
              </a:ext>
            </a:extLst>
          </p:cNvPr>
          <p:cNvSpPr txBox="1"/>
          <p:nvPr/>
        </p:nvSpPr>
        <p:spPr>
          <a:xfrm>
            <a:off x="5791200" y="49784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0B1F3A"/>
                </a:solidFill>
                <a:latin typeface="Meiryo UI"/>
                <a:ea typeface="Meiryo UI"/>
              </a:rPr>
              <a:t>6 </a:t>
            </a:r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件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D745253E-883C-5A4B-9C69-833FBC938173}"/>
              </a:ext>
            </a:extLst>
          </p:cNvPr>
          <p:cNvSpPr txBox="1"/>
          <p:nvPr/>
        </p:nvSpPr>
        <p:spPr>
          <a:xfrm>
            <a:off x="711200" y="5384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その他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(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依存更新・ドキュメント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)</a:t>
            </a:r>
            <a:endParaRPr lang="ja-JP" altLang="en-US" sz="1200">
              <a:solidFill>
                <a:srgbClr val="2A3441"/>
              </a:solidFill>
              <a:latin typeface="Meiryo UI"/>
              <a:ea typeface="Meiryo UI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DF24EB18-9637-7F4D-A2A8-541305B743EA}"/>
              </a:ext>
            </a:extLst>
          </p:cNvPr>
          <p:cNvSpPr txBox="1"/>
          <p:nvPr/>
        </p:nvSpPr>
        <p:spPr>
          <a:xfrm>
            <a:off x="5791200" y="53848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0B1F3A"/>
                </a:solidFill>
                <a:latin typeface="Meiryo UI"/>
                <a:ea typeface="Meiryo UI"/>
              </a:rPr>
              <a:t>17 </a:t>
            </a:r>
            <a:r>
              <a:rPr lang="ja-JP" altLang="en-US" sz="1300" b="1">
                <a:solidFill>
                  <a:srgbClr val="0B1F3A"/>
                </a:solidFill>
                <a:latin typeface="Meiryo UI"/>
                <a:ea typeface="Meiryo UI"/>
              </a:rPr>
              <a:t>件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7434CBEB-3F4E-3F4E-872C-47EDF4BB71E7}"/>
              </a:ext>
            </a:extLst>
          </p:cNvPr>
          <p:cNvSpPr/>
          <p:nvPr/>
        </p:nvSpPr>
        <p:spPr>
          <a:xfrm>
            <a:off x="469900" y="5816600"/>
            <a:ext cx="6832600" cy="4318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0F90A3FC-BA43-A046-AD1D-19D8D14BA061}"/>
              </a:ext>
            </a:extLst>
          </p:cNvPr>
          <p:cNvSpPr txBox="1"/>
          <p:nvPr/>
        </p:nvSpPr>
        <p:spPr>
          <a:xfrm>
            <a:off x="711200" y="58801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  <a:latin typeface="Meiryo UI"/>
                <a:ea typeface="Meiryo UI"/>
              </a:rPr>
              <a:t>【</a:t>
            </a:r>
            <a:r>
              <a:rPr lang="ja-JP" altLang="en-US" sz="1300" b="1">
                <a:solidFill>
                  <a:srgbClr val="FFFFFF"/>
                </a:solidFill>
                <a:latin typeface="Meiryo UI"/>
                <a:ea typeface="Meiryo UI"/>
              </a:rPr>
              <a:t>合計</a:t>
            </a:r>
            <a:r>
              <a:rPr lang="en-US" altLang="ja-JP" sz="1300" b="1">
                <a:solidFill>
                  <a:srgbClr val="FFFFFF"/>
                </a:solidFill>
                <a:latin typeface="Meiryo UI"/>
                <a:ea typeface="Meiryo UI"/>
              </a:rPr>
              <a:t>】</a:t>
            </a:r>
            <a:endParaRPr lang="ja-JP" altLang="en-US" sz="13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5113799F-B0B4-C749-AE47-CB70673D6D54}"/>
              </a:ext>
            </a:extLst>
          </p:cNvPr>
          <p:cNvSpPr txBox="1"/>
          <p:nvPr/>
        </p:nvSpPr>
        <p:spPr>
          <a:xfrm>
            <a:off x="5791200" y="5880100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Meiryo UI"/>
                <a:ea typeface="Meiryo UI"/>
              </a:rPr>
              <a:t>127 </a:t>
            </a:r>
            <a:r>
              <a:rPr lang="ja-JP" altLang="en-US" sz="1600" b="1">
                <a:solidFill>
                  <a:srgbClr val="FFFFFF"/>
                </a:solidFill>
                <a:latin typeface="Meiryo UI"/>
                <a:ea typeface="Meiryo UI"/>
              </a:rPr>
              <a:t>件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D04C1F05-F46E-EF40-9BD0-0C4D0F137127}"/>
              </a:ext>
            </a:extLst>
          </p:cNvPr>
          <p:cNvSpPr txBox="1"/>
          <p:nvPr/>
        </p:nvSpPr>
        <p:spPr>
          <a:xfrm>
            <a:off x="7569200" y="2413000"/>
            <a:ext cx="4165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0B1F3A"/>
                </a:solidFill>
                <a:latin typeface="Meiryo UI"/>
                <a:ea typeface="Meiryo UI"/>
              </a:rPr>
              <a:t>5</a:t>
            </a:r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月 ローンチ準備マイルストーン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7199085B-134E-B346-BC35-EC2C23DACD68}"/>
              </a:ext>
            </a:extLst>
          </p:cNvPr>
          <p:cNvSpPr/>
          <p:nvPr/>
        </p:nvSpPr>
        <p:spPr>
          <a:xfrm>
            <a:off x="7569200" y="2819400"/>
            <a:ext cx="4165600" cy="3479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8" name="円/楕円 77">
            <a:extLst>
              <a:ext uri="{FF2B5EF4-FFF2-40B4-BE49-F238E27FC236}">
                <a16:creationId xmlns:a16="http://schemas.microsoft.com/office/drawing/2014/main" id="{3815A8C1-9340-3141-B91F-80D11A67ADFB}"/>
              </a:ext>
            </a:extLst>
          </p:cNvPr>
          <p:cNvSpPr/>
          <p:nvPr/>
        </p:nvSpPr>
        <p:spPr>
          <a:xfrm>
            <a:off x="7823200" y="3048000"/>
            <a:ext cx="279400" cy="279400"/>
          </a:xfrm>
          <a:prstGeom prst="ellipse">
            <a:avLst/>
          </a:prstGeom>
          <a:solidFill>
            <a:srgbClr val="E63946"/>
          </a:solidFill>
          <a:ln w="0" cap="flat" cmpd="sng" algn="ctr">
            <a:solidFill>
              <a:srgbClr val="E6394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49AEA62C-16B8-AD41-B46F-ABD90A2C2A54}"/>
              </a:ext>
            </a:extLst>
          </p:cNvPr>
          <p:cNvSpPr txBox="1"/>
          <p:nvPr/>
        </p:nvSpPr>
        <p:spPr>
          <a:xfrm>
            <a:off x="8229600" y="2997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000" b="1">
                <a:solidFill>
                  <a:srgbClr val="8A95A3"/>
                </a:solidFill>
                <a:latin typeface="Meiryo UI"/>
                <a:ea typeface="Meiryo UI"/>
              </a:rPr>
              <a:t>14 / 17</a:t>
            </a:r>
            <a:endParaRPr lang="ja-JP" altLang="en-US" sz="1000" b="1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41D854F4-FE57-244D-B788-74D215A584D7}"/>
              </a:ext>
            </a:extLst>
          </p:cNvPr>
          <p:cNvSpPr txBox="1"/>
          <p:nvPr/>
        </p:nvSpPr>
        <p:spPr>
          <a:xfrm>
            <a:off x="8229600" y="3175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2A3441"/>
                </a:solidFill>
                <a:latin typeface="Meiryo UI"/>
                <a:ea typeface="Meiryo UI"/>
              </a:rPr>
              <a:t>大会 </a:t>
            </a:r>
            <a:r>
              <a:rPr lang="en-US" altLang="ja-JP" sz="1200" b="1">
                <a:solidFill>
                  <a:srgbClr val="2A3441"/>
                </a:solidFill>
                <a:latin typeface="Meiryo UI"/>
                <a:ea typeface="Meiryo UI"/>
              </a:rPr>
              <a:t>53 </a:t>
            </a:r>
            <a:r>
              <a:rPr lang="ja-JP" altLang="en-US" sz="1200" b="1">
                <a:solidFill>
                  <a:srgbClr val="2A3441"/>
                </a:solidFill>
                <a:latin typeface="Meiryo UI"/>
                <a:ea typeface="Meiryo UI"/>
              </a:rPr>
              <a:t>分配信完走</a:t>
            </a:r>
          </a:p>
        </p:txBody>
      </p:sp>
      <p:sp>
        <p:nvSpPr>
          <p:cNvPr id="81" name="円/楕円 80">
            <a:extLst>
              <a:ext uri="{FF2B5EF4-FFF2-40B4-BE49-F238E27FC236}">
                <a16:creationId xmlns:a16="http://schemas.microsoft.com/office/drawing/2014/main" id="{669BFD62-084D-5742-B565-076402A22685}"/>
              </a:ext>
            </a:extLst>
          </p:cNvPr>
          <p:cNvSpPr/>
          <p:nvPr/>
        </p:nvSpPr>
        <p:spPr>
          <a:xfrm>
            <a:off x="7823200" y="3683000"/>
            <a:ext cx="279400" cy="279400"/>
          </a:xfrm>
          <a:prstGeom prst="ellipse">
            <a:avLst/>
          </a:prstGeom>
          <a:solidFill>
            <a:srgbClr val="E63946"/>
          </a:solidFill>
          <a:ln w="0" cap="flat" cmpd="sng" algn="ctr">
            <a:solidFill>
              <a:srgbClr val="E6394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3F550806-E6AF-C14F-8A8C-712C15FB7A03}"/>
              </a:ext>
            </a:extLst>
          </p:cNvPr>
          <p:cNvSpPr txBox="1"/>
          <p:nvPr/>
        </p:nvSpPr>
        <p:spPr>
          <a:xfrm>
            <a:off x="8229600" y="3632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000" b="1">
                <a:solidFill>
                  <a:srgbClr val="8A95A3"/>
                </a:solidFill>
                <a:latin typeface="Meiryo UI"/>
                <a:ea typeface="Meiryo UI"/>
              </a:rPr>
              <a:t>14 / 17</a:t>
            </a:r>
            <a:endParaRPr lang="ja-JP" altLang="en-US" sz="1000" b="1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6DAB4C80-24FF-1047-97FE-AE97D0383A67}"/>
              </a:ext>
            </a:extLst>
          </p:cNvPr>
          <p:cNvSpPr txBox="1"/>
          <p:nvPr/>
        </p:nvSpPr>
        <p:spPr>
          <a:xfrm>
            <a:off x="8229600" y="3810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200" b="1">
                <a:solidFill>
                  <a:srgbClr val="2A3441"/>
                </a:solidFill>
                <a:latin typeface="Meiryo UI"/>
                <a:ea typeface="Meiryo UI"/>
              </a:rPr>
              <a:t>Google OAuth </a:t>
            </a:r>
            <a:r>
              <a:rPr lang="ja-JP" altLang="en-US" sz="1200" b="1">
                <a:solidFill>
                  <a:srgbClr val="2A3441"/>
                </a:solidFill>
                <a:latin typeface="Meiryo UI"/>
                <a:ea typeface="Meiryo UI"/>
              </a:rPr>
              <a:t>認定通過</a:t>
            </a:r>
          </a:p>
        </p:txBody>
      </p:sp>
      <p:sp>
        <p:nvSpPr>
          <p:cNvPr id="84" name="円/楕円 83">
            <a:extLst>
              <a:ext uri="{FF2B5EF4-FFF2-40B4-BE49-F238E27FC236}">
                <a16:creationId xmlns:a16="http://schemas.microsoft.com/office/drawing/2014/main" id="{ACC4CB76-35A6-2D47-9C25-973B00948E0C}"/>
              </a:ext>
            </a:extLst>
          </p:cNvPr>
          <p:cNvSpPr/>
          <p:nvPr/>
        </p:nvSpPr>
        <p:spPr>
          <a:xfrm>
            <a:off x="7823200" y="4318000"/>
            <a:ext cx="279400" cy="279400"/>
          </a:xfrm>
          <a:prstGeom prst="ellipse">
            <a:avLst/>
          </a:prstGeom>
          <a:solidFill>
            <a:srgbClr val="E63946"/>
          </a:solidFill>
          <a:ln w="0" cap="flat" cmpd="sng" algn="ctr">
            <a:solidFill>
              <a:srgbClr val="E6394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10CEF68E-356C-5B44-8CFA-4DEBB4DD539E}"/>
              </a:ext>
            </a:extLst>
          </p:cNvPr>
          <p:cNvSpPr txBox="1"/>
          <p:nvPr/>
        </p:nvSpPr>
        <p:spPr>
          <a:xfrm>
            <a:off x="8229600" y="4267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000" b="1">
                <a:solidFill>
                  <a:srgbClr val="8A95A3"/>
                </a:solidFill>
                <a:latin typeface="Meiryo UI"/>
                <a:ea typeface="Meiryo UI"/>
              </a:rPr>
              <a:t>14 / 17</a:t>
            </a:r>
            <a:endParaRPr lang="ja-JP" altLang="en-US" sz="1000" b="1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800A1184-FE82-204E-B48C-390419B763E6}"/>
              </a:ext>
            </a:extLst>
          </p:cNvPr>
          <p:cNvSpPr txBox="1"/>
          <p:nvPr/>
        </p:nvSpPr>
        <p:spPr>
          <a:xfrm>
            <a:off x="8229600" y="4445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2A3441"/>
                </a:solidFill>
                <a:latin typeface="Meiryo UI"/>
                <a:ea typeface="Meiryo UI"/>
              </a:rPr>
              <a:t>外部有料 </a:t>
            </a:r>
            <a:r>
              <a:rPr lang="en-US" altLang="ja-JP" sz="1200" b="1">
                <a:solidFill>
                  <a:srgbClr val="2A3441"/>
                </a:solidFill>
                <a:latin typeface="Meiryo UI"/>
                <a:ea typeface="Meiryo UI"/>
              </a:rPr>
              <a:t>3 </a:t>
            </a:r>
            <a:r>
              <a:rPr lang="ja-JP" altLang="en-US" sz="1200" b="1">
                <a:solidFill>
                  <a:srgbClr val="2A3441"/>
                </a:solidFill>
                <a:latin typeface="Meiryo UI"/>
                <a:ea typeface="Meiryo UI"/>
              </a:rPr>
              <a:t>件 課金確認</a:t>
            </a:r>
          </a:p>
        </p:txBody>
      </p:sp>
      <p:sp>
        <p:nvSpPr>
          <p:cNvPr id="87" name="円/楕円 86">
            <a:extLst>
              <a:ext uri="{FF2B5EF4-FFF2-40B4-BE49-F238E27FC236}">
                <a16:creationId xmlns:a16="http://schemas.microsoft.com/office/drawing/2014/main" id="{7D0C6332-F6E6-EF47-B5DE-4AF401592F98}"/>
              </a:ext>
            </a:extLst>
          </p:cNvPr>
          <p:cNvSpPr/>
          <p:nvPr/>
        </p:nvSpPr>
        <p:spPr>
          <a:xfrm>
            <a:off x="7823200" y="4953000"/>
            <a:ext cx="279400" cy="279400"/>
          </a:xfrm>
          <a:prstGeom prst="ellipse">
            <a:avLst/>
          </a:prstGeom>
          <a:solidFill>
            <a:srgbClr val="E63946"/>
          </a:solidFill>
          <a:ln w="0" cap="flat" cmpd="sng" algn="ctr">
            <a:solidFill>
              <a:srgbClr val="E6394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76725889-CFD0-F746-93AA-983005A96A8C}"/>
              </a:ext>
            </a:extLst>
          </p:cNvPr>
          <p:cNvSpPr txBox="1"/>
          <p:nvPr/>
        </p:nvSpPr>
        <p:spPr>
          <a:xfrm>
            <a:off x="8229600" y="4902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000" b="1">
                <a:solidFill>
                  <a:srgbClr val="8A95A3"/>
                </a:solidFill>
                <a:latin typeface="Meiryo UI"/>
                <a:ea typeface="Meiryo UI"/>
              </a:rPr>
              <a:t>5月下旬</a:t>
            </a:r>
            <a:endParaRPr lang="ja-JP" altLang="en-US" sz="1000" b="1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7112D1D4-4EEA-DF43-B15D-A0795570756D}"/>
              </a:ext>
            </a:extLst>
          </p:cNvPr>
          <p:cNvSpPr txBox="1"/>
          <p:nvPr/>
        </p:nvSpPr>
        <p:spPr>
          <a:xfrm>
            <a:off x="8229600" y="5080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2A3441"/>
                </a:solidFill>
                <a:latin typeface="Meiryo UI"/>
                <a:ea typeface="Meiryo UI"/>
              </a:rPr>
              <a:t>視聴・モバイル・依存 一括改善</a:t>
            </a:r>
          </a:p>
        </p:txBody>
      </p:sp>
      <p:sp>
        <p:nvSpPr>
          <p:cNvPr id="90" name="円/楕円 89">
            <a:extLst>
              <a:ext uri="{FF2B5EF4-FFF2-40B4-BE49-F238E27FC236}">
                <a16:creationId xmlns:a16="http://schemas.microsoft.com/office/drawing/2014/main" id="{8E110010-5DBF-4943-886E-C72B59312F17}"/>
              </a:ext>
            </a:extLst>
          </p:cNvPr>
          <p:cNvSpPr/>
          <p:nvPr/>
        </p:nvSpPr>
        <p:spPr>
          <a:xfrm>
            <a:off x="7823200" y="5588000"/>
            <a:ext cx="279400" cy="2794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E6394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100" b="1">
                <a:solidFill>
                  <a:srgbClr val="E63946"/>
                </a:solidFill>
              </a:rPr>
              <a:t>5</a:t>
            </a:r>
            <a:endParaRPr lang="ja-JP" altLang="en-US" sz="1100" b="1">
              <a:solidFill>
                <a:srgbClr val="E63946"/>
              </a:solidFill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6B79CA8A-4256-5A4D-87BD-18958A2FBB85}"/>
              </a:ext>
            </a:extLst>
          </p:cNvPr>
          <p:cNvSpPr txBox="1"/>
          <p:nvPr/>
        </p:nvSpPr>
        <p:spPr>
          <a:xfrm>
            <a:off x="8229600" y="5537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000" b="1">
                <a:solidFill>
                  <a:srgbClr val="8A95A3"/>
                </a:solidFill>
                <a:latin typeface="Meiryo UI"/>
                <a:ea typeface="Meiryo UI"/>
              </a:rPr>
              <a:t>6</a:t>
            </a:r>
            <a:r>
              <a:rPr lang="ja-JP" altLang="en-US" sz="1000" b="1">
                <a:solidFill>
                  <a:srgbClr val="8A95A3"/>
                </a:solidFill>
                <a:latin typeface="Meiryo UI"/>
                <a:ea typeface="Meiryo UI"/>
              </a:rPr>
              <a:t>月中旬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CF733ECA-0DA8-7043-922D-4B8702D39638}"/>
              </a:ext>
            </a:extLst>
          </p:cNvPr>
          <p:cNvSpPr txBox="1"/>
          <p:nvPr/>
        </p:nvSpPr>
        <p:spPr>
          <a:xfrm>
            <a:off x="8229600" y="5715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2A3441"/>
                </a:solidFill>
                <a:latin typeface="Meiryo UI"/>
                <a:ea typeface="Meiryo UI"/>
              </a:rPr>
              <a:t>正式ローンチ </a:t>
            </a:r>
            <a:r>
              <a:rPr lang="en-US" altLang="ja-JP" sz="1200" b="1">
                <a:solidFill>
                  <a:srgbClr val="2A3441"/>
                </a:solidFill>
                <a:latin typeface="Meiryo UI"/>
                <a:ea typeface="Meiryo UI"/>
              </a:rPr>
              <a:t>+ </a:t>
            </a:r>
            <a:r>
              <a:rPr lang="ja-JP" altLang="en-US" sz="1200" b="1">
                <a:solidFill>
                  <a:srgbClr val="2A3441"/>
                </a:solidFill>
                <a:latin typeface="Meiryo UI"/>
                <a:ea typeface="Meiryo UI"/>
              </a:rPr>
              <a:t>広告開始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DD20FDCA-25A0-A041-AD0B-540B694033FA}"/>
              </a:ext>
            </a:extLst>
          </p:cNvPr>
          <p:cNvSpPr txBox="1"/>
          <p:nvPr/>
        </p:nvSpPr>
        <p:spPr>
          <a:xfrm>
            <a:off x="457200" y="6477000"/>
            <a:ext cx="10795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PR: Pull Request</a:t>
            </a:r>
            <a:r>
              <a:rPr lang="ja-JP" altLang="en" sz="900">
                <a:solidFill>
                  <a:srgbClr val="8A95A3"/>
                </a:solidFill>
                <a:latin typeface="Meiryo UI"/>
                <a:ea typeface="Meiryo UI"/>
              </a:rPr>
              <a:t>（</a:t>
            </a:r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コード変更の本番反映単位）／本番稼働＝</a:t>
            </a:r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live-spotch.com </a:t>
            </a:r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上で実機運用中</a:t>
            </a:r>
          </a:p>
        </p:txBody>
      </p:sp>
    </p:spTree>
    <p:extLst>
      <p:ext uri="{BB962C8B-B14F-4D97-AF65-F5344CB8AC3E}">
        <p14:creationId xmlns:p14="http://schemas.microsoft.com/office/powerpoint/2010/main" val="3946559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0ACD2BF-CE3A-464A-B2B6-217715F7C18A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3D35C2F-DD61-224F-A5DB-A3EB28C3F6F5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知的財産・参入障壁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E2ADABF-8D29-D348-B40C-6FF64768457D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100">
                <a:solidFill>
                  <a:srgbClr val="5A6B7E"/>
                </a:solidFill>
                <a:latin typeface="Meiryo UI"/>
                <a:ea typeface="Meiryo UI"/>
              </a:rPr>
              <a:t>IP &amp; Competitive Moat — 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模倣困難な</a:t>
            </a:r>
            <a:r>
              <a:rPr lang="en-US" altLang="ja-JP" sz="1100">
                <a:solidFill>
                  <a:srgbClr val="5A6B7E"/>
                </a:solidFill>
                <a:latin typeface="Meiryo UI"/>
                <a:ea typeface="Meiryo UI"/>
              </a:rPr>
              <a:t>4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つの優位性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F514365-5A02-814B-B910-884837877967}"/>
              </a:ext>
            </a:extLst>
          </p:cNvPr>
          <p:cNvSpPr txBox="1"/>
          <p:nvPr/>
        </p:nvSpPr>
        <p:spPr>
          <a:xfrm>
            <a:off x="11430000" y="6477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13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F0AC2B2-A000-3A41-8637-7DE6376B57D1}"/>
              </a:ext>
            </a:extLst>
          </p:cNvPr>
          <p:cNvSpPr/>
          <p:nvPr/>
        </p:nvSpPr>
        <p:spPr>
          <a:xfrm>
            <a:off x="457200" y="1397000"/>
            <a:ext cx="11277600" cy="762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67FCABF-CCCE-DD46-A855-C286C4D4010A}"/>
              </a:ext>
            </a:extLst>
          </p:cNvPr>
          <p:cNvSpPr txBox="1"/>
          <p:nvPr/>
        </p:nvSpPr>
        <p:spPr>
          <a:xfrm>
            <a:off x="762000" y="1574800"/>
            <a:ext cx="1079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" sz="1600" b="1">
                <a:solidFill>
                  <a:srgbClr val="FFFFFF"/>
                </a:solidFill>
                <a:latin typeface="Meiryo UI"/>
                <a:ea typeface="Meiryo UI"/>
              </a:rPr>
              <a:t>「</a:t>
            </a:r>
            <a:r>
              <a:rPr lang="en" altLang="ja-JP" sz="1600" b="1">
                <a:solidFill>
                  <a:srgbClr val="FFFFFF"/>
                </a:solidFill>
                <a:latin typeface="Meiryo UI"/>
                <a:ea typeface="Meiryo UI"/>
              </a:rPr>
              <a:t>LIVE SPOtCH</a:t>
            </a:r>
            <a:r>
              <a:rPr lang="ja-JP" altLang="en" sz="1600" b="1">
                <a:solidFill>
                  <a:srgbClr val="FFFFFF"/>
                </a:solidFill>
                <a:latin typeface="Meiryo UI"/>
                <a:ea typeface="Meiryo UI"/>
              </a:rPr>
              <a:t>」</a:t>
            </a:r>
            <a:r>
              <a:rPr lang="ja-JP" altLang="en-US" sz="1600" b="1">
                <a:solidFill>
                  <a:srgbClr val="FFFFFF"/>
                </a:solidFill>
                <a:latin typeface="Meiryo UI"/>
                <a:ea typeface="Meiryo UI"/>
              </a:rPr>
              <a:t>を持続的に独自ポジションへ押し上げる</a:t>
            </a:r>
            <a:r>
              <a:rPr lang="en-US" altLang="ja-JP" sz="1600" b="1">
                <a:solidFill>
                  <a:srgbClr val="FFFFFF"/>
                </a:solidFill>
                <a:latin typeface="Meiryo UI"/>
                <a:ea typeface="Meiryo UI"/>
              </a:rPr>
              <a:t>4</a:t>
            </a:r>
            <a:r>
              <a:rPr lang="ja-JP" altLang="en-US" sz="1600" b="1">
                <a:solidFill>
                  <a:srgbClr val="FFFFFF"/>
                </a:solidFill>
                <a:latin typeface="Meiryo UI"/>
                <a:ea typeface="Meiryo UI"/>
              </a:rPr>
              <a:t>つの構造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D508A20-B520-E343-8651-807FB1744535}"/>
              </a:ext>
            </a:extLst>
          </p:cNvPr>
          <p:cNvSpPr txBox="1"/>
          <p:nvPr/>
        </p:nvSpPr>
        <p:spPr>
          <a:xfrm>
            <a:off x="762000" y="18542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A5B0C0"/>
                </a:solidFill>
                <a:latin typeface="Meiryo UI"/>
                <a:ea typeface="Meiryo UI"/>
              </a:rPr>
              <a:t>ブランド </a:t>
            </a:r>
            <a:r>
              <a:rPr lang="en-US" altLang="ja-JP" sz="1100">
                <a:solidFill>
                  <a:srgbClr val="A5B0C0"/>
                </a:solidFill>
                <a:latin typeface="Meiryo UI"/>
                <a:ea typeface="Meiryo UI"/>
              </a:rPr>
              <a:t>× </a:t>
            </a:r>
            <a:r>
              <a:rPr lang="ja-JP" altLang="en-US" sz="1100">
                <a:solidFill>
                  <a:srgbClr val="A5B0C0"/>
                </a:solidFill>
                <a:latin typeface="Meiryo UI"/>
                <a:ea typeface="Meiryo UI"/>
              </a:rPr>
              <a:t>技術 </a:t>
            </a:r>
            <a:r>
              <a:rPr lang="en-US" altLang="ja-JP" sz="1100">
                <a:solidFill>
                  <a:srgbClr val="A5B0C0"/>
                </a:solidFill>
                <a:latin typeface="Meiryo UI"/>
                <a:ea typeface="Meiryo UI"/>
              </a:rPr>
              <a:t>× </a:t>
            </a:r>
            <a:r>
              <a:rPr lang="ja-JP" altLang="en-US" sz="1100">
                <a:solidFill>
                  <a:srgbClr val="A5B0C0"/>
                </a:solidFill>
                <a:latin typeface="Meiryo UI"/>
                <a:ea typeface="Meiryo UI"/>
              </a:rPr>
              <a:t>ネットワーク </a:t>
            </a:r>
            <a:r>
              <a:rPr lang="en-US" altLang="ja-JP" sz="1100">
                <a:solidFill>
                  <a:srgbClr val="A5B0C0"/>
                </a:solidFill>
                <a:latin typeface="Meiryo UI"/>
                <a:ea typeface="Meiryo UI"/>
              </a:rPr>
              <a:t>× </a:t>
            </a:r>
            <a:r>
              <a:rPr lang="ja-JP" altLang="en-US" sz="1100">
                <a:solidFill>
                  <a:srgbClr val="A5B0C0"/>
                </a:solidFill>
                <a:latin typeface="Meiryo UI"/>
                <a:ea typeface="Meiryo UI"/>
              </a:rPr>
              <a:t>ノウハウの掛け算で、後発参入を構造的に困難に。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D0A2AF8-58B0-F14C-8750-1DE6D371B2CA}"/>
              </a:ext>
            </a:extLst>
          </p:cNvPr>
          <p:cNvSpPr/>
          <p:nvPr/>
        </p:nvSpPr>
        <p:spPr>
          <a:xfrm>
            <a:off x="457200" y="2540000"/>
            <a:ext cx="2667000" cy="355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1184D03-CEF4-7940-A12B-787C23C67ED7}"/>
              </a:ext>
            </a:extLst>
          </p:cNvPr>
          <p:cNvSpPr/>
          <p:nvPr/>
        </p:nvSpPr>
        <p:spPr>
          <a:xfrm>
            <a:off x="457200" y="2540000"/>
            <a:ext cx="2667000" cy="50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2" name="円/楕円 31">
            <a:extLst>
              <a:ext uri="{FF2B5EF4-FFF2-40B4-BE49-F238E27FC236}">
                <a16:creationId xmlns:a16="http://schemas.microsoft.com/office/drawing/2014/main" id="{D41D2AE2-ECB4-8A4B-A484-96803093A27C}"/>
              </a:ext>
            </a:extLst>
          </p:cNvPr>
          <p:cNvSpPr/>
          <p:nvPr/>
        </p:nvSpPr>
        <p:spPr>
          <a:xfrm>
            <a:off x="1435100" y="2921000"/>
            <a:ext cx="711200" cy="711200"/>
          </a:xfrm>
          <a:prstGeom prst="ellipse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2000" b="1">
                <a:solidFill>
                  <a:srgbClr val="E63946"/>
                </a:solidFill>
                <a:latin typeface="Meiryo UI"/>
                <a:ea typeface="Meiryo UI"/>
              </a:rPr>
              <a:t>TM</a:t>
            </a:r>
            <a:endParaRPr lang="ja-JP" altLang="en-US" sz="20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A905829-DE90-334C-89CA-0FBBEA0A92D5}"/>
              </a:ext>
            </a:extLst>
          </p:cNvPr>
          <p:cNvSpPr txBox="1"/>
          <p:nvPr/>
        </p:nvSpPr>
        <p:spPr>
          <a:xfrm>
            <a:off x="660400" y="3937000"/>
            <a:ext cx="2260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商標登録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DF25636-BA31-2542-88B2-EB34721FDE40}"/>
              </a:ext>
            </a:extLst>
          </p:cNvPr>
          <p:cNvSpPr txBox="1"/>
          <p:nvPr/>
        </p:nvSpPr>
        <p:spPr>
          <a:xfrm>
            <a:off x="660400" y="4445000"/>
            <a:ext cx="22606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" sz="1200">
                <a:solidFill>
                  <a:srgbClr val="2A3441"/>
                </a:solidFill>
                <a:latin typeface="Meiryo UI"/>
                <a:ea typeface="Meiryo UI"/>
              </a:rPr>
              <a:t>「</a:t>
            </a:r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LIVE SPOtCH</a:t>
            </a:r>
            <a:r>
              <a:rPr lang="ja-JP" altLang="en" sz="1200">
                <a:solidFill>
                  <a:srgbClr val="2A3441"/>
                </a:solidFill>
                <a:latin typeface="Meiryo UI"/>
                <a:ea typeface="Meiryo UI"/>
              </a:rPr>
              <a:t>」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の商標出願を予定。サービス名のブランド保護。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8734368-74B7-2F49-AEA2-62A897987438}"/>
              </a:ext>
            </a:extLst>
          </p:cNvPr>
          <p:cNvSpPr/>
          <p:nvPr/>
        </p:nvSpPr>
        <p:spPr>
          <a:xfrm>
            <a:off x="3378200" y="2540000"/>
            <a:ext cx="2667000" cy="355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ECF0F592-4734-EF40-82F2-E8EC950E5F16}"/>
              </a:ext>
            </a:extLst>
          </p:cNvPr>
          <p:cNvSpPr/>
          <p:nvPr/>
        </p:nvSpPr>
        <p:spPr>
          <a:xfrm>
            <a:off x="3378200" y="2540000"/>
            <a:ext cx="2667000" cy="508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id="{B3ECF2C5-0B47-A349-8B0D-724C12943D11}"/>
              </a:ext>
            </a:extLst>
          </p:cNvPr>
          <p:cNvSpPr/>
          <p:nvPr/>
        </p:nvSpPr>
        <p:spPr>
          <a:xfrm>
            <a:off x="4356100" y="2921000"/>
            <a:ext cx="711200" cy="711200"/>
          </a:xfrm>
          <a:prstGeom prst="ellipse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0B1F3A"/>
                </a:solidFill>
                <a:latin typeface="Meiryo UI"/>
                <a:ea typeface="Meiryo UI"/>
              </a:rPr>
              <a:t>Pat.</a:t>
            </a:r>
            <a:endParaRPr lang="ja-JP" altLang="en-US" sz="14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E089AD3-883A-AB47-8278-B5B1126AB979}"/>
              </a:ext>
            </a:extLst>
          </p:cNvPr>
          <p:cNvSpPr txBox="1"/>
          <p:nvPr/>
        </p:nvSpPr>
        <p:spPr>
          <a:xfrm>
            <a:off x="3581400" y="3937000"/>
            <a:ext cx="2260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特許出願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31C4B1F-D7EF-E441-A195-A878FCADDF6E}"/>
              </a:ext>
            </a:extLst>
          </p:cNvPr>
          <p:cNvSpPr txBox="1"/>
          <p:nvPr/>
        </p:nvSpPr>
        <p:spPr>
          <a:xfrm>
            <a:off x="3581400" y="4445000"/>
            <a:ext cx="22606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スコアオーバーレイ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×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ライブ配信 </a:t>
            </a:r>
            <a:r>
              <a:rPr lang="en-US" altLang="ja-JP" sz="1200">
                <a:solidFill>
                  <a:srgbClr val="2A3441"/>
                </a:solidFill>
                <a:latin typeface="Meiryo UI"/>
                <a:ea typeface="Meiryo UI"/>
              </a:rPr>
              <a:t>×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スポーツルールエンジンの組み合わせ技術について特許出願を検討。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B92BC1F-FE77-3846-BA5F-2363FE4452E9}"/>
              </a:ext>
            </a:extLst>
          </p:cNvPr>
          <p:cNvSpPr/>
          <p:nvPr/>
        </p:nvSpPr>
        <p:spPr>
          <a:xfrm>
            <a:off x="6299200" y="2540000"/>
            <a:ext cx="2667000" cy="355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6B913C7-B8CE-6E44-B98A-28FA59802512}"/>
              </a:ext>
            </a:extLst>
          </p:cNvPr>
          <p:cNvSpPr/>
          <p:nvPr/>
        </p:nvSpPr>
        <p:spPr>
          <a:xfrm>
            <a:off x="6299200" y="2540000"/>
            <a:ext cx="2667000" cy="50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2" name="円/楕円 41">
            <a:extLst>
              <a:ext uri="{FF2B5EF4-FFF2-40B4-BE49-F238E27FC236}">
                <a16:creationId xmlns:a16="http://schemas.microsoft.com/office/drawing/2014/main" id="{FC140A9F-8AAE-B94A-BED1-27281D4B79CB}"/>
              </a:ext>
            </a:extLst>
          </p:cNvPr>
          <p:cNvSpPr/>
          <p:nvPr/>
        </p:nvSpPr>
        <p:spPr>
          <a:xfrm>
            <a:off x="7277100" y="2921000"/>
            <a:ext cx="711200" cy="711200"/>
          </a:xfrm>
          <a:prstGeom prst="ellipse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E63946"/>
                </a:solidFill>
                <a:latin typeface="Meiryo UI"/>
                <a:ea typeface="Meiryo UI"/>
              </a:rPr>
              <a:t>No.1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8386AB5-25B0-194C-A3D4-DA0EC06A2A0F}"/>
              </a:ext>
            </a:extLst>
          </p:cNvPr>
          <p:cNvSpPr txBox="1"/>
          <p:nvPr/>
        </p:nvSpPr>
        <p:spPr>
          <a:xfrm>
            <a:off x="6502400" y="3937000"/>
            <a:ext cx="2260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先行者優位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7AD8A6A-AE05-6F4C-B0B3-231A5AA6FA56}"/>
              </a:ext>
            </a:extLst>
          </p:cNvPr>
          <p:cNvSpPr txBox="1"/>
          <p:nvPr/>
        </p:nvSpPr>
        <p:spPr>
          <a:xfrm>
            <a:off x="6502400" y="4445000"/>
            <a:ext cx="22606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ネットワーク効果：チーム単位で普及→先に広がった側が勝つ。</a:t>
            </a:r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UGC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の蓄積が参入障壁になる。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B477E1C-2AA9-5C45-89AE-E909ECFE651F}"/>
              </a:ext>
            </a:extLst>
          </p:cNvPr>
          <p:cNvSpPr/>
          <p:nvPr/>
        </p:nvSpPr>
        <p:spPr>
          <a:xfrm>
            <a:off x="9220200" y="2540000"/>
            <a:ext cx="2667000" cy="355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279810F-7FF0-E147-A742-4BE9CA14DAF1}"/>
              </a:ext>
            </a:extLst>
          </p:cNvPr>
          <p:cNvSpPr/>
          <p:nvPr/>
        </p:nvSpPr>
        <p:spPr>
          <a:xfrm>
            <a:off x="9220200" y="2540000"/>
            <a:ext cx="2667000" cy="508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7" name="円/楕円 46">
            <a:extLst>
              <a:ext uri="{FF2B5EF4-FFF2-40B4-BE49-F238E27FC236}">
                <a16:creationId xmlns:a16="http://schemas.microsoft.com/office/drawing/2014/main" id="{A59C7A28-8A4E-3F4C-99A2-36BECF75B80C}"/>
              </a:ext>
            </a:extLst>
          </p:cNvPr>
          <p:cNvSpPr/>
          <p:nvPr/>
        </p:nvSpPr>
        <p:spPr>
          <a:xfrm>
            <a:off x="10198100" y="2921000"/>
            <a:ext cx="711200" cy="711200"/>
          </a:xfrm>
          <a:prstGeom prst="ellipse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2000" b="1">
                <a:solidFill>
                  <a:srgbClr val="0B1F3A"/>
                </a:solidFill>
                <a:latin typeface="Meiryo UI"/>
                <a:ea typeface="Meiryo UI"/>
              </a:rPr>
              <a:t>AI</a:t>
            </a:r>
            <a:endParaRPr lang="ja-JP" altLang="en-US" sz="2000" b="1">
              <a:solidFill>
                <a:srgbClr val="0B1F3A"/>
              </a:solidFill>
              <a:latin typeface="Meiryo UI"/>
              <a:ea typeface="Meiryo UI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8EDD8A07-116B-EB4C-A297-BD2BA7207543}"/>
              </a:ext>
            </a:extLst>
          </p:cNvPr>
          <p:cNvSpPr txBox="1"/>
          <p:nvPr/>
        </p:nvSpPr>
        <p:spPr>
          <a:xfrm>
            <a:off x="9423400" y="3937000"/>
            <a:ext cx="2260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b="1">
                <a:solidFill>
                  <a:srgbClr val="0B1F3A"/>
                </a:solidFill>
                <a:latin typeface="Meiryo UI"/>
                <a:ea typeface="Meiryo UI"/>
              </a:rPr>
              <a:t>AI</a:t>
            </a:r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技術蓄積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100F4A4-65E4-5D4A-AAE1-9DDAD8516C88}"/>
              </a:ext>
            </a:extLst>
          </p:cNvPr>
          <p:cNvSpPr txBox="1"/>
          <p:nvPr/>
        </p:nvSpPr>
        <p:spPr>
          <a:xfrm>
            <a:off x="9423400" y="4445000"/>
            <a:ext cx="22606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将来のマルチカメラ </a:t>
            </a:r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AI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自動切替、</a:t>
            </a:r>
            <a:r>
              <a:rPr lang="en" altLang="ja-JP" sz="1200">
                <a:solidFill>
                  <a:srgbClr val="2A3441"/>
                </a:solidFill>
                <a:latin typeface="Meiryo UI"/>
                <a:ea typeface="Meiryo UI"/>
              </a:rPr>
              <a:t>AI </a:t>
            </a:r>
            <a:r>
              <a:rPr lang="ja-JP" altLang="en-US" sz="1200">
                <a:solidFill>
                  <a:srgbClr val="2A3441"/>
                </a:solidFill>
                <a:latin typeface="Meiryo UI"/>
                <a:ea typeface="Meiryo UI"/>
              </a:rPr>
              <a:t>ハイライト自動生成など独自の技術蓄積を計画。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B6E3FB6E-6097-8A4B-982C-207A2F60BFC3}"/>
              </a:ext>
            </a:extLst>
          </p:cNvPr>
          <p:cNvSpPr txBox="1"/>
          <p:nvPr/>
        </p:nvSpPr>
        <p:spPr>
          <a:xfrm>
            <a:off x="457200" y="6477000"/>
            <a:ext cx="10795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Moat: </a:t>
            </a:r>
            <a:r>
              <a:rPr lang="ja-JP" altLang="en" sz="900">
                <a:solidFill>
                  <a:srgbClr val="8A95A3"/>
                </a:solidFill>
                <a:latin typeface="Meiryo UI"/>
                <a:ea typeface="Meiryo UI"/>
              </a:rPr>
              <a:t>「</a:t>
            </a:r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堀」のように事業を競合から守る構造的な強み／</a:t>
            </a:r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UGC: User Generated Content</a:t>
            </a:r>
            <a:r>
              <a:rPr lang="ja-JP" altLang="en" sz="900">
                <a:solidFill>
                  <a:srgbClr val="8A95A3"/>
                </a:solidFill>
                <a:latin typeface="Meiryo UI"/>
                <a:ea typeface="Meiryo UI"/>
              </a:rPr>
              <a:t>（</a:t>
            </a:r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ユーザー生成コンテンツ）</a:t>
            </a:r>
          </a:p>
        </p:txBody>
      </p:sp>
    </p:spTree>
    <p:extLst>
      <p:ext uri="{BB962C8B-B14F-4D97-AF65-F5344CB8AC3E}">
        <p14:creationId xmlns:p14="http://schemas.microsoft.com/office/powerpoint/2010/main" val="444536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F59B3A1-21EA-5345-8F05-AAE599533AAA}"/>
              </a:ext>
            </a:extLst>
          </p:cNvPr>
          <p:cNvSpPr/>
          <p:nvPr/>
        </p:nvSpPr>
        <p:spPr>
          <a:xfrm>
            <a:off x="342900" y="355600"/>
            <a:ext cx="38100" cy="635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1C66B9D-A92F-7841-A4F7-26518F90ED33}"/>
              </a:ext>
            </a:extLst>
          </p:cNvPr>
          <p:cNvSpPr txBox="1"/>
          <p:nvPr/>
        </p:nvSpPr>
        <p:spPr>
          <a:xfrm>
            <a:off x="457200" y="330200"/>
            <a:ext cx="914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600" b="1">
                <a:solidFill>
                  <a:srgbClr val="0B1F3A"/>
                </a:solidFill>
                <a:latin typeface="Meiryo UI"/>
                <a:ea typeface="Meiryo UI"/>
              </a:rPr>
              <a:t>開発コスト戦略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52A8272-AFE2-3F47-8B38-9A534C2CDDB1}"/>
              </a:ext>
            </a:extLst>
          </p:cNvPr>
          <p:cNvSpPr txBox="1"/>
          <p:nvPr/>
        </p:nvSpPr>
        <p:spPr>
          <a:xfrm>
            <a:off x="457200" y="838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100">
                <a:solidFill>
                  <a:srgbClr val="5A6B7E"/>
                </a:solidFill>
                <a:latin typeface="Meiryo UI"/>
                <a:ea typeface="Meiryo UI"/>
              </a:rPr>
              <a:t>AI 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活用による </a:t>
            </a:r>
            <a:r>
              <a:rPr lang="en-US" altLang="ja-JP" sz="1100">
                <a:solidFill>
                  <a:srgbClr val="5A6B7E"/>
                </a:solidFill>
                <a:latin typeface="Meiryo UI"/>
                <a:ea typeface="Meiryo UI"/>
              </a:rPr>
              <a:t>90% </a:t>
            </a:r>
            <a:r>
              <a:rPr lang="ja-JP" altLang="en-US" sz="1100">
                <a:solidFill>
                  <a:srgbClr val="5A6B7E"/>
                </a:solidFill>
                <a:latin typeface="Meiryo UI"/>
                <a:ea typeface="Meiryo UI"/>
              </a:rPr>
              <a:t>以上のコスト削減を実現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D5AC7E0-7796-CE47-87D9-B1E02A4C9B9B}"/>
              </a:ext>
            </a:extLst>
          </p:cNvPr>
          <p:cNvSpPr txBox="1"/>
          <p:nvPr/>
        </p:nvSpPr>
        <p:spPr>
          <a:xfrm>
            <a:off x="11430000" y="6477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100">
                <a:solidFill>
                  <a:srgbClr val="8A95A3"/>
                </a:solidFill>
                <a:latin typeface="Meiryo UI"/>
                <a:ea typeface="Meiryo UI"/>
              </a:rPr>
              <a:t>14</a:t>
            </a:r>
            <a:endParaRPr lang="ja-JP" altLang="en-US" sz="1100">
              <a:solidFill>
                <a:srgbClr val="8A95A3"/>
              </a:solidFill>
              <a:latin typeface="Meiryo UI"/>
              <a:ea typeface="Meiryo UI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CE8EC07-554D-D34D-8670-54C73DDE9E92}"/>
              </a:ext>
            </a:extLst>
          </p:cNvPr>
          <p:cNvSpPr/>
          <p:nvPr/>
        </p:nvSpPr>
        <p:spPr>
          <a:xfrm>
            <a:off x="457200" y="1397000"/>
            <a:ext cx="11277600" cy="762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F929514-49E5-024D-8A64-4BF202BEAE90}"/>
              </a:ext>
            </a:extLst>
          </p:cNvPr>
          <p:cNvSpPr txBox="1"/>
          <p:nvPr/>
        </p:nvSpPr>
        <p:spPr>
          <a:xfrm>
            <a:off x="762000" y="1574800"/>
            <a:ext cx="1079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Meiryo UI"/>
                <a:ea typeface="Meiryo UI"/>
              </a:rPr>
              <a:t>通常 </a:t>
            </a:r>
            <a:r>
              <a:rPr lang="en-US" altLang="ja-JP" sz="1600" b="1">
                <a:solidFill>
                  <a:srgbClr val="FFFFFF"/>
                </a:solidFill>
                <a:latin typeface="Meiryo UI"/>
                <a:ea typeface="Meiryo UI"/>
              </a:rPr>
              <a:t>1,200 </a:t>
            </a:r>
            <a:r>
              <a:rPr lang="ja-JP" altLang="en-US" sz="1600" b="1">
                <a:solidFill>
                  <a:srgbClr val="FFFFFF"/>
                </a:solidFill>
                <a:latin typeface="Meiryo UI"/>
                <a:ea typeface="Meiryo UI"/>
              </a:rPr>
              <a:t>万円規模の開発を、自社 </a:t>
            </a:r>
            <a:r>
              <a:rPr lang="en" altLang="ja-JP" sz="1600" b="1">
                <a:solidFill>
                  <a:srgbClr val="FFFFFF"/>
                </a:solidFill>
                <a:latin typeface="Meiryo UI"/>
                <a:ea typeface="Meiryo UI"/>
              </a:rPr>
              <a:t>AI </a:t>
            </a:r>
            <a:r>
              <a:rPr lang="ja-JP" altLang="en-US" sz="1600" b="1">
                <a:solidFill>
                  <a:srgbClr val="FFFFFF"/>
                </a:solidFill>
                <a:latin typeface="Meiryo UI"/>
                <a:ea typeface="Meiryo UI"/>
              </a:rPr>
              <a:t>開発体制で実コスト≒ゼロで実現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F837AA5-CE29-9F4D-BA58-D2DE58043E1A}"/>
              </a:ext>
            </a:extLst>
          </p:cNvPr>
          <p:cNvSpPr txBox="1"/>
          <p:nvPr/>
        </p:nvSpPr>
        <p:spPr>
          <a:xfrm>
            <a:off x="762000" y="18542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A5B0C0"/>
                </a:solidFill>
                <a:latin typeface="Meiryo UI"/>
                <a:ea typeface="Meiryo UI"/>
              </a:rPr>
              <a:t>従来の外注モデルに対する破壊的な構造変化。ローンチ後も高速イテレーションを継続。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D6B8419-F8F6-A143-862B-27A56A8A89D9}"/>
              </a:ext>
            </a:extLst>
          </p:cNvPr>
          <p:cNvSpPr/>
          <p:nvPr/>
        </p:nvSpPr>
        <p:spPr>
          <a:xfrm>
            <a:off x="457200" y="2540000"/>
            <a:ext cx="5486400" cy="2540000"/>
          </a:xfrm>
          <a:prstGeom prst="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EDD03BA-1F9D-9745-B83A-0761AAAD7350}"/>
              </a:ext>
            </a:extLst>
          </p:cNvPr>
          <p:cNvSpPr/>
          <p:nvPr/>
        </p:nvSpPr>
        <p:spPr>
          <a:xfrm>
            <a:off x="457200" y="2540000"/>
            <a:ext cx="5486400" cy="50800"/>
          </a:xfrm>
          <a:prstGeom prst="rect">
            <a:avLst/>
          </a:prstGeom>
          <a:solidFill>
            <a:srgbClr val="8A95A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60CF47C-DD2A-B442-8CD7-3BD850F330F3}"/>
              </a:ext>
            </a:extLst>
          </p:cNvPr>
          <p:cNvSpPr txBox="1"/>
          <p:nvPr/>
        </p:nvSpPr>
        <p:spPr>
          <a:xfrm>
            <a:off x="711200" y="2794000"/>
            <a:ext cx="4978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5A6B7E"/>
                </a:solidFill>
                <a:latin typeface="Meiryo UI"/>
                <a:ea typeface="Meiryo UI"/>
              </a:rPr>
              <a:t>従来 </a:t>
            </a:r>
            <a:r>
              <a:rPr lang="en-US" altLang="ja-JP" sz="1400" b="1">
                <a:solidFill>
                  <a:srgbClr val="5A6B7E"/>
                </a:solidFill>
                <a:latin typeface="Meiryo UI"/>
                <a:ea typeface="Meiryo UI"/>
              </a:rPr>
              <a:t>— </a:t>
            </a:r>
            <a:r>
              <a:rPr lang="ja-JP" altLang="en-US" sz="1400" b="1">
                <a:solidFill>
                  <a:srgbClr val="5A6B7E"/>
                </a:solidFill>
                <a:latin typeface="Meiryo UI"/>
                <a:ea typeface="Meiryo UI"/>
              </a:rPr>
              <a:t>外注開発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B582BF1-6904-1542-B488-20CE7170C129}"/>
              </a:ext>
            </a:extLst>
          </p:cNvPr>
          <p:cNvSpPr txBox="1"/>
          <p:nvPr/>
        </p:nvSpPr>
        <p:spPr>
          <a:xfrm>
            <a:off x="711200" y="3098800"/>
            <a:ext cx="4978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完成分の同等見積もり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3701512-D895-1B4E-B17F-624D3BF172E1}"/>
              </a:ext>
            </a:extLst>
          </p:cNvPr>
          <p:cNvSpPr txBox="1"/>
          <p:nvPr/>
        </p:nvSpPr>
        <p:spPr>
          <a:xfrm>
            <a:off x="711200" y="34036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3600" b="1">
                <a:solidFill>
                  <a:srgbClr val="5A6B7E"/>
                </a:solidFill>
                <a:latin typeface="Meiryo UI"/>
                <a:ea typeface="Meiryo UI"/>
              </a:rPr>
              <a:t>¥12,000,000</a:t>
            </a:r>
            <a:endParaRPr lang="ja-JP" altLang="en-US" sz="3600" b="1">
              <a:solidFill>
                <a:srgbClr val="5A6B7E"/>
              </a:solidFill>
              <a:latin typeface="Meiryo UI"/>
              <a:ea typeface="Meiryo UI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6140174-2F72-1745-B6F2-98AA47B8BE7F}"/>
              </a:ext>
            </a:extLst>
          </p:cNvPr>
          <p:cNvSpPr txBox="1"/>
          <p:nvPr/>
        </p:nvSpPr>
        <p:spPr>
          <a:xfrm>
            <a:off x="711200" y="4216400"/>
            <a:ext cx="4978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（税込・参考相場ベース）</a:t>
            </a:r>
          </a:p>
        </p:txBody>
      </p:sp>
      <p:sp>
        <p:nvSpPr>
          <p:cNvPr id="36" name="右矢印 35">
            <a:extLst>
              <a:ext uri="{FF2B5EF4-FFF2-40B4-BE49-F238E27FC236}">
                <a16:creationId xmlns:a16="http://schemas.microsoft.com/office/drawing/2014/main" id="{0FDAF0E8-5415-AD44-89FC-FEA330E06E49}"/>
              </a:ext>
            </a:extLst>
          </p:cNvPr>
          <p:cNvSpPr/>
          <p:nvPr/>
        </p:nvSpPr>
        <p:spPr>
          <a:xfrm>
            <a:off x="6070600" y="3429000"/>
            <a:ext cx="508000" cy="635000"/>
          </a:xfrm>
          <a:prstGeom prst="rightArrow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A150011-7F8C-7D45-8F44-0B1945329548}"/>
              </a:ext>
            </a:extLst>
          </p:cNvPr>
          <p:cNvSpPr/>
          <p:nvPr/>
        </p:nvSpPr>
        <p:spPr>
          <a:xfrm>
            <a:off x="6705600" y="2540000"/>
            <a:ext cx="5029200" cy="25400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10F44E5-73BC-1F4F-B5D1-395ED385061C}"/>
              </a:ext>
            </a:extLst>
          </p:cNvPr>
          <p:cNvSpPr/>
          <p:nvPr/>
        </p:nvSpPr>
        <p:spPr>
          <a:xfrm>
            <a:off x="6705600" y="2540000"/>
            <a:ext cx="5029200" cy="508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38D5897-C69A-5D49-806A-DC4D148C4E49}"/>
              </a:ext>
            </a:extLst>
          </p:cNvPr>
          <p:cNvSpPr txBox="1"/>
          <p:nvPr/>
        </p:nvSpPr>
        <p:spPr>
          <a:xfrm>
            <a:off x="6959600" y="2794000"/>
            <a:ext cx="4521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E63946"/>
                </a:solidFill>
                <a:latin typeface="Meiryo UI"/>
                <a:ea typeface="Meiryo UI"/>
              </a:rPr>
              <a:t>AI </a:t>
            </a:r>
            <a:r>
              <a:rPr lang="ja-JP" altLang="en-US" sz="1400" b="1">
                <a:solidFill>
                  <a:srgbClr val="E63946"/>
                </a:solidFill>
                <a:latin typeface="Meiryo UI"/>
                <a:ea typeface="Meiryo UI"/>
              </a:rPr>
              <a:t>活用 </a:t>
            </a:r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— </a:t>
            </a:r>
            <a:r>
              <a:rPr lang="ja-JP" altLang="en-US" sz="1400" b="1">
                <a:solidFill>
                  <a:srgbClr val="E63946"/>
                </a:solidFill>
                <a:latin typeface="Meiryo UI"/>
                <a:ea typeface="Meiryo UI"/>
              </a:rPr>
              <a:t>自社開発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C698374-AE50-9345-8397-F9D14E6475FC}"/>
              </a:ext>
            </a:extLst>
          </p:cNvPr>
          <p:cNvSpPr txBox="1"/>
          <p:nvPr/>
        </p:nvSpPr>
        <p:spPr>
          <a:xfrm>
            <a:off x="6959600" y="3098800"/>
            <a:ext cx="4521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8A95A3"/>
                </a:solidFill>
                <a:latin typeface="Meiryo UI"/>
                <a:ea typeface="Meiryo UI"/>
              </a:rPr>
              <a:t>実コスト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BE10127-9BAD-9C43-AFEA-1FAF3EFFB4BA}"/>
              </a:ext>
            </a:extLst>
          </p:cNvPr>
          <p:cNvSpPr txBox="1"/>
          <p:nvPr/>
        </p:nvSpPr>
        <p:spPr>
          <a:xfrm>
            <a:off x="6959600" y="3403600"/>
            <a:ext cx="45212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4800" b="1">
                <a:solidFill>
                  <a:srgbClr val="E63946"/>
                </a:solidFill>
                <a:latin typeface="Meiryo UI"/>
                <a:ea typeface="Meiryo UI"/>
              </a:rPr>
              <a:t>≒ </a:t>
            </a:r>
            <a:r>
              <a:rPr lang="en-US" altLang="ja-JP" sz="4800" b="1">
                <a:solidFill>
                  <a:srgbClr val="E63946"/>
                </a:solidFill>
                <a:latin typeface="Meiryo UI"/>
                <a:ea typeface="Meiryo UI"/>
              </a:rPr>
              <a:t>¥0</a:t>
            </a:r>
            <a:endParaRPr lang="ja-JP" altLang="en-US" sz="48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9BDD124-B1E3-014A-B7EF-022B841A43DE}"/>
              </a:ext>
            </a:extLst>
          </p:cNvPr>
          <p:cNvSpPr txBox="1"/>
          <p:nvPr/>
        </p:nvSpPr>
        <p:spPr>
          <a:xfrm>
            <a:off x="6959600" y="4216400"/>
            <a:ext cx="4521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200" b="1">
                <a:solidFill>
                  <a:srgbClr val="0B1F3A"/>
                </a:solidFill>
                <a:latin typeface="Meiryo UI"/>
                <a:ea typeface="Meiryo UI"/>
              </a:rPr>
              <a:t>90% </a:t>
            </a:r>
            <a:r>
              <a:rPr lang="ja-JP" altLang="en-US" sz="1200" b="1">
                <a:solidFill>
                  <a:srgbClr val="0B1F3A"/>
                </a:solidFill>
                <a:latin typeface="Meiryo UI"/>
                <a:ea typeface="Meiryo UI"/>
              </a:rPr>
              <a:t>以上のコスト削減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4D079E7-F6E9-2145-B819-951D91E8A9A0}"/>
              </a:ext>
            </a:extLst>
          </p:cNvPr>
          <p:cNvSpPr txBox="1"/>
          <p:nvPr/>
        </p:nvSpPr>
        <p:spPr>
          <a:xfrm>
            <a:off x="457200" y="52832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0B1F3A"/>
                </a:solidFill>
                <a:latin typeface="Meiryo UI"/>
                <a:ea typeface="Meiryo UI"/>
              </a:rPr>
              <a:t>なぜこれが可能なのか</a:t>
            </a:r>
          </a:p>
        </p:txBody>
      </p:sp>
      <p:sp>
        <p:nvSpPr>
          <p:cNvPr id="44" name="円/楕円 43">
            <a:extLst>
              <a:ext uri="{FF2B5EF4-FFF2-40B4-BE49-F238E27FC236}">
                <a16:creationId xmlns:a16="http://schemas.microsoft.com/office/drawing/2014/main" id="{A4008BBD-C37C-3740-A9EB-CEF4F8317158}"/>
              </a:ext>
            </a:extLst>
          </p:cNvPr>
          <p:cNvSpPr/>
          <p:nvPr/>
        </p:nvSpPr>
        <p:spPr>
          <a:xfrm>
            <a:off x="457200" y="5715000"/>
            <a:ext cx="177800" cy="1778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9B612594-1B78-8E41-A310-B27C1E40702B}"/>
              </a:ext>
            </a:extLst>
          </p:cNvPr>
          <p:cNvSpPr txBox="1"/>
          <p:nvPr/>
        </p:nvSpPr>
        <p:spPr>
          <a:xfrm>
            <a:off x="736600" y="5689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>Claude </a:t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等の最新 </a:t>
            </a:r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>AI </a:t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開発支援ツールで設計・実装・テスト・</a:t>
            </a:r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>PR </a:t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レビューまで自社対応</a:t>
            </a:r>
          </a:p>
        </p:txBody>
      </p:sp>
      <p:sp>
        <p:nvSpPr>
          <p:cNvPr id="46" name="円/楕円 45">
            <a:extLst>
              <a:ext uri="{FF2B5EF4-FFF2-40B4-BE49-F238E27FC236}">
                <a16:creationId xmlns:a16="http://schemas.microsoft.com/office/drawing/2014/main" id="{3CEFAEDA-1012-D246-BFE9-5AAD7E767A26}"/>
              </a:ext>
            </a:extLst>
          </p:cNvPr>
          <p:cNvSpPr/>
          <p:nvPr/>
        </p:nvSpPr>
        <p:spPr>
          <a:xfrm>
            <a:off x="6299200" y="5715000"/>
            <a:ext cx="177800" cy="1778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1F276639-3740-9A4D-B50A-4234094BA2CA}"/>
              </a:ext>
            </a:extLst>
          </p:cNvPr>
          <p:cNvSpPr txBox="1"/>
          <p:nvPr/>
        </p:nvSpPr>
        <p:spPr>
          <a:xfrm>
            <a:off x="6578600" y="5689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100">
                <a:solidFill>
                  <a:srgbClr val="2A3441"/>
                </a:solidFill>
                <a:latin typeface="Meiryo UI"/>
                <a:ea typeface="Meiryo UI"/>
              </a:rPr>
              <a:t>5/29 </a:t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時点で計 </a:t>
            </a:r>
            <a:r>
              <a:rPr lang="en-US" altLang="ja-JP" sz="1100">
                <a:solidFill>
                  <a:srgbClr val="2A3441"/>
                </a:solidFill>
                <a:latin typeface="Meiryo UI"/>
                <a:ea typeface="Meiryo UI"/>
              </a:rPr>
              <a:t>127 </a:t>
            </a:r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>PR </a:t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マージ、本番運用中（決済・チーム管理・</a:t>
            </a:r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>YouTube </a:t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連携すべて稼働中）</a:t>
            </a:r>
          </a:p>
        </p:txBody>
      </p:sp>
      <p:sp>
        <p:nvSpPr>
          <p:cNvPr id="48" name="円/楕円 47">
            <a:extLst>
              <a:ext uri="{FF2B5EF4-FFF2-40B4-BE49-F238E27FC236}">
                <a16:creationId xmlns:a16="http://schemas.microsoft.com/office/drawing/2014/main" id="{2A7E0980-8456-9D4F-8ADF-E072A41DD5A5}"/>
              </a:ext>
            </a:extLst>
          </p:cNvPr>
          <p:cNvSpPr/>
          <p:nvPr/>
        </p:nvSpPr>
        <p:spPr>
          <a:xfrm>
            <a:off x="457200" y="6070600"/>
            <a:ext cx="177800" cy="1778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64CD5C48-55D8-CF40-B938-F16907C5FECE}"/>
              </a:ext>
            </a:extLst>
          </p:cNvPr>
          <p:cNvSpPr txBox="1"/>
          <p:nvPr/>
        </p:nvSpPr>
        <p:spPr>
          <a:xfrm>
            <a:off x="736600" y="6045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100">
                <a:solidFill>
                  <a:srgbClr val="2A3441"/>
                </a:solidFill>
                <a:latin typeface="Meiryo UI"/>
                <a:ea typeface="Meiryo UI"/>
              </a:rPr>
              <a:t>5/10 試合実機の課題を当日中に 5 PR で hotfix・5月下旬 視聴経路整理・モバイル改善</a:t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en-US" altLang="ja-JP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ja-JP" altLang="en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en-US" altLang="ja-JP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/>
            </a:r>
          </a:p>
        </p:txBody>
      </p:sp>
      <p:sp>
        <p:nvSpPr>
          <p:cNvPr id="50" name="円/楕円 49">
            <a:extLst>
              <a:ext uri="{FF2B5EF4-FFF2-40B4-BE49-F238E27FC236}">
                <a16:creationId xmlns:a16="http://schemas.microsoft.com/office/drawing/2014/main" id="{FED34891-DDD7-7E43-8A97-69ED3D0F4B79}"/>
              </a:ext>
            </a:extLst>
          </p:cNvPr>
          <p:cNvSpPr/>
          <p:nvPr/>
        </p:nvSpPr>
        <p:spPr>
          <a:xfrm>
            <a:off x="6299200" y="6070600"/>
            <a:ext cx="177800" cy="177800"/>
          </a:xfrm>
          <a:prstGeom prst="ellipse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54134CF-B9C4-5C4C-B1AB-948A5720C5C1}"/>
              </a:ext>
            </a:extLst>
          </p:cNvPr>
          <p:cNvSpPr txBox="1"/>
          <p:nvPr/>
        </p:nvSpPr>
        <p:spPr>
          <a:xfrm>
            <a:off x="6578600" y="6045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既存 </a:t>
            </a:r>
            <a:r>
              <a:rPr lang="en" altLang="ja-JP" sz="1100">
                <a:solidFill>
                  <a:srgbClr val="2A3441"/>
                </a:solidFill>
                <a:latin typeface="Meiryo UI"/>
                <a:ea typeface="Meiryo UI"/>
              </a:rPr>
              <a:t>LIN-NAH </a:t>
            </a:r>
            <a:r>
              <a:rPr lang="ja-JP" altLang="en-US" sz="1100">
                <a:solidFill>
                  <a:srgbClr val="2A3441"/>
                </a:solidFill>
                <a:latin typeface="Meiryo UI"/>
                <a:ea typeface="Meiryo UI"/>
              </a:rPr>
              <a:t>事業で培ったデザイン・映像制作ノウハウもプロダクトに活用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154FFFA-982D-4041-B2CD-54F619AE9E8F}"/>
              </a:ext>
            </a:extLst>
          </p:cNvPr>
          <p:cNvSpPr txBox="1"/>
          <p:nvPr/>
        </p:nvSpPr>
        <p:spPr>
          <a:xfrm>
            <a:off x="457200" y="6502400"/>
            <a:ext cx="10795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PR: Pull Request</a:t>
            </a:r>
            <a:r>
              <a:rPr lang="ja-JP" altLang="en" sz="900">
                <a:solidFill>
                  <a:srgbClr val="8A95A3"/>
                </a:solidFill>
                <a:latin typeface="Meiryo UI"/>
                <a:ea typeface="Meiryo UI"/>
              </a:rPr>
              <a:t>／</a:t>
            </a:r>
            <a:r>
              <a:rPr lang="en" altLang="ja-JP" sz="900">
                <a:solidFill>
                  <a:srgbClr val="8A95A3"/>
                </a:solidFill>
                <a:latin typeface="Meiryo UI"/>
                <a:ea typeface="Meiryo UI"/>
              </a:rPr>
              <a:t>hotfix: </a:t>
            </a:r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緊急修正／参考相場：エンジニア人月単価</a:t>
            </a:r>
            <a:r>
              <a:rPr lang="en-US" altLang="ja-JP" sz="900">
                <a:solidFill>
                  <a:srgbClr val="8A95A3"/>
                </a:solidFill>
                <a:latin typeface="Meiryo UI"/>
                <a:ea typeface="Meiryo UI"/>
              </a:rPr>
              <a:t>60-80</a:t>
            </a:r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万円</a:t>
            </a:r>
            <a:r>
              <a:rPr lang="en-US" altLang="ja-JP" sz="900">
                <a:solidFill>
                  <a:srgbClr val="8A95A3"/>
                </a:solidFill>
                <a:latin typeface="Meiryo UI"/>
                <a:ea typeface="Meiryo UI"/>
              </a:rPr>
              <a:t>×</a:t>
            </a:r>
            <a:r>
              <a:rPr lang="ja-JP" altLang="en-US" sz="900">
                <a:solidFill>
                  <a:srgbClr val="8A95A3"/>
                </a:solidFill>
                <a:latin typeface="Meiryo UI"/>
                <a:ea typeface="Meiryo UI"/>
              </a:rPr>
              <a:t>開発工数より試算</a:t>
            </a:r>
          </a:p>
        </p:txBody>
      </p:sp>
    </p:spTree>
    <p:extLst>
      <p:ext uri="{BB962C8B-B14F-4D97-AF65-F5344CB8AC3E}">
        <p14:creationId xmlns:p14="http://schemas.microsoft.com/office/powerpoint/2010/main" val="2474939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2C73849E-FCB2-664F-B29F-90E6599B35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1700BDCB-1465-4549-861F-2E2DC24B5A88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8696C82-9C68-B74D-B9E8-9C1A1FE17C41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DFD3D01-2142-9943-8A51-DA66FAA68D5B}"/>
              </a:ext>
            </a:extLst>
          </p:cNvPr>
          <p:cNvSpPr/>
          <p:nvPr/>
        </p:nvSpPr>
        <p:spPr>
          <a:xfrm>
            <a:off x="457200" y="457200"/>
            <a:ext cx="50800" cy="4572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4403F65-1DD2-D64E-92C9-9F8EFBFE9A52}"/>
              </a:ext>
            </a:extLst>
          </p:cNvPr>
          <p:cNvSpPr txBox="1"/>
          <p:nvPr/>
        </p:nvSpPr>
        <p:spPr>
          <a:xfrm>
            <a:off x="609600" y="381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100" b="1">
                <a:solidFill>
                  <a:srgbClr val="A5B0C0"/>
                </a:solidFill>
                <a:latin typeface="Meiryo UI"/>
                <a:ea typeface="Meiryo UI"/>
              </a:rPr>
              <a:t>LIVE SPOtCH</a:t>
            </a:r>
            <a:endParaRPr lang="ja-JP" altLang="en-US" sz="1100" b="1">
              <a:solidFill>
                <a:srgbClr val="A5B0C0"/>
              </a:solidFill>
              <a:latin typeface="Meiryo UI"/>
              <a:ea typeface="Meiryo UI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654F680-6F1E-4544-9C35-05F8A7C0481B}"/>
              </a:ext>
            </a:extLst>
          </p:cNvPr>
          <p:cNvSpPr txBox="1"/>
          <p:nvPr/>
        </p:nvSpPr>
        <p:spPr>
          <a:xfrm>
            <a:off x="609600" y="609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Meiryo UI"/>
                <a:ea typeface="Meiryo UI"/>
              </a:rPr>
              <a:t>事業計画サマリ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D083A95-B260-C04C-9648-A0E949C0A1CE}"/>
              </a:ext>
            </a:extLst>
          </p:cNvPr>
          <p:cNvSpPr txBox="1"/>
          <p:nvPr/>
        </p:nvSpPr>
        <p:spPr>
          <a:xfrm>
            <a:off x="457200" y="1651000"/>
            <a:ext cx="330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2800" b="1">
                <a:solidFill>
                  <a:srgbClr val="FFFFFF"/>
                </a:solidFill>
                <a:latin typeface="Meiryo UI"/>
                <a:ea typeface="Meiryo UI"/>
              </a:rPr>
              <a:t>LIVE</a:t>
            </a:r>
            <a:endParaRPr lang="ja-JP" altLang="en-US" sz="2800" b="1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95DDD11-6B04-DD47-8F12-7920E4CD855F}"/>
              </a:ext>
            </a:extLst>
          </p:cNvPr>
          <p:cNvSpPr txBox="1"/>
          <p:nvPr/>
        </p:nvSpPr>
        <p:spPr>
          <a:xfrm>
            <a:off x="457200" y="2057400"/>
            <a:ext cx="330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2800" b="1">
                <a:solidFill>
                  <a:srgbClr val="E63946"/>
                </a:solidFill>
                <a:latin typeface="Meiryo UI"/>
                <a:ea typeface="Meiryo UI"/>
              </a:rPr>
              <a:t>SPOtCH</a:t>
            </a:r>
            <a:endParaRPr lang="ja-JP" altLang="en-US" sz="28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D8C5C9B-7670-A842-B31C-8B809F31DC1B}"/>
              </a:ext>
            </a:extLst>
          </p:cNvPr>
          <p:cNvSpPr/>
          <p:nvPr/>
        </p:nvSpPr>
        <p:spPr>
          <a:xfrm>
            <a:off x="457200" y="2540000"/>
            <a:ext cx="762000" cy="381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DC868F0-48A6-1F4E-8C72-BE9635E43D02}"/>
              </a:ext>
            </a:extLst>
          </p:cNvPr>
          <p:cNvSpPr txBox="1"/>
          <p:nvPr/>
        </p:nvSpPr>
        <p:spPr>
          <a:xfrm>
            <a:off x="457200" y="2794000"/>
            <a:ext cx="3302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A5B0C0"/>
                </a:solidFill>
                <a:latin typeface="Meiryo UI"/>
                <a:ea typeface="Meiryo UI"/>
              </a:rPr>
              <a:t>誰もがスポーツ中継のカメラマン。その一瞬の感動を手のひらに。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F1AE35B-6EBC-F941-8FE6-9F4114476688}"/>
              </a:ext>
            </a:extLst>
          </p:cNvPr>
          <p:cNvSpPr txBox="1"/>
          <p:nvPr/>
        </p:nvSpPr>
        <p:spPr>
          <a:xfrm>
            <a:off x="457200" y="53340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00" b="1">
                <a:solidFill>
                  <a:srgbClr val="FFFFFF"/>
                </a:solidFill>
                <a:latin typeface="Meiryo UI"/>
                <a:ea typeface="Meiryo UI"/>
              </a:rPr>
              <a:t>LIN-NAH </a:t>
            </a:r>
            <a:r>
              <a:rPr lang="ja-JP" altLang="en-US" sz="1300" b="1">
                <a:solidFill>
                  <a:srgbClr val="FFFFFF"/>
                </a:solidFill>
                <a:latin typeface="Meiryo UI"/>
                <a:ea typeface="Meiryo UI"/>
              </a:rPr>
              <a:t>株式会社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1393C41-F7A5-3E44-879F-38DB3D8CA2D2}"/>
              </a:ext>
            </a:extLst>
          </p:cNvPr>
          <p:cNvSpPr txBox="1"/>
          <p:nvPr/>
        </p:nvSpPr>
        <p:spPr>
          <a:xfrm>
            <a:off x="457200" y="55880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A5B0C0"/>
                </a:solidFill>
                <a:latin typeface="Meiryo UI"/>
                <a:ea typeface="Meiryo UI"/>
              </a:rPr>
              <a:t>代表 原田 佑樹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4111FF0-29C3-0647-874D-1459172CB8BC}"/>
              </a:ext>
            </a:extLst>
          </p:cNvPr>
          <p:cNvSpPr txBox="1"/>
          <p:nvPr/>
        </p:nvSpPr>
        <p:spPr>
          <a:xfrm>
            <a:off x="457200" y="58420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000">
                <a:solidFill>
                  <a:srgbClr val="E63946"/>
                </a:solidFill>
                <a:latin typeface="Meiryo UI"/>
                <a:ea typeface="Meiryo UI"/>
              </a:rPr>
              <a:t>live-spotch.com</a:t>
            </a:r>
            <a:endParaRPr lang="ja-JP" altLang="en-US" sz="1000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6D83814-FF87-EB40-A756-8061E6BE5739}"/>
              </a:ext>
            </a:extLst>
          </p:cNvPr>
          <p:cNvSpPr txBox="1"/>
          <p:nvPr/>
        </p:nvSpPr>
        <p:spPr>
          <a:xfrm>
            <a:off x="4572000" y="381000"/>
            <a:ext cx="71628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本事業の総括 </a:t>
            </a:r>
            <a:r>
              <a:rPr lang="en-US" altLang="ja-JP" b="1">
                <a:solidFill>
                  <a:srgbClr val="0B1F3A"/>
                </a:solidFill>
                <a:latin typeface="Meiryo UI"/>
                <a:ea typeface="Meiryo UI"/>
              </a:rPr>
              <a:t>— 8</a:t>
            </a:r>
            <a:r>
              <a:rPr lang="ja-JP" altLang="en-US" b="1">
                <a:solidFill>
                  <a:srgbClr val="0B1F3A"/>
                </a:solidFill>
                <a:latin typeface="Meiryo UI"/>
                <a:ea typeface="Meiryo UI"/>
              </a:rPr>
              <a:t>つの強み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1885DD2-25A5-924F-AF02-6B548B1B96BD}"/>
              </a:ext>
            </a:extLst>
          </p:cNvPr>
          <p:cNvSpPr txBox="1"/>
          <p:nvPr/>
        </p:nvSpPr>
        <p:spPr>
          <a:xfrm>
            <a:off x="4572000" y="7620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100">
                <a:solidFill>
                  <a:srgbClr val="5A6B7E"/>
                </a:solidFill>
                <a:latin typeface="Meiryo UI"/>
                <a:ea typeface="Meiryo UI"/>
              </a:rPr>
              <a:t>Investment Highlights</a:t>
            </a:r>
            <a:endParaRPr lang="ja-JP" altLang="en-US" sz="1100">
              <a:solidFill>
                <a:srgbClr val="5A6B7E"/>
              </a:solidFill>
              <a:latin typeface="Meiryo UI"/>
              <a:ea typeface="Meiryo UI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850645E-3908-4B42-9611-EEB4BECB4E99}"/>
              </a:ext>
            </a:extLst>
          </p:cNvPr>
          <p:cNvSpPr/>
          <p:nvPr/>
        </p:nvSpPr>
        <p:spPr>
          <a:xfrm>
            <a:off x="4572000" y="1168400"/>
            <a:ext cx="3581400" cy="609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C884EB4-A3A1-6D47-841E-A5D6354ADF24}"/>
              </a:ext>
            </a:extLst>
          </p:cNvPr>
          <p:cNvSpPr/>
          <p:nvPr/>
        </p:nvSpPr>
        <p:spPr>
          <a:xfrm>
            <a:off x="4572000" y="1168400"/>
            <a:ext cx="457200" cy="6096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E4F6558-E26C-2144-B0D8-F5BDCE9083DA}"/>
              </a:ext>
            </a:extLst>
          </p:cNvPr>
          <p:cNvSpPr txBox="1"/>
          <p:nvPr/>
        </p:nvSpPr>
        <p:spPr>
          <a:xfrm>
            <a:off x="4572000" y="11684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01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9EA5375-4D91-7845-AAFD-EBD87BA18512}"/>
              </a:ext>
            </a:extLst>
          </p:cNvPr>
          <p:cNvSpPr txBox="1"/>
          <p:nvPr/>
        </p:nvSpPr>
        <p:spPr>
          <a:xfrm>
            <a:off x="5130800" y="12192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ブルーオーシャン市場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1C8B20F-2D52-404C-B4EB-F207A2CCD552}"/>
              </a:ext>
            </a:extLst>
          </p:cNvPr>
          <p:cNvSpPr txBox="1"/>
          <p:nvPr/>
        </p:nvSpPr>
        <p:spPr>
          <a:xfrm>
            <a:off x="5130800" y="14478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900">
                <a:solidFill>
                  <a:srgbClr val="2A3441"/>
                </a:solidFill>
                <a:latin typeface="Meiryo UI"/>
                <a:ea typeface="Meiryo UI"/>
              </a:rPr>
              <a:t>国内に直接競合なし。TAM 1,140-1,520万人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E1BD8460-B347-B345-81E4-E34FAA270819}"/>
              </a:ext>
            </a:extLst>
          </p:cNvPr>
          <p:cNvSpPr/>
          <p:nvPr/>
        </p:nvSpPr>
        <p:spPr>
          <a:xfrm>
            <a:off x="8204200" y="1168400"/>
            <a:ext cx="3581400" cy="609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6257299-5402-2448-A128-30D3978ACEC0}"/>
              </a:ext>
            </a:extLst>
          </p:cNvPr>
          <p:cNvSpPr/>
          <p:nvPr/>
        </p:nvSpPr>
        <p:spPr>
          <a:xfrm>
            <a:off x="8204200" y="1168400"/>
            <a:ext cx="457200" cy="6096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68A956C-2C90-5C48-A7FB-1D51C7E25E5F}"/>
              </a:ext>
            </a:extLst>
          </p:cNvPr>
          <p:cNvSpPr txBox="1"/>
          <p:nvPr/>
        </p:nvSpPr>
        <p:spPr>
          <a:xfrm>
            <a:off x="8204200" y="11684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02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EB7CBF1-3267-A14F-92D9-C64A180C4E5F}"/>
              </a:ext>
            </a:extLst>
          </p:cNvPr>
          <p:cNvSpPr txBox="1"/>
          <p:nvPr/>
        </p:nvSpPr>
        <p:spPr>
          <a:xfrm>
            <a:off x="8763000" y="12192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本番稼働 100%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935DE-1ED9-8344-9AA8-863F1D3C3BA3}"/>
              </a:ext>
            </a:extLst>
          </p:cNvPr>
          <p:cNvSpPr txBox="1"/>
          <p:nvPr/>
        </p:nvSpPr>
        <p:spPr>
          <a:xfrm>
            <a:off x="8763000" y="14478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900">
                <a:solidFill>
                  <a:srgbClr val="2A3441"/>
                </a:solidFill>
                <a:latin typeface="Meiryo UI"/>
                <a:ea typeface="Meiryo UI"/>
              </a:rPr>
              <a:t>5/29時点 127 PRマージ、5/13 OAuth認定通過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03B3750-A302-1846-8C40-F6F012CE0E1E}"/>
              </a:ext>
            </a:extLst>
          </p:cNvPr>
          <p:cNvSpPr/>
          <p:nvPr/>
        </p:nvSpPr>
        <p:spPr>
          <a:xfrm>
            <a:off x="4572000" y="1828800"/>
            <a:ext cx="3581400" cy="609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33B5F41-925E-634C-B75D-12014E40DED3}"/>
              </a:ext>
            </a:extLst>
          </p:cNvPr>
          <p:cNvSpPr/>
          <p:nvPr/>
        </p:nvSpPr>
        <p:spPr>
          <a:xfrm>
            <a:off x="4572000" y="1828800"/>
            <a:ext cx="457200" cy="6096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C441E777-FD1D-D54C-9380-A37299ED74E7}"/>
              </a:ext>
            </a:extLst>
          </p:cNvPr>
          <p:cNvSpPr txBox="1"/>
          <p:nvPr/>
        </p:nvSpPr>
        <p:spPr>
          <a:xfrm>
            <a:off x="4572000" y="18288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03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42BCA809-EE1C-B34D-8836-8EBAE54F56C3}"/>
              </a:ext>
            </a:extLst>
          </p:cNvPr>
          <p:cNvSpPr txBox="1"/>
          <p:nvPr/>
        </p:nvSpPr>
        <p:spPr>
          <a:xfrm>
            <a:off x="5130800" y="18796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実課金トラクション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ED926A01-06DE-5C42-B457-F96637ED2B58}"/>
              </a:ext>
            </a:extLst>
          </p:cNvPr>
          <p:cNvSpPr txBox="1"/>
          <p:nvPr/>
        </p:nvSpPr>
        <p:spPr>
          <a:xfrm>
            <a:off x="5130800" y="21082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900">
                <a:solidFill>
                  <a:srgbClr val="2A3441"/>
                </a:solidFill>
                <a:latin typeface="Meiryo UI"/>
                <a:ea typeface="Meiryo UI"/>
              </a:rPr>
              <a:t>ローンチ前・無施策で外部有料3件・MRR ¥1,300/月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B507A3D-7438-0D44-9B84-D4D0B837B875}"/>
              </a:ext>
            </a:extLst>
          </p:cNvPr>
          <p:cNvSpPr/>
          <p:nvPr/>
        </p:nvSpPr>
        <p:spPr>
          <a:xfrm>
            <a:off x="8204200" y="1828800"/>
            <a:ext cx="3581400" cy="609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39F972B-D787-F34F-AD9F-6F5CEC5A535B}"/>
              </a:ext>
            </a:extLst>
          </p:cNvPr>
          <p:cNvSpPr/>
          <p:nvPr/>
        </p:nvSpPr>
        <p:spPr>
          <a:xfrm>
            <a:off x="8204200" y="1828800"/>
            <a:ext cx="457200" cy="6096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6D90C70-79BD-B94A-A4A4-522368FF717E}"/>
              </a:ext>
            </a:extLst>
          </p:cNvPr>
          <p:cNvSpPr txBox="1"/>
          <p:nvPr/>
        </p:nvSpPr>
        <p:spPr>
          <a:xfrm>
            <a:off x="8204200" y="18288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04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6B89A968-1ECF-8543-90B0-552A0C265B2B}"/>
              </a:ext>
            </a:extLst>
          </p:cNvPr>
          <p:cNvSpPr txBox="1"/>
          <p:nvPr/>
        </p:nvSpPr>
        <p:spPr>
          <a:xfrm>
            <a:off x="8763000" y="18796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バイラルモデル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48709776-104C-4949-9BA9-B1F9D1B386CD}"/>
              </a:ext>
            </a:extLst>
          </p:cNvPr>
          <p:cNvSpPr txBox="1"/>
          <p:nvPr/>
        </p:nvSpPr>
        <p:spPr>
          <a:xfrm>
            <a:off x="8763000" y="21082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900">
                <a:solidFill>
                  <a:srgbClr val="2A3441"/>
                </a:solidFill>
                <a:latin typeface="Meiryo UI"/>
                <a:ea typeface="Meiryo UI"/>
              </a:rPr>
              <a:t>部活動・少年団コミュニティの口コミで拡散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806DDE9-F82F-E847-AB73-75A0EEBDD852}"/>
              </a:ext>
            </a:extLst>
          </p:cNvPr>
          <p:cNvSpPr/>
          <p:nvPr/>
        </p:nvSpPr>
        <p:spPr>
          <a:xfrm>
            <a:off x="4572000" y="2489200"/>
            <a:ext cx="3581400" cy="609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F7F4558C-D613-764E-AE1C-5359D371AF1F}"/>
              </a:ext>
            </a:extLst>
          </p:cNvPr>
          <p:cNvSpPr/>
          <p:nvPr/>
        </p:nvSpPr>
        <p:spPr>
          <a:xfrm>
            <a:off x="4572000" y="2489200"/>
            <a:ext cx="457200" cy="6096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409DACF-344C-C04D-94D6-58764881C30B}"/>
              </a:ext>
            </a:extLst>
          </p:cNvPr>
          <p:cNvSpPr txBox="1"/>
          <p:nvPr/>
        </p:nvSpPr>
        <p:spPr>
          <a:xfrm>
            <a:off x="4572000" y="24892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05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F1BFFAF7-985F-1A4C-AA85-6252B7EBCE04}"/>
              </a:ext>
            </a:extLst>
          </p:cNvPr>
          <p:cNvSpPr txBox="1"/>
          <p:nvPr/>
        </p:nvSpPr>
        <p:spPr>
          <a:xfrm>
            <a:off x="5130800" y="25400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UGCモデル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D0FE1AB-F5A8-814D-99DA-BA5E5D02B155}"/>
              </a:ext>
            </a:extLst>
          </p:cNvPr>
          <p:cNvSpPr txBox="1"/>
          <p:nvPr/>
        </p:nvSpPr>
        <p:spPr>
          <a:xfrm>
            <a:off x="5130800" y="27686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900">
                <a:solidFill>
                  <a:srgbClr val="2A3441"/>
                </a:solidFill>
                <a:latin typeface="Meiryo UI"/>
                <a:ea typeface="Meiryo UI"/>
              </a:rPr>
              <a:t>撮影コストゼロの全国展開が可能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C3161029-FA86-BB49-8FCD-9F97F9A1342D}"/>
              </a:ext>
            </a:extLst>
          </p:cNvPr>
          <p:cNvSpPr/>
          <p:nvPr/>
        </p:nvSpPr>
        <p:spPr>
          <a:xfrm>
            <a:off x="8204200" y="2489200"/>
            <a:ext cx="3581400" cy="609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0E0290A-5E52-CA49-938F-128080E8E374}"/>
              </a:ext>
            </a:extLst>
          </p:cNvPr>
          <p:cNvSpPr/>
          <p:nvPr/>
        </p:nvSpPr>
        <p:spPr>
          <a:xfrm>
            <a:off x="8204200" y="2489200"/>
            <a:ext cx="457200" cy="6096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94414943-A526-ED46-A8F0-4BD41856082B}"/>
              </a:ext>
            </a:extLst>
          </p:cNvPr>
          <p:cNvSpPr txBox="1"/>
          <p:nvPr/>
        </p:nvSpPr>
        <p:spPr>
          <a:xfrm>
            <a:off x="8204200" y="24892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06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DFB73A5B-426D-6C4E-9693-642FD53B183D}"/>
              </a:ext>
            </a:extLst>
          </p:cNvPr>
          <p:cNvSpPr txBox="1"/>
          <p:nvPr/>
        </p:nvSpPr>
        <p:spPr>
          <a:xfrm>
            <a:off x="8763000" y="25400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YouTube Live 同時配信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DFD09E4-D219-4047-B581-C14575DF39EB}"/>
              </a:ext>
            </a:extLst>
          </p:cNvPr>
          <p:cNvSpPr txBox="1"/>
          <p:nvPr/>
        </p:nvSpPr>
        <p:spPr>
          <a:xfrm>
            <a:off x="8763000" y="27686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900">
                <a:solidFill>
                  <a:srgbClr val="2A3441"/>
                </a:solidFill>
                <a:latin typeface="Meiryo UI"/>
                <a:ea typeface="Meiryo UI"/>
              </a:rPr>
              <a:t>アーカイブで使いやすさと拡散力を最大化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6ED6E156-8BDE-194D-8088-A44A4CD7CC00}"/>
              </a:ext>
            </a:extLst>
          </p:cNvPr>
          <p:cNvSpPr/>
          <p:nvPr/>
        </p:nvSpPr>
        <p:spPr>
          <a:xfrm>
            <a:off x="4572000" y="3149600"/>
            <a:ext cx="3581400" cy="609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82947FE-1CD7-7E4E-B2D4-650EB9F96665}"/>
              </a:ext>
            </a:extLst>
          </p:cNvPr>
          <p:cNvSpPr/>
          <p:nvPr/>
        </p:nvSpPr>
        <p:spPr>
          <a:xfrm>
            <a:off x="4572000" y="3149600"/>
            <a:ext cx="457200" cy="6096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58B677B-CCD2-134C-B3BB-0C12D20D8D33}"/>
              </a:ext>
            </a:extLst>
          </p:cNvPr>
          <p:cNvSpPr txBox="1"/>
          <p:nvPr/>
        </p:nvSpPr>
        <p:spPr>
          <a:xfrm>
            <a:off x="4572000" y="31496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07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B00879B5-2DEC-904E-A1F8-CC479C9CBCCF}"/>
              </a:ext>
            </a:extLst>
          </p:cNvPr>
          <p:cNvSpPr txBox="1"/>
          <p:nvPr/>
        </p:nvSpPr>
        <p:spPr>
          <a:xfrm>
            <a:off x="5130800" y="32004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Year 2 単月黒字化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0E9D403E-DB44-C141-9E0D-9B822A02B2AF}"/>
              </a:ext>
            </a:extLst>
          </p:cNvPr>
          <p:cNvSpPr txBox="1"/>
          <p:nvPr/>
        </p:nvSpPr>
        <p:spPr>
          <a:xfrm>
            <a:off x="5130800" y="34290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900">
                <a:solidFill>
                  <a:srgbClr val="2A3441"/>
                </a:solidFill>
                <a:latin typeface="Meiryo UI"/>
                <a:ea typeface="Meiryo UI"/>
              </a:rPr>
              <a:t>返済後も十分なキャッシュフロー確保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AA1B2E94-E846-BD4B-984C-EE60CD3A3631}"/>
              </a:ext>
            </a:extLst>
          </p:cNvPr>
          <p:cNvSpPr/>
          <p:nvPr/>
        </p:nvSpPr>
        <p:spPr>
          <a:xfrm>
            <a:off x="8204200" y="3149600"/>
            <a:ext cx="3581400" cy="609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8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627F3B29-2179-FF43-9726-ED821A58B4AF}"/>
              </a:ext>
            </a:extLst>
          </p:cNvPr>
          <p:cNvSpPr/>
          <p:nvPr/>
        </p:nvSpPr>
        <p:spPr>
          <a:xfrm>
            <a:off x="8204200" y="3149600"/>
            <a:ext cx="457200" cy="609600"/>
          </a:xfrm>
          <a:prstGeom prst="rect">
            <a:avLst/>
          </a:prstGeom>
          <a:solidFill>
            <a:srgbClr val="FEF2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004B504-3746-1243-8F2E-64D37DBDF88F}"/>
              </a:ext>
            </a:extLst>
          </p:cNvPr>
          <p:cNvSpPr txBox="1"/>
          <p:nvPr/>
        </p:nvSpPr>
        <p:spPr>
          <a:xfrm>
            <a:off x="8204200" y="31496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E63946"/>
                </a:solidFill>
                <a:latin typeface="Meiryo UI"/>
                <a:ea typeface="Meiryo UI"/>
              </a:rPr>
              <a:t>08</a:t>
            </a:r>
            <a:endParaRPr lang="ja-JP" altLang="en-US" sz="1400" b="1">
              <a:solidFill>
                <a:srgbClr val="E63946"/>
              </a:solidFill>
              <a:latin typeface="Meiryo UI"/>
              <a:ea typeface="Meiryo UI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58EE2AB6-057B-AA49-8FAA-3FA0CBC855E9}"/>
              </a:ext>
            </a:extLst>
          </p:cNvPr>
          <p:cNvSpPr txBox="1"/>
          <p:nvPr/>
        </p:nvSpPr>
        <p:spPr>
          <a:xfrm>
            <a:off x="8763000" y="32004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0B1F3A"/>
                </a:solidFill>
                <a:latin typeface="Meiryo UI"/>
                <a:ea typeface="Meiryo UI"/>
              </a:rPr>
              <a:t>6月中旬 ローンチ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BF35FD64-53A4-C04B-AD22-9FED4AA2A231}"/>
              </a:ext>
            </a:extLst>
          </p:cNvPr>
          <p:cNvSpPr txBox="1"/>
          <p:nvPr/>
        </p:nvSpPr>
        <p:spPr>
          <a:xfrm>
            <a:off x="8763000" y="34290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900">
                <a:solidFill>
                  <a:srgbClr val="2A3441"/>
                </a:solidFill>
                <a:latin typeface="Meiryo UI"/>
                <a:ea typeface="Meiryo UI"/>
              </a:rPr>
              <a:t>6/1税理士確認 → 6月上旬 銀行ご提出 → 6月中旬 着金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C32D4B22-8D0E-7940-9122-025643FDBC9D}"/>
              </a:ext>
            </a:extLst>
          </p:cNvPr>
          <p:cNvSpPr/>
          <p:nvPr/>
        </p:nvSpPr>
        <p:spPr>
          <a:xfrm>
            <a:off x="4572000" y="5638800"/>
            <a:ext cx="7162800" cy="762000"/>
          </a:xfrm>
          <a:prstGeom prst="rect">
            <a:avLst/>
          </a:prstGeom>
          <a:solidFill>
            <a:srgbClr val="0B1F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913F806-F492-B848-B93B-4C9E5D7C1FA9}"/>
              </a:ext>
            </a:extLst>
          </p:cNvPr>
          <p:cNvSpPr/>
          <p:nvPr/>
        </p:nvSpPr>
        <p:spPr>
          <a:xfrm>
            <a:off x="4572000" y="5638800"/>
            <a:ext cx="50800" cy="762000"/>
          </a:xfrm>
          <a:prstGeom prst="rect">
            <a:avLst/>
          </a:prstGeom>
          <a:solidFill>
            <a:srgbClr val="E6394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BF190906-5D4A-6240-BFF6-4B31947A2290}"/>
              </a:ext>
            </a:extLst>
          </p:cNvPr>
          <p:cNvSpPr txBox="1"/>
          <p:nvPr/>
        </p:nvSpPr>
        <p:spPr>
          <a:xfrm>
            <a:off x="4826000" y="57658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Meiryo UI"/>
                <a:ea typeface="Meiryo UI"/>
              </a:rPr>
              <a:t>借入希望</a:t>
            </a:r>
            <a:r>
              <a:rPr lang="en-US" altLang="ja-JP" sz="1400" b="1">
                <a:solidFill>
                  <a:srgbClr val="FFFFFF"/>
                </a:solidFill>
                <a:latin typeface="Meiryo UI"/>
                <a:ea typeface="Meiryo UI"/>
              </a:rPr>
              <a:t>: </a:t>
            </a:r>
            <a:r>
              <a:rPr lang="ja-JP" altLang="en-US" sz="1400" b="1">
                <a:solidFill>
                  <a:srgbClr val="FFFFFF"/>
                </a:solidFill>
                <a:latin typeface="Meiryo UI"/>
                <a:ea typeface="Meiryo UI"/>
              </a:rPr>
              <a:t>公庫 </a:t>
            </a:r>
            <a:r>
              <a:rPr lang="en-US" altLang="ja-JP" sz="1400" b="1">
                <a:solidFill>
                  <a:srgbClr val="FFFFFF"/>
                </a:solidFill>
                <a:latin typeface="Meiryo UI"/>
                <a:ea typeface="Meiryo UI"/>
              </a:rPr>
              <a:t>350</a:t>
            </a:r>
            <a:r>
              <a:rPr lang="ja-JP" altLang="en-US" sz="1400" b="1">
                <a:solidFill>
                  <a:srgbClr val="FFFFFF"/>
                </a:solidFill>
                <a:latin typeface="Meiryo UI"/>
                <a:ea typeface="Meiryo UI"/>
              </a:rPr>
              <a:t>万 ＋ 埼玉りそな </a:t>
            </a:r>
            <a:r>
              <a:rPr lang="en-US" altLang="ja-JP" sz="1400" b="1">
                <a:solidFill>
                  <a:srgbClr val="FFFFFF"/>
                </a:solidFill>
                <a:latin typeface="Meiryo UI"/>
                <a:ea typeface="Meiryo UI"/>
              </a:rPr>
              <a:t>350</a:t>
            </a:r>
            <a:r>
              <a:rPr lang="ja-JP" altLang="en-US" sz="1400" b="1">
                <a:solidFill>
                  <a:srgbClr val="FFFFFF"/>
                </a:solidFill>
                <a:latin typeface="Meiryo UI"/>
                <a:ea typeface="Meiryo UI"/>
              </a:rPr>
              <a:t>万 ＝ </a:t>
            </a:r>
            <a:r>
              <a:rPr lang="en-US" altLang="ja-JP" sz="1400" b="1">
                <a:solidFill>
                  <a:srgbClr val="FFFFFF"/>
                </a:solidFill>
                <a:latin typeface="Meiryo UI"/>
                <a:ea typeface="Meiryo UI"/>
              </a:rPr>
              <a:t>700</a:t>
            </a:r>
            <a:r>
              <a:rPr lang="ja-JP" altLang="en-US" sz="1400" b="1">
                <a:solidFill>
                  <a:srgbClr val="FFFFFF"/>
                </a:solidFill>
                <a:latin typeface="Meiryo UI"/>
                <a:ea typeface="Meiryo UI"/>
              </a:rPr>
              <a:t>万円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49865382-865A-7440-BD67-C1320245976F}"/>
              </a:ext>
            </a:extLst>
          </p:cNvPr>
          <p:cNvSpPr txBox="1"/>
          <p:nvPr/>
        </p:nvSpPr>
        <p:spPr>
          <a:xfrm>
            <a:off x="4826000" y="60706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A5B0C0"/>
                </a:solidFill>
                <a:latin typeface="Meiryo UI"/>
                <a:ea typeface="Meiryo UI"/>
              </a:rPr>
              <a:t>事業の継続的な成長と、地域スポーツ文化の振興にご支援を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A83F2F1F-E52B-BA40-A196-A11245AA64E7}"/>
              </a:ext>
            </a:extLst>
          </p:cNvPr>
          <p:cNvSpPr txBox="1"/>
          <p:nvPr/>
        </p:nvSpPr>
        <p:spPr>
          <a:xfrm>
            <a:off x="4572000" y="6527800"/>
            <a:ext cx="7162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800">
                <a:solidFill>
                  <a:srgbClr val="8A95A3"/>
                </a:solidFill>
                <a:latin typeface="Meiryo UI"/>
                <a:ea typeface="Meiryo UI"/>
              </a:rPr>
              <a:t>TAM: </a:t>
            </a:r>
            <a:r>
              <a:rPr lang="ja-JP" altLang="en-US" sz="800">
                <a:solidFill>
                  <a:srgbClr val="8A95A3"/>
                </a:solidFill>
                <a:latin typeface="Meiryo UI"/>
                <a:ea typeface="Meiryo UI"/>
              </a:rPr>
              <a:t>市場全体規模／</a:t>
            </a:r>
            <a:r>
              <a:rPr lang="en" altLang="ja-JP" sz="800">
                <a:solidFill>
                  <a:srgbClr val="8A95A3"/>
                </a:solidFill>
                <a:latin typeface="Meiryo UI"/>
                <a:ea typeface="Meiryo UI"/>
              </a:rPr>
              <a:t>MRR: </a:t>
            </a:r>
            <a:r>
              <a:rPr lang="ja-JP" altLang="en-US" sz="800">
                <a:solidFill>
                  <a:srgbClr val="8A95A3"/>
                </a:solidFill>
                <a:latin typeface="Meiryo UI"/>
                <a:ea typeface="Meiryo UI"/>
              </a:rPr>
              <a:t>月次経常収益／</a:t>
            </a:r>
            <a:r>
              <a:rPr lang="en" altLang="ja-JP" sz="800">
                <a:solidFill>
                  <a:srgbClr val="8A95A3"/>
                </a:solidFill>
                <a:latin typeface="Meiryo UI"/>
                <a:ea typeface="Meiryo UI"/>
              </a:rPr>
              <a:t>UGC: </a:t>
            </a:r>
            <a:r>
              <a:rPr lang="ja-JP" altLang="en-US" sz="800">
                <a:solidFill>
                  <a:srgbClr val="8A95A3"/>
                </a:solidFill>
                <a:latin typeface="Meiryo UI"/>
                <a:ea typeface="Meiryo UI"/>
              </a:rPr>
              <a:t>ユーザー生成コンテンツ／</a:t>
            </a:r>
            <a:r>
              <a:rPr lang="en" altLang="ja-JP" sz="800">
                <a:solidFill>
                  <a:srgbClr val="8A95A3"/>
                </a:solidFill>
                <a:latin typeface="Meiryo UI"/>
                <a:ea typeface="Meiryo UI"/>
              </a:rPr>
              <a:t>OAuth: API</a:t>
            </a:r>
            <a:r>
              <a:rPr lang="ja-JP" altLang="en-US" sz="800">
                <a:solidFill>
                  <a:srgbClr val="8A95A3"/>
                </a:solidFill>
                <a:latin typeface="Meiryo UI"/>
                <a:ea typeface="Meiryo UI"/>
              </a:rPr>
              <a:t>認証規格</a:t>
            </a:r>
          </a:p>
        </p:txBody>
      </p:sp>
    </p:spTree>
    <p:extLst>
      <p:ext uri="{BB962C8B-B14F-4D97-AF65-F5344CB8AC3E}">
        <p14:creationId xmlns:p14="http://schemas.microsoft.com/office/powerpoint/2010/main" val="3626943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E60AE4-16B1-B243-887F-BB84A0393872}">
  <we:reference id="wa200010001" version="1.0.0.1" store="ja-JP" storeType="OMEX"/>
  <we:alternateReferences>
    <we:reference id="WA200010001" version="1.0.0.1" store="" storeType="OMEX"/>
  </we:alternateReferences>
  <we:properties>
    <we:property name="claude.fileId" value="&quot;9772ab5c-bc05-478c-bfdc-36f2d4d4526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2465</TotalTime>
  <Words>2563</Words>
  <Application>Microsoft Macintosh PowerPoint</Application>
  <PresentationFormat>ワイド画面</PresentationFormat>
  <Paragraphs>496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Meiryo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佑樹 原田</cp:lastModifiedBy>
  <cp:revision>6</cp:revision>
  <dcterms:created xsi:type="dcterms:W3CDTF">2013-01-27T09:14:16Z</dcterms:created>
  <dcterms:modified xsi:type="dcterms:W3CDTF">2026-06-04T11:12:40Z</dcterms:modified>
  <cp:category/>
</cp:coreProperties>
</file>