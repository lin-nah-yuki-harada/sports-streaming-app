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E63946"/>
                </a:solidFill>
                <a:latin typeface="Meiryo UI"/>
              </a:defRPr>
            </a:pPr>
            <a:r>
              <a:t>LIVE SPOtCH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Meiryo UI"/>
              </a:defRPr>
            </a:pPr>
            <a:r>
              <a:t>誰もがスポーツ中継のカメラマン。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CCCCDD"/>
                </a:solidFill>
                <a:latin typeface="Meiryo UI"/>
              </a:defRPr>
            </a:pPr>
            <a:r>
              <a:t>手元のスマホが機材になる。その一瞬の感動を手のひらに。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3566160"/>
            <a:ext cx="2743200" cy="254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9319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9999AA"/>
                </a:solidFill>
                <a:latin typeface="Meiryo UI"/>
              </a:defRPr>
            </a:pPr>
            <a:r>
              <a:t>ローカルスポーツ ライブ配信プラットフォーム</a:t>
            </a:r>
          </a:p>
          <a:p>
            <a:pPr algn="l">
              <a:spcAft>
                <a:spcPts val="400"/>
              </a:spcAft>
              <a:defRPr sz="2000" b="1">
                <a:solidFill>
                  <a:srgbClr val="FFFFFF"/>
                </a:solidFill>
                <a:latin typeface="Meiryo UI"/>
              </a:defRPr>
            </a:pPr>
            <a:r>
              <a:t>事業計画書 v3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1A1A2E"/>
                </a:solidFill>
                <a:latin typeface="Meiryo UI"/>
              </a:defRPr>
            </a:pPr>
          </a:p>
          <a:p>
            <a:pPr algn="l">
              <a:spcAft>
                <a:spcPts val="400"/>
              </a:spcAft>
              <a:defRPr sz="1800" b="1">
                <a:solidFill>
                  <a:srgbClr val="FFFFFF"/>
                </a:solidFill>
                <a:latin typeface="Meiryo UI"/>
              </a:defRPr>
            </a:pPr>
            <a:r>
              <a:t>LIN-NAH株式会社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888899"/>
                </a:solidFill>
                <a:latin typeface="Meiryo UI"/>
              </a:defRPr>
            </a:pPr>
            <a:r>
              <a:t>2026年5月29日（v3 改訂版・市場規模推計+実課金トラクション増強）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1A1A2E"/>
                </a:solidFill>
                <a:latin typeface="Meiryo UI"/>
              </a:defRPr>
            </a:pPr>
          </a:p>
          <a:p>
            <a:pPr algn="l">
              <a:spcAft>
                <a:spcPts val="400"/>
              </a:spcAft>
              <a:defRPr sz="1200" b="0">
                <a:solidFill>
                  <a:srgbClr val="E63946"/>
                </a:solidFill>
                <a:latin typeface="Meiryo UI"/>
              </a:defRPr>
            </a:pPr>
            <a:r>
              <a:t>https://live-spotch.com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ビジョン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109728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E63946"/>
                </a:solidFill>
                <a:latin typeface="Meiryo UI"/>
              </a:defRPr>
            </a:pPr>
            <a:r>
              <a:t>「すべての子どもの試合が、どこからでも見られる世界をつくる」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4028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80"/>
                </a:solidFill>
                <a:latin typeface="Meiryo UI"/>
              </a:defRPr>
            </a:pPr>
            <a:r>
              <a:t>スポーツブルが配信しない、地域大会・部活・少年団の試合を保護者の手で配信できる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08960"/>
            <a:ext cx="3291840" cy="329184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08960"/>
            <a:ext cx="329184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63946"/>
                </a:solidFill>
                <a:latin typeface="Meiryo UI"/>
              </a:defRPr>
            </a:pPr>
            <a:r>
              <a:t>スマホ1台でOK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2E"/>
                </a:solidFill>
                <a:latin typeface="Meiryo UI"/>
              </a:defRPr>
            </a:pPr>
            <a:r>
              <a:t>プロカメラ機材は不要。</a:t>
            </a:r>
            <a:br/>
            <a:r>
              <a:t>保護者のスマホで</a:t>
            </a:r>
            <a:br/>
            <a:r>
              <a:t>TV中継品質の配信を実現。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3108960"/>
            <a:ext cx="3291840" cy="3291840"/>
          </a:xfrm>
          <a:prstGeom prst="roundRect">
            <a:avLst/>
          </a:prstGeom>
          <a:solidFill>
            <a:srgbClr val="EB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3108960"/>
            <a:ext cx="32918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563EB"/>
                </a:solidFill>
                <a:latin typeface="Meiryo UI"/>
              </a:defRPr>
            </a:pPr>
            <a:r>
              <a:t>加速度的な拡散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8404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2E"/>
                </a:solidFill>
                <a:latin typeface="Meiryo UI"/>
              </a:defRPr>
            </a:pPr>
            <a:r>
              <a:t>部活動・少年団は口コミが命。</a:t>
            </a:r>
            <a:br/>
            <a:r>
              <a:t>1チームの導入が対戦相手→</a:t>
            </a:r>
            <a:br/>
            <a:r>
              <a:t>大会→地域へとドミノ拡散。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108960"/>
            <a:ext cx="3291840" cy="329184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3108960"/>
            <a:ext cx="329184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6A34A"/>
                </a:solidFill>
                <a:latin typeface="Meiryo UI"/>
              </a:defRPr>
            </a:pPr>
            <a:r>
              <a:t>YouTube Live 連携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8404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2E"/>
                </a:solidFill>
                <a:latin typeface="Meiryo UI"/>
              </a:defRPr>
            </a:pPr>
            <a:r>
              <a:t>チームプランは YouTube Live</a:t>
            </a:r>
            <a:br/>
            <a:r>
              <a:t>同時配信 + アーカイブ自動保存</a:t>
            </a:r>
            <a:br/>
            <a:r>
              <a:t>— 視聴も拡散も両立。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市場の課題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Why Now? — 既存サービスがカバーしないローカルスポーツ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4754880" cy="47548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754880" cy="50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C2626"/>
                </a:solidFill>
                <a:latin typeface="Meiryo UI"/>
              </a:defRPr>
            </a:pPr>
            <a:r>
              <a:t>現在のスポーツ配信市場の空白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37744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43230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C2626"/>
                </a:solidFill>
                <a:latin typeface="Meiryo UI"/>
              </a:defRPr>
            </a:pPr>
            <a:r>
              <a:t>✕  スポーツブル等は有名校・上位校の試合のみ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97180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02666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C2626"/>
                </a:solidFill>
                <a:latin typeface="Meiryo UI"/>
              </a:defRPr>
            </a:pPr>
            <a:r>
              <a:t>✕  地域大会・少年団の試合は一切配信されない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56616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62102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C2626"/>
                </a:solidFill>
                <a:latin typeface="Meiryo UI"/>
              </a:defRPr>
            </a:pPr>
            <a:r>
              <a:t>✕  YouTube Live ではスコアが表示できない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16052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21538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C2626"/>
                </a:solidFill>
                <a:latin typeface="Meiryo UI"/>
              </a:defRPr>
            </a:pPr>
            <a:r>
              <a:t>✕  BAND (NAVER) はチーム連絡網が中心、配信補助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75488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80974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C2626"/>
                </a:solidFill>
                <a:latin typeface="Meiryo UI"/>
              </a:defRPr>
            </a:pPr>
            <a:r>
              <a:t>✕  得点板を映すと映像が遮られる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534924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40410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C2626"/>
                </a:solidFill>
                <a:latin typeface="Meiryo UI"/>
              </a:defRPr>
            </a:pPr>
            <a:r>
              <a:t>✕  試合のアーカイブが散逸・管理できない</a:t>
            </a:r>
          </a:p>
        </p:txBody>
      </p:sp>
      <p:sp>
        <p:nvSpPr>
          <p:cNvPr id="22" name="Notched Right Arrow 21"/>
          <p:cNvSpPr/>
          <p:nvPr/>
        </p:nvSpPr>
        <p:spPr>
          <a:xfrm>
            <a:off x="5760720" y="3474720"/>
            <a:ext cx="914400" cy="457200"/>
          </a:xfrm>
          <a:prstGeom prst="notchedRightArrow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0" y="1645920"/>
            <a:ext cx="4754880" cy="475488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1645920"/>
            <a:ext cx="475488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6A34A"/>
                </a:solidFill>
                <a:latin typeface="Meiryo UI"/>
              </a:defRPr>
            </a:pPr>
            <a:r>
              <a:t>LIVE SPOtCH の解決策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237744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43230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Meiryo UI"/>
              </a:defRPr>
            </a:pPr>
            <a:r>
              <a:t>✓  スコアオーバーレイ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43230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TV中継のようにスコアを常時表示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0" y="297180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302666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Meiryo UI"/>
              </a:defRPr>
            </a:pPr>
            <a:r>
              <a:t>✓  YouTube Live 同時配信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02666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チームプランで自動 push + アーカイブ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0" y="356616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362102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Meiryo UI"/>
              </a:defRPr>
            </a:pPr>
            <a:r>
              <a:t>✓  Web版（PWA）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36210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URLタップで即視聴、DL不要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416052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421538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Meiryo UI"/>
              </a:defRPr>
            </a:pPr>
            <a:r>
              <a:t>✓  LINE共有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42153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ワンタップで家族・チームに共有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0" y="475488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480974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Meiryo UI"/>
              </a:defRPr>
            </a:pPr>
            <a:r>
              <a:t>✓  チーム管理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80974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メンバー招待・権限管理を一元化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0" y="534924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540410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Meiryo UI"/>
              </a:defRPr>
            </a:pPr>
            <a:r>
              <a:t>✓  Made for Kids 対応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13歳未満視聴対応で安全配信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なぜ部活動か — 加速度的な拡散モデル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Viral Growth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743200"/>
            <a:ext cx="9601200" cy="381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4520" y="1828800"/>
            <a:ext cx="571500" cy="571500"/>
          </a:xfrm>
          <a:prstGeom prst="ellipse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85623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eiryo UI"/>
              </a:defRPr>
            </a:pPr>
            <a: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91840"/>
            <a:ext cx="2560320" cy="29260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91840"/>
            <a:ext cx="256032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4747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E63946"/>
                </a:solidFill>
                <a:latin typeface="Meiryo UI"/>
              </a:defRPr>
            </a:pPr>
            <a: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4903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172A"/>
                </a:solidFill>
                <a:latin typeface="Meiryo UI"/>
              </a:defRPr>
            </a:pPr>
            <a:r>
              <a:t>保護者1人が配信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062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スマホ1台で</a:t>
            </a:r>
            <a:br/>
            <a:r>
              <a:t>我が子の試合を配信</a:t>
            </a:r>
            <a:br/>
            <a:r>
              <a:t>→ チーム内30-50人が視聴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CA3AF"/>
                </a:solidFill>
                <a:latin typeface="Meiryo UI"/>
              </a:defRPr>
            </a:pPr>
            <a:r>
              <a:t>→</a:t>
            </a:r>
          </a:p>
        </p:txBody>
      </p:sp>
      <p:sp>
        <p:nvSpPr>
          <p:cNvPr id="16" name="Oval 15"/>
          <p:cNvSpPr/>
          <p:nvPr/>
        </p:nvSpPr>
        <p:spPr>
          <a:xfrm>
            <a:off x="4709160" y="1828800"/>
            <a:ext cx="571500" cy="5715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85623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eiryo UI"/>
              </a:defRPr>
            </a:pPr>
            <a: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3291840"/>
            <a:ext cx="2560320" cy="29260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291840"/>
            <a:ext cx="256032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34747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563EB"/>
                </a:solidFill>
                <a:latin typeface="Meiryo UI"/>
              </a:defRPr>
            </a:pPr>
            <a: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74903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172A"/>
                </a:solidFill>
                <a:latin typeface="Meiryo UI"/>
              </a:defRPr>
            </a:pPr>
            <a:r>
              <a:t>対戦相手が発見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2062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「うちもやりたい！」</a:t>
            </a:r>
            <a:br/>
            <a:r>
              <a:t>→ 相手チームの保護者も</a:t>
            </a:r>
            <a:br/>
            <a:r>
              <a:t>配信者に転換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CA3AF"/>
                </a:solidFill>
                <a:latin typeface="Meiryo UI"/>
              </a:defRPr>
            </a:pPr>
            <a: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7543800" y="1828800"/>
            <a:ext cx="571500" cy="5715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85623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eiryo UI"/>
              </a:defRPr>
            </a:pPr>
            <a: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291840"/>
            <a:ext cx="2560320" cy="29260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3291840"/>
            <a:ext cx="256032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4747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6A34A"/>
                </a:solidFill>
                <a:latin typeface="Meiryo UI"/>
              </a:defRPr>
            </a:pPr>
            <a: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74903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172A"/>
                </a:solidFill>
                <a:latin typeface="Meiryo UI"/>
              </a:defRPr>
            </a:pPr>
            <a:r>
              <a:t>大会全体に波及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2062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大会主催者が推奨</a:t>
            </a:r>
            <a:br/>
            <a:r>
              <a:t>→ 全参加チームが利用</a:t>
            </a:r>
            <a:br/>
            <a:r>
              <a:t>→ 1大会で100-200人獲得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CA3AF"/>
                </a:solidFill>
                <a:latin typeface="Meiryo UI"/>
              </a:defRPr>
            </a:pPr>
            <a:r>
              <a:t>→</a:t>
            </a:r>
          </a:p>
        </p:txBody>
      </p:sp>
      <p:sp>
        <p:nvSpPr>
          <p:cNvPr id="32" name="Oval 31"/>
          <p:cNvSpPr/>
          <p:nvPr/>
        </p:nvSpPr>
        <p:spPr>
          <a:xfrm>
            <a:off x="10378440" y="1828800"/>
            <a:ext cx="571500" cy="571500"/>
          </a:xfrm>
          <a:prstGeom prst="ellipse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0" y="185623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eiryo UI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91840"/>
            <a:ext cx="2560320" cy="29260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6880" y="3291840"/>
            <a:ext cx="2560320" cy="508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5480" y="34747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EA880B"/>
                </a:solidFill>
                <a:latin typeface="Meiryo UI"/>
              </a:defRPr>
            </a:pPr>
            <a:r>
              <a:t>Step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74903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172A"/>
                </a:solidFill>
                <a:latin typeface="Meiryo UI"/>
              </a:defRPr>
            </a:pPr>
            <a:r>
              <a:t>地域のスタンダード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42062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サッカー→野球→バスケ</a:t>
            </a:r>
            <a:br/>
            <a:r>
              <a:t>→ 複数スポーツに横展開</a:t>
            </a:r>
            <a:br/>
            <a:r>
              <a:t>→ 地域のインフラに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6400800"/>
            <a:ext cx="10515600" cy="36576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641908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部活動は保護者コミュニティが密接 → 口コミの拡散速度が圧倒的に速い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市場規模 + 競合分析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Market Size &amp; 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4937760" cy="47548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172A"/>
                </a:solidFill>
                <a:latin typeface="Meiryo UI"/>
              </a:defRPr>
            </a:pPr>
            <a:r>
              <a:t>ターゲット市場規模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中学校 部活動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77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172A"/>
                </a:solidFill>
                <a:latin typeface="Meiryo UI"/>
              </a:defRPr>
            </a:pPr>
            <a:r>
              <a:t>約270万人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2697480"/>
            <a:ext cx="393192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88720" y="2697480"/>
            <a:ext cx="1936376" cy="2286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91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高校 部活動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91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172A"/>
                </a:solidFill>
                <a:latin typeface="Meiryo UI"/>
              </a:defRPr>
            </a:pPr>
            <a:r>
              <a:t>約180万人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3611880"/>
            <a:ext cx="393192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3611880"/>
            <a:ext cx="1290917" cy="2286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スポーツ少年団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172A"/>
                </a:solidFill>
                <a:latin typeface="Meiryo UI"/>
              </a:defRPr>
            </a:pPr>
            <a:r>
              <a:t>約60万人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4526280"/>
            <a:ext cx="393192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88720" y="4526280"/>
            <a:ext cx="430305" cy="2286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8720" y="5029200"/>
            <a:ext cx="3931920" cy="127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2120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保護者・家族を含む対象層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778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3946"/>
                </a:solidFill>
                <a:latin typeface="Meiryo UI"/>
              </a:defRPr>
            </a:pPr>
            <a:r>
              <a:t>1,000〜1,500万人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783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172A"/>
                </a:solidFill>
                <a:latin typeface="Meiryo UI"/>
              </a:defRPr>
            </a:pPr>
            <a:r>
              <a:t>競合との差別化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2377440"/>
            <a:ext cx="4572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F172A"/>
                </a:solidFill>
                <a:latin typeface="Meiryo UI"/>
              </a:defRPr>
            </a:pPr>
            <a:r>
              <a:t>スポーツブル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プロ・大学スポーツ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2626"/>
                </a:solidFill>
                <a:latin typeface="Meiryo UI"/>
              </a:defRPr>
            </a:pPr>
            <a:r>
              <a:t>ローカル未対応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3154680"/>
            <a:ext cx="4572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F172A"/>
                </a:solidFill>
                <a:latin typeface="Meiryo UI"/>
              </a:defRPr>
            </a:pPr>
            <a:r>
              <a:t>YouTube Live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汎用配信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32461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2626"/>
                </a:solidFill>
                <a:latin typeface="Meiryo UI"/>
              </a:defRPr>
            </a:pPr>
            <a:r>
              <a:t>スコア・連携なし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3931920"/>
            <a:ext cx="4572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023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F172A"/>
                </a:solidFill>
                <a:latin typeface="Meiryo UI"/>
              </a:defRPr>
            </a:pPr>
            <a:r>
              <a:t>BAND (NAVER)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チーム連絡網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40233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2626"/>
                </a:solidFill>
                <a:latin typeface="Meiryo UI"/>
              </a:defRPr>
            </a:pPr>
            <a:r>
              <a:t>配信は補助機能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4709160"/>
            <a:ext cx="4572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4800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F172A"/>
                </a:solidFill>
                <a:latin typeface="Meiryo UI"/>
              </a:defRPr>
            </a:pPr>
            <a:r>
              <a:t>DAZN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800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プロ月額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48006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2626"/>
                </a:solidFill>
                <a:latin typeface="Meiryo UI"/>
              </a:defRPr>
            </a:pPr>
            <a:r>
              <a:t>アマチュア未対応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5486400"/>
            <a:ext cx="4572000" cy="59436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5577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172A"/>
                </a:solidFill>
                <a:latin typeface="Meiryo UI"/>
              </a:defRPr>
            </a:pPr>
            <a:r>
              <a:t>LIVE SPOtCH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5577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ローカルスポーツ専用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55778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6A34A"/>
                </a:solidFill>
                <a:latin typeface="Meiryo UI"/>
              </a:defRPr>
            </a:pPr>
            <a:r>
              <a:t>唯一の選択肢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6446520"/>
            <a:ext cx="5120640" cy="32004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646480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63946"/>
                </a:solidFill>
                <a:latin typeface="Meiryo UI"/>
              </a:defRPr>
            </a:pPr>
            <a:r>
              <a:t>国内に直接競合なし = ブルーオーシャン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詳細市場推計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Detailed Market Sizing — 公開統計データに基づく推計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486400" cy="448056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F172A"/>
                </a:solidFill>
                <a:latin typeface="Meiryo UI"/>
              </a:defRPr>
            </a:pPr>
            <a:r>
              <a:t>セグメント別の競技人口（公開統計）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28600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331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小学校 児童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約 620 万人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65176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うちスポ少登録 約 60 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1635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Meiryo UI"/>
              </a:defRPr>
            </a:pPr>
            <a:r>
              <a:t>出典: 文部科学省 学校基本調査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15468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中学校 運動部所属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約 190 万人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中学生の約 60% が運動部所属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8503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Meiryo UI"/>
              </a:defRPr>
            </a:pPr>
            <a:r>
              <a:t>出典: 日本中学校体育連盟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40233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0690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高校 運動部所属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069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約 110 万人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389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高校生の約 38% が運動部所属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55371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Meiryo UI"/>
              </a:defRPr>
            </a:pPr>
            <a:r>
              <a:t>出典: 全国高等学校体育連盟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89204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4937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スポーツ少年団 登録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937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約 60 万人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5780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小学生中心の地域クラブ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422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Meiryo UI"/>
              </a:defRPr>
            </a:pPr>
            <a:r>
              <a:t>出典: 日本スポーツ少年団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5852160"/>
            <a:ext cx="4937760" cy="27432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58704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63946"/>
                </a:solidFill>
                <a:latin typeface="Meiryo UI"/>
              </a:defRPr>
            </a:pPr>
            <a:r>
              <a:t>コア競技人口 合計  約 360-380 万人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1645920"/>
            <a:ext cx="4937760" cy="448056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1783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F172A"/>
                </a:solidFill>
                <a:latin typeface="Meiryo UI"/>
              </a:defRPr>
            </a:pPr>
            <a:r>
              <a:t>TAM / SAM / SOM 推計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0" y="2286000"/>
            <a:ext cx="4572000" cy="96012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040880" y="2286000"/>
            <a:ext cx="50800" cy="9601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234086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63946"/>
                </a:solidFill>
                <a:latin typeface="Meiryo UI"/>
              </a:defRPr>
            </a:pPr>
            <a:r>
              <a:t>TAM — 全潜在視聴・配信層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26060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F172A"/>
                </a:solidFill>
                <a:latin typeface="Meiryo UI"/>
              </a:defRPr>
            </a:pPr>
            <a:r>
              <a:t>1,140-1,520 万人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2971800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6680"/>
                </a:solidFill>
                <a:latin typeface="Meiryo UI"/>
              </a:defRPr>
            </a:pPr>
            <a:r>
              <a:t>競技人口 380万 × 平均 3-4 名 (両親・祖父母・近親者)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0" y="3429000"/>
            <a:ext cx="3474720" cy="960120"/>
          </a:xfrm>
          <a:prstGeom prst="roundRect">
            <a:avLst/>
          </a:prstGeom>
          <a:solidFill>
            <a:srgbClr val="EB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20" y="3429000"/>
            <a:ext cx="508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0" y="348386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Meiryo UI"/>
              </a:defRPr>
            </a:pPr>
            <a:r>
              <a:t>SAM — 撮影可能保護者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7490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F172A"/>
                </a:solidFill>
                <a:latin typeface="Meiryo UI"/>
              </a:defRPr>
            </a:pPr>
            <a:r>
              <a:t>190-380 万人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41148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6680"/>
                </a:solidFill>
                <a:latin typeface="Meiryo UI"/>
              </a:defRPr>
            </a:pPr>
            <a:r>
              <a:t>競技人口の保護者 1-2 名 (配信者候補)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60" y="4572000"/>
            <a:ext cx="2377440" cy="96012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38160" y="4572000"/>
            <a:ext cx="50800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626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6A34A"/>
                </a:solidFill>
                <a:latin typeface="Meiryo UI"/>
              </a:defRPr>
            </a:pPr>
            <a:r>
              <a:t>SOM — Year 3 達成目標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892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F172A"/>
                </a:solidFill>
                <a:latin typeface="Meiryo UI"/>
              </a:defRPr>
            </a:pPr>
            <a:r>
              <a:t>13,000 人 / 5,144 万円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257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6680"/>
                </a:solidFill>
                <a:latin typeface="Meiryo UI"/>
              </a:defRPr>
            </a:pPr>
            <a:r>
              <a:t>SAM の約 0.5% 以下 (慎重な算定)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2960" y="6446520"/>
            <a:ext cx="10698480" cy="320040"/>
          </a:xfrm>
          <a:prstGeom prst="roundRect">
            <a:avLst/>
          </a:prstGeom>
          <a:solidFill>
            <a:srgbClr val="F0F0F5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5840" y="646480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※ 数値は文部科学省「学校基本調査 令和5年度」/ 中体連・高体連 登録者数 / 日本スポーツ少年団 登録状況 等の公開データに基づく当社推計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ビジネスモデル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Pricing Plans v2 (2026/04/30 確定)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474720" cy="47548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3474720" cy="50800"/>
          </a:xfrm>
          <a:prstGeom prst="rect">
            <a:avLst/>
          </a:prstGeom>
          <a:solidFill>
            <a:srgbClr val="666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66680"/>
                </a:solidFill>
                <a:latin typeface="Meiryo UI"/>
              </a:defRPr>
            </a:pPr>
            <a:r>
              <a:t>無料プラン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0F172A"/>
                </a:solidFill>
                <a:latin typeface="Meiryo UI"/>
              </a:defRPr>
            </a:pPr>
            <a:r>
              <a:t>¥0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視聴者向け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200400"/>
            <a:ext cx="2926080" cy="127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ライブ視聴（無制限）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673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1ヶ月以内のアーカイブ視聴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1513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試合スコアの閲覧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1645920"/>
            <a:ext cx="3474720" cy="475488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1645920"/>
            <a:ext cx="347472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63946"/>
                </a:solidFill>
                <a:latin typeface="Meiryo UI"/>
              </a:defRPr>
            </a:pPr>
            <a:r>
              <a:t>配信者プラン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0F172A"/>
                </a:solidFill>
                <a:latin typeface="Meiryo UI"/>
              </a:defRPr>
            </a:pPr>
            <a:r>
              <a:t>¥300/月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880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個人保護者向け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3200400"/>
            <a:ext cx="2926080" cy="127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3383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ライブ配信機能（無制限）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7673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スコアボード常時表示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1513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LINE共有・QRコード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5354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限定公開URL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9194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初回10分間無料お試し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3035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※ アーカイブなし(ライブ専用)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1645920"/>
            <a:ext cx="3474720" cy="47548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21040" y="1645920"/>
            <a:ext cx="3474720" cy="508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32720" y="1463040"/>
            <a:ext cx="1280160" cy="320040"/>
          </a:xfrm>
          <a:prstGeom prst="round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0" y="14630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 UI"/>
              </a:defRPr>
            </a:pPr>
            <a:r>
              <a:t>推奨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A880B"/>
                </a:solidFill>
                <a:latin typeface="Meiryo UI"/>
              </a:defRPr>
            </a:pPr>
            <a:r>
              <a:t>チームプラン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0F172A"/>
                </a:solidFill>
                <a:latin typeface="Meiryo UI"/>
              </a:defRPr>
            </a:pPr>
            <a:r>
              <a:t>¥500/月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2880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チーム代表向け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95360" y="3200400"/>
            <a:ext cx="2926080" cy="127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3383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配信者プランの全機能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37673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YouTube Live 同時配信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1513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YouTubeアーカイブ自動保存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45354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チーム管理・メンバー招待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9194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スケジュール管理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53035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AIハイライト (開発中)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6400800"/>
            <a:ext cx="10515600" cy="320040"/>
          </a:xfrm>
          <a:prstGeom prst="roundRect">
            <a:avLst/>
          </a:prstGeom>
          <a:solidFill>
            <a:srgbClr val="EB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8720" y="6419088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563EB"/>
                </a:solidFill>
                <a:latin typeface="Meiryo UI"/>
              </a:defRPr>
            </a:pPr>
            <a:r>
              <a:t>アーカイブ課金 ¥100/視聴: 1ヶ月経過後のアーカイブはチームプラン配信のみ視聴可能 (容量ベース従量課金)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3年間の収支計画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Financial Projection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64592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Year 1（立ち上げ期）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Year 2（成長期）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Year 3（拡大期）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登録ユーザー（期末）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8,000人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35,000人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100,000人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有料会員（期末）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1,000人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4,550人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13,000人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売上合計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153万円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1,291万円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5,144万円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経費合計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503万円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634万円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1,479万円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営業損益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▲350万円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+657万円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+3,665万円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累計損益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▲350万円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+307万円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+3,972万円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" y="5120640"/>
            <a:ext cx="10515600" cy="54864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519379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63946"/>
                </a:solidFill>
                <a:latin typeface="Meiryo UI"/>
              </a:defRPr>
            </a:pPr>
            <a:r>
              <a:t>Year 2で単月黒字化 → 借入金700万円はYear 2〜3で完済見込み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資金計画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700万円の使途内訳 (v2 改訂)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200400" cy="109728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借入希望額</a:t>
            </a:r>
          </a:p>
          <a:p>
            <a:pPr algn="l">
              <a:spcAft>
                <a:spcPts val="400"/>
              </a:spcAft>
              <a:defRPr sz="4200" b="1">
                <a:solidFill>
                  <a:srgbClr val="E63946"/>
                </a:solidFill>
                <a:latin typeface="Meiryo UI"/>
              </a:defRPr>
            </a:pPr>
            <a:r>
              <a:t>700万円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公庫350万 + 埼玉りそな350万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協調融資による分散リスク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Meiryo UI"/>
              </a:defRPr>
            </a:pPr>
            <a:r>
              <a:t>マーケティング費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240万円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063240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3063240"/>
            <a:ext cx="5829300" cy="2286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2740" y="3017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E63946"/>
                </a:solidFill>
                <a:latin typeface="Meiryo UI"/>
              </a:defRPr>
            </a:pPr>
            <a:r>
              <a:t>34%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3756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Meta/Google広告 / PRTIMES / SNS / 販促物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9475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Meiryo UI"/>
              </a:defRPr>
            </a:pPr>
            <a:r>
              <a:t>開発費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7947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Meiryo UI"/>
              </a:defRPr>
            </a:pPr>
            <a:r>
              <a:t>210万円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840479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0" y="3840479"/>
            <a:ext cx="5143500" cy="2286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6940" y="37947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2563EB"/>
                </a:solidFill>
                <a:latin typeface="Meiryo UI"/>
              </a:defRPr>
            </a:pPr>
            <a:r>
              <a:t>30%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114799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LiveKit Cloud Ship + TCP化中継server + AI開発支援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Meiryo UI"/>
              </a:defRPr>
            </a:pPr>
            <a:r>
              <a:t>運転資金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572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A880B"/>
                </a:solidFill>
                <a:latin typeface="Meiryo UI"/>
              </a:defRPr>
            </a:pPr>
            <a:r>
              <a:t>170万円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4617720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0" y="4617720"/>
            <a:ext cx="4114800" cy="228600"/>
          </a:xfrm>
          <a:prstGeom prst="round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0" y="4572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EA880B"/>
                </a:solidFill>
                <a:latin typeface="Meiryo UI"/>
              </a:defRPr>
            </a:pPr>
            <a:r>
              <a:t>24%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9204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LIN-NAH既存事業との並行運営 (6ヶ月分)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349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Meiryo UI"/>
              </a:defRPr>
            </a:pPr>
            <a:r>
              <a:t>予備費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5349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7C3AED"/>
                </a:solidFill>
                <a:latin typeface="Meiryo UI"/>
              </a:defRPr>
            </a:pPr>
            <a:r>
              <a:t>50万円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5394960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0" y="5394960"/>
            <a:ext cx="120015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63590" y="5349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C3AED"/>
                </a:solidFill>
                <a:latin typeface="Meiryo UI"/>
              </a:defRPr>
            </a:pPr>
            <a:r>
              <a:t>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66928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OAuth審査追加対応 / TCP化想定外コスト / 法務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1264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Meiryo UI"/>
              </a:defRPr>
            </a:pPr>
            <a:r>
              <a:t>インフラ費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61264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6A34A"/>
                </a:solidFill>
                <a:latin typeface="Meiryo UI"/>
              </a:defRPr>
            </a:pPr>
            <a:r>
              <a:t>30万円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0" y="6172199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0" y="6172199"/>
            <a:ext cx="857250" cy="2286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20690" y="61264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6A34A"/>
                </a:solidFill>
                <a:latin typeface="Meiryo UI"/>
              </a:defRPr>
            </a:pPr>
            <a:r>
              <a:t>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19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YouTube API / Egress帯域 / Vercel Pro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完璧化進捗 → 6月中旬 正式ローンチ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Phase 0: Pre-Launch Polish 完了状況 + 6月実行プラン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486400" cy="493776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172A"/>
                </a:solidFill>
                <a:latin typeface="Meiryo UI"/>
              </a:defRPr>
            </a:pPr>
            <a:r>
              <a:t>5月完璧化 — 3本柱の進捗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286000"/>
            <a:ext cx="493776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286000"/>
            <a:ext cx="50800" cy="1280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6A34A"/>
                </a:solidFill>
                <a:latin typeface="Meiryo UI"/>
              </a:defRPr>
            </a:pPr>
            <a:r>
              <a:t>A. Google OAuth 認定通過 ✅ 完了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432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Meiryo UI"/>
              </a:defRPr>
            </a:pPr>
            <a:r>
              <a:t>2026-05-13 正式通過済。3 scope (readonly/upload/youtube) すべて承認。「未確認のアプリ」警告画面消滅 + 100枠制限解除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657600"/>
            <a:ext cx="493776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3657600"/>
            <a:ext cx="50800" cy="1280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749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6A34A"/>
                </a:solidFill>
                <a:latin typeface="Meiryo UI"/>
              </a:defRPr>
            </a:pPr>
            <a:r>
              <a:t>C. 本番運用上の細部仕上げ ✅ 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1148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Meiryo UI"/>
              </a:defRPr>
            </a:pPr>
            <a:r>
              <a:t>5/28-29 に YouTube 埋め込み許可・モバイル遷移体感改善・依存ライブラリ 13 種一括最新化・「アプリを開く」体感空白解消を実施。本番品質を引き上げ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5029200"/>
            <a:ext cx="493776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5029200"/>
            <a:ext cx="50800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5120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Meiryo UI"/>
              </a:defRPr>
            </a:pPr>
            <a:r>
              <a:t>B. 配信プロトコル TCP 化 → ローンチ後継続改善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4864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Meiryo UI"/>
              </a:defRPr>
            </a:pPr>
            <a:r>
              <a:t>MediaRecorder + 中継 server で RTMP 化し 4G 環境下の高画質化。月+$5-20。ローンチ品質に必須ではないため継続改善項目に整理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1645920"/>
            <a:ext cx="4937760" cy="493776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783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63946"/>
                </a:solidFill>
                <a:latin typeface="Meiryo UI"/>
              </a:defRPr>
            </a:pPr>
            <a:r>
              <a:t>ローンチタイムライン (v3)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286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F172A"/>
                </a:solidFill>
                <a:latin typeface="Meiryo UI"/>
              </a:defRPr>
            </a:pPr>
            <a:r>
              <a:t>5/10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0F172A"/>
                </a:solidFill>
                <a:latin typeface="Meiryo UI"/>
              </a:defRPr>
            </a:pPr>
            <a:r>
              <a:t>本番稼働・ブロックシード大会 53 分配信完走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7432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6A34A"/>
                </a:solidFill>
                <a:latin typeface="Meiryo UI"/>
              </a:defRPr>
            </a:pPr>
            <a:r>
              <a:t>5/13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743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6A34A"/>
                </a:solidFill>
                <a:latin typeface="Meiryo UI"/>
              </a:defRPr>
            </a:pPr>
            <a:r>
              <a:t>✅ Google OAuth 検証通過 (3 scope 承認)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6A34A"/>
                </a:solidFill>
                <a:latin typeface="Meiryo UI"/>
              </a:defRPr>
            </a:pPr>
            <a:r>
              <a:t>5/21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6A34A"/>
                </a:solidFill>
                <a:latin typeface="Meiryo UI"/>
              </a:defRPr>
            </a:pPr>
            <a:r>
              <a:t>✅ 無施策で外部有料 3 件・MRR ¥1,300/月 確認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657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6A34A"/>
                </a:solidFill>
                <a:latin typeface="Meiryo UI"/>
              </a:defRPr>
            </a:pPr>
            <a:r>
              <a:t>5/28-29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657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6A34A"/>
                </a:solidFill>
                <a:latin typeface="Meiryo UI"/>
              </a:defRPr>
            </a:pPr>
            <a:r>
              <a:t>✅ 視聴・モバイル・依存 一括改善 (127 PR)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1148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63946"/>
                </a:solidFill>
                <a:latin typeface="Meiryo UI"/>
              </a:defRPr>
            </a:pPr>
            <a:r>
              <a:t>5/29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E63946"/>
                </a:solidFill>
                <a:latin typeface="Meiryo UI"/>
              </a:defRPr>
            </a:pPr>
            <a:r>
              <a:t>本依頼書作成 (本日)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572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63946"/>
                </a:solidFill>
                <a:latin typeface="Meiryo UI"/>
              </a:defRPr>
            </a:pPr>
            <a:r>
              <a:t>6/1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E63946"/>
                </a:solidFill>
                <a:latin typeface="Meiryo UI"/>
              </a:defRPr>
            </a:pPr>
            <a:r>
              <a:t>★ 顧問税理士確認・最終化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0292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63946"/>
                </a:solidFill>
                <a:latin typeface="Meiryo UI"/>
              </a:defRPr>
            </a:pPr>
            <a:r>
              <a:t>6月上旬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E63946"/>
                </a:solidFill>
                <a:latin typeface="Meiryo UI"/>
              </a:defRPr>
            </a:pPr>
            <a:r>
              <a:t>★ 公庫 + 埼玉りそな ご提出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4864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63946"/>
                </a:solidFill>
                <a:latin typeface="Meiryo UI"/>
              </a:defRPr>
            </a:pPr>
            <a:r>
              <a:t>6月中旬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E63946"/>
                </a:solidFill>
                <a:latin typeface="Meiryo UI"/>
              </a:defRPr>
            </a:pPr>
            <a:r>
              <a:t>★ 着金 + 正式ローンチ + 広告開始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5943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6A34A"/>
                </a:solidFill>
                <a:latin typeface="Meiryo UI"/>
              </a:defRPr>
            </a:pPr>
            <a:r>
              <a:t>8月末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6A34A"/>
                </a:solidFill>
                <a:latin typeface="Meiryo UI"/>
              </a:defRPr>
            </a:pPr>
            <a:r>
              <a:t>KPI ゲート 1: 有料 5 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64008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6A34A"/>
                </a:solidFill>
                <a:latin typeface="Meiryo UI"/>
              </a:defRPr>
            </a:pPr>
            <a:r>
              <a:t>10月初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6A34A"/>
                </a:solidFill>
                <a:latin typeface="Meiryo UI"/>
              </a:defRPr>
            </a:pPr>
            <a:r>
              <a:t>KPI ゲート 2: 有料 20 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ローンチ前の実課金トラクション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Pre-Launch Paid Traction — 無施策で外部有料課金 3 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128016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0800" cy="1280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783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6A34A"/>
                </a:solidFill>
                <a:latin typeface="Meiryo UI"/>
              </a:defRPr>
            </a:pPr>
            <a:r>
              <a:t>正式ローンチ前・広告ゼロ・営業ゼロの段階で、外部から有料課金 3 件が自然発生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94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実課金 MRR</a:t>
            </a:r>
          </a:p>
          <a:p>
            <a:pPr algn="l">
              <a:spcAft>
                <a:spcPts val="400"/>
              </a:spcAft>
              <a:defRPr sz="2200" b="1">
                <a:solidFill>
                  <a:srgbClr val="0F172A"/>
                </a:solidFill>
                <a:latin typeface="Meiryo UI"/>
              </a:defRPr>
            </a:pPr>
            <a:r>
              <a:t>¥1,300 / 月  (チーム¥500 × 2 + 配信者¥300 × 1)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31089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カテゴリ (匿名化)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プラン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課金開始日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実利用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少年サッカーアカデミー (U8)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チーム ¥500/月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2026-05-18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当日に配信 3 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スポーツチーム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チーム ¥500/月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2026-05-15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2 日で配信 4 回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個人保護者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配信者 ¥300/月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3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t>当日に配信 4 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22960" y="5212080"/>
            <a:ext cx="10515600" cy="118872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349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「作ったが誰も使わない」リスクの低い、市場に求められた事業である実証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66928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Meiryo UI"/>
              </a:defRPr>
            </a:pPr>
            <a:r>
              <a:t>  ✓  3 件とも Stripe 本番決済での課金が継続中・全員が実際に試合配信に利用（計 11 配信）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961888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Meiryo UI"/>
              </a:defRPr>
            </a:pPr>
            <a:r>
              <a:t>  ✓  うち 2 件は地域の子どもスポーツチーム — ターゲット層そのものが自発的に発見・課金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254496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Meiryo UI"/>
              </a:defRPr>
            </a:pPr>
            <a:r>
              <a:t>  ✓  5/21 オーナー確認時点。個人情報保護のため氏名・チーム名は匿名化、Stripe・Supabase 記録にて実在確認可能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開発実績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本番稼働中 — 直近50日で127件PRマージ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457200"/>
          </a:xfrm>
          <a:prstGeom prst="roundRect">
            <a:avLst/>
          </a:prstGeom>
          <a:solidFill>
            <a:srgbClr val="F0F0F5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10515600" cy="4572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7335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 UI"/>
              </a:defRPr>
            </a:pPr>
            <a:r>
              <a:t>本番稼働 100%（基盤完成 / 細部仕上げ中）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6858000" cy="402336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468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6A34A"/>
                </a:solidFill>
                <a:latin typeface="Meiryo UI"/>
              </a:defRPr>
            </a:pPr>
            <a:r>
              <a:t>✅ 直近50日 (4/9-5/29) PR 内訳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803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インフラ・セキュリティ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880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18 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6440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配信品質改善 (A/V drift / カメラ / 音声)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264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28 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64845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YouTube連携 (OAuth / Live同時配信 / 埋め込み許可)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19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032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決済・課金 (Stripe)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0325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8 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165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UI/UX 改善 (モバイル遷移体感改善含む)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4165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31 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800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運用堅牢化 (ストレイ対策・視聴経路最適化)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8006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6 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1846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その他 (依存更新・ドキュメント)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51846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17 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56869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【合計】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55686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63946"/>
                </a:solidFill>
                <a:latin typeface="Meiryo UI"/>
              </a:defRPr>
            </a:pPr>
            <a:r>
              <a:t>127 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79" y="2377440"/>
            <a:ext cx="3383280" cy="2286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24688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A880B"/>
                </a:solidFill>
                <a:latin typeface="Meiryo UI"/>
              </a:defRPr>
            </a:pPr>
            <a:r>
              <a:t>5月完璧化 進捗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Google OAuth 認定通過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926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✅ 5/13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474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細部 UX 仕上げ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474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✅ 5/28-29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配信 TCP 化 (B案)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4023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ローンチ後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937760"/>
            <a:ext cx="3383280" cy="146304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50292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本番URL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live-spotch.com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623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66680"/>
                </a:solidFill>
                <a:latin typeface="Meiryo UI"/>
              </a:defRPr>
            </a:pPr>
            <a:r>
              <a:t>本番稼働: 2026/4/19〜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8978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正式ローンチ: 2026/6 中旬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6446520"/>
            <a:ext cx="10515600" cy="32004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88720" y="6464808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E63946"/>
                </a:solidFill>
                <a:latin typeface="Meiryo UI"/>
              </a:defRPr>
            </a:pPr>
            <a:r>
              <a:t>5/10 大会 53 分配信完走 / 5/13 OAuth 通過 / 5/21 外部有料 3 件確認 / 5/28-29 視聴・モバイル・依存 一括改善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知的財産・参入障壁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IP &amp; Competitive Moat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120640" cy="219456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74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63946"/>
                </a:solidFill>
                <a:latin typeface="Meiryo UI"/>
              </a:defRPr>
            </a:pPr>
            <a:r>
              <a:t>商標登録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2E"/>
                </a:solidFill>
                <a:latin typeface="Meiryo UI"/>
              </a:defRPr>
            </a:pPr>
            <a:r>
              <a:t>「LIVE SPOtCH」の商標出願を予定。</a:t>
            </a:r>
            <a:br/>
            <a:r>
              <a:t>サービス名のブランド保護。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120640" cy="2194560"/>
          </a:xfrm>
          <a:prstGeom prst="roundRect">
            <a:avLst/>
          </a:prstGeom>
          <a:solidFill>
            <a:srgbClr val="EB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645920"/>
            <a:ext cx="5120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74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563EB"/>
                </a:solidFill>
                <a:latin typeface="Meiryo UI"/>
              </a:defRPr>
            </a:pPr>
            <a:r>
              <a:t>特許出願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2E"/>
                </a:solidFill>
                <a:latin typeface="Meiryo UI"/>
              </a:defRPr>
            </a:pPr>
            <a:r>
              <a:t>スコアオーバーレイ×ライブ配信×</a:t>
            </a:r>
            <a:br/>
            <a:r>
              <a:t>スポーツルールエンジンの組み合わせ</a:t>
            </a:r>
            <a:br/>
            <a:r>
              <a:t>技術について特許出願を検討。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06240"/>
            <a:ext cx="5120640" cy="219456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206240"/>
            <a:ext cx="512064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6A34A"/>
                </a:solidFill>
                <a:latin typeface="Meiryo UI"/>
              </a:defRPr>
            </a:pPr>
            <a:r>
              <a:t>先行者優位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2E"/>
                </a:solidFill>
                <a:latin typeface="Meiryo UI"/>
              </a:defRPr>
            </a:pPr>
            <a:r>
              <a:t>ネットワーク効果：チーム単位で普及</a:t>
            </a:r>
            <a:br/>
            <a:r>
              <a:t>→ 先に広がった側が勝つ。</a:t>
            </a:r>
            <a:br/>
            <a:r>
              <a:t>UGCの蓄積が参入障壁になる。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206240"/>
            <a:ext cx="5120640" cy="2194560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4206240"/>
            <a:ext cx="51206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7C3AED"/>
                </a:solidFill>
                <a:latin typeface="Meiryo UI"/>
              </a:defRPr>
            </a:pPr>
            <a:r>
              <a:t>AI技術蓄積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846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2E"/>
                </a:solidFill>
                <a:latin typeface="Meiryo UI"/>
              </a:defRPr>
            </a:pPr>
            <a:r>
              <a:t>将来のマルチカメラAI自動切替、</a:t>
            </a:r>
            <a:br/>
            <a:r>
              <a:t>AIハイライト自動生成など</a:t>
            </a:r>
            <a:br/>
            <a:r>
              <a:t>独自の技術蓄積を計画。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F172A"/>
                </a:solidFill>
                <a:latin typeface="Meiryo UI"/>
              </a:defRPr>
            </a:pPr>
            <a:r>
              <a:t>開発コスト戦略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80"/>
                </a:solidFill>
                <a:latin typeface="Meiryo UI"/>
              </a:defRPr>
            </a:pPr>
            <a:r>
              <a:t>AI活用による大幅なコスト削減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4754880" cy="20116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754880" cy="50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Meiryo UI"/>
              </a:defRPr>
            </a:pPr>
            <a:r>
              <a:t>通常の開発会社に外注した場合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現在完成分の見積もり</a:t>
            </a:r>
          </a:p>
          <a:p>
            <a:pPr algn="l">
              <a:spcAft>
                <a:spcPts val="400"/>
              </a:spcAft>
              <a:defRPr sz="2600" b="1">
                <a:solidFill>
                  <a:srgbClr val="0F172A"/>
                </a:solidFill>
                <a:latin typeface="Meiryo UI"/>
              </a:defRPr>
            </a:pPr>
            <a:r>
              <a:t>約 1,200 万円（税込）</a:t>
            </a:r>
          </a:p>
        </p:txBody>
      </p:sp>
      <p:sp>
        <p:nvSpPr>
          <p:cNvPr id="11" name="Notched Right Arrow 10"/>
          <p:cNvSpPr/>
          <p:nvPr/>
        </p:nvSpPr>
        <p:spPr>
          <a:xfrm>
            <a:off x="5760720" y="2286000"/>
            <a:ext cx="914400" cy="457200"/>
          </a:xfrm>
          <a:prstGeom prst="notchedRightArrow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0" y="1645920"/>
            <a:ext cx="4754880" cy="201168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645920"/>
            <a:ext cx="475488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6A34A"/>
                </a:solidFill>
                <a:latin typeface="Meiryo UI"/>
              </a:defRPr>
            </a:pPr>
            <a:r>
              <a:t>AI開発支援活用の実績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2860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80"/>
                </a:solidFill>
                <a:latin typeface="Meiryo UI"/>
              </a:defRPr>
            </a:pPr>
            <a:r>
              <a:t>実コスト</a:t>
            </a:r>
          </a:p>
          <a:p>
            <a:pPr algn="l">
              <a:spcAft>
                <a:spcPts val="400"/>
              </a:spcAft>
              <a:defRPr sz="2600" b="1">
                <a:solidFill>
                  <a:srgbClr val="16A34A"/>
                </a:solidFill>
                <a:latin typeface="Meiryo UI"/>
              </a:defRPr>
            </a:pPr>
            <a:r>
              <a:t>ほぼ ¥0（自社開発）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31920"/>
            <a:ext cx="10789920" cy="256032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0233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172A"/>
                </a:solidFill>
                <a:latin typeface="Meiryo UI"/>
              </a:defRPr>
            </a:pPr>
            <a:r>
              <a:t>なぜこれが可能なのか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3484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Claude 等の最新 AI 開発支援ツールにより、設計・実装・テスト・PR レビューまで自社で対応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80060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従来の外注開発に対し、90% 以上のコスト削減を実現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166359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5/29 時点で計 127 PR マージ、本番運用中（決済・チーム管理・YouTube連携すべて稼働中）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5321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5/10 試合実機で見えた課題を当日中に 5 PR で hotfix・5/28-29 にも視聴/モバイル一括改善 — 本番運用と並行した即応開発体制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897879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Meiryo UI"/>
              </a:defRPr>
            </a:pPr>
            <a:r>
              <a:t>  ✓  既存 LIN-NAH 事業で培ったデザイン・映像制作のノウハウもプロダクトに活用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E63946"/>
                </a:solidFill>
                <a:latin typeface="Meiryo UI"/>
              </a:defRPr>
            </a:pPr>
            <a:r>
              <a:t>LIVE SPOtCH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FFFFF"/>
                </a:solidFill>
                <a:latin typeface="Meiryo UI"/>
              </a:defRPr>
            </a:pPr>
            <a:r>
              <a:t>誰もがスポーツ中継のカメラマン。その一瞬の感動を手のひらに。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2286000"/>
            <a:ext cx="2743200" cy="254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43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DD"/>
                </a:solidFill>
                <a:latin typeface="Meiryo UI"/>
              </a:defRPr>
            </a:pPr>
            <a:r>
              <a:t>  ✓  国内に直接競合がないブルーオーシャン市場（TAM 1,140-1,520 万人 / 公開統計に基づく推計）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1821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DD"/>
                </a:solidFill>
                <a:latin typeface="Meiryo UI"/>
              </a:defRPr>
            </a:pPr>
            <a:r>
              <a:t>  ✓  本番稼働 100% (live-spotch.com) — 5/29 時点で計 127 PR マージ、5/13 Google OAuth 認定通過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62102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DD"/>
                </a:solidFill>
                <a:latin typeface="Meiryo UI"/>
              </a:defRPr>
            </a:pPr>
            <a:r>
              <a:t>  ✓  ローンチ前・無施策で外部有料 3 件・MRR ¥1,300/月 を確認（市場ニーズの実証）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059935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DD"/>
                </a:solidFill>
                <a:latin typeface="Meiryo UI"/>
              </a:defRPr>
            </a:pPr>
            <a:r>
              <a:t>  ✓  部活動・少年団コミュニティの口コミで加速度的に拡散（バイラルモデル）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988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DD"/>
                </a:solidFill>
                <a:latin typeface="Meiryo UI"/>
              </a:defRPr>
            </a:pPr>
            <a:r>
              <a:t>  ✓  UGCモデルで撮影コストゼロの全国展開が可能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DD"/>
                </a:solidFill>
                <a:latin typeface="Meiryo UI"/>
              </a:defRPr>
            </a:pPr>
            <a:r>
              <a:t>  ✓  YouTube Live 同時配信 + アーカイブで使いやすさと拡散力を最大化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3766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DD"/>
                </a:solidFill>
                <a:latin typeface="Meiryo UI"/>
              </a:defRPr>
            </a:pPr>
            <a:r>
              <a:t>  ✓  Year 2 で単月黒字化、返済後も十分なキャッシュフロー確保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5815583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DD"/>
                </a:solidFill>
                <a:latin typeface="Meiryo UI"/>
              </a:defRPr>
            </a:pPr>
            <a:r>
              <a:t>  ✓  6/1 税理士確認 → 6 月上旬 銀行ご提出 → 6 月中旬 着金・正式ローンチ + 広告開始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943600"/>
            <a:ext cx="6400800" cy="640080"/>
          </a:xfrm>
          <a:prstGeom prst="roundRect">
            <a:avLst/>
          </a:prstGeom>
          <a:solidFill>
            <a:srgbClr val="181822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6016752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63946"/>
                </a:solidFill>
                <a:latin typeface="Meiryo UI"/>
              </a:defRPr>
            </a:pPr>
            <a:r>
              <a:t>借入希望: 公庫350万 + 埼玉りそな350万 = 700万円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6035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 UI"/>
              </a:defRPr>
            </a:pPr>
            <a:r>
              <a:t>LIN-NAH 株式会社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DD"/>
                </a:solidFill>
                <a:latin typeface="Meiryo UI"/>
              </a:defRPr>
            </a:pPr>
            <a:r>
              <a:t>代表 原田 佑樹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