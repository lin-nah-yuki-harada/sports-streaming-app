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16"/>
  </p:notesMasterIdLst>
  <p:sldIdLst>
    <p:sldId id="293" r:id="rId2"/>
    <p:sldId id="282" r:id="rId3"/>
    <p:sldId id="283" r:id="rId4"/>
    <p:sldId id="284" r:id="rId5"/>
    <p:sldId id="285" r:id="rId6"/>
    <p:sldId id="286" r:id="rId7"/>
    <p:sldId id="287" r:id="rId8"/>
    <p:sldId id="288" r:id="rId9"/>
    <p:sldId id="289" r:id="rId10"/>
    <p:sldId id="290" r:id="rId11"/>
    <p:sldId id="299" r:id="rId12"/>
    <p:sldId id="302" r:id="rId13"/>
    <p:sldId id="291" r:id="rId14"/>
    <p:sldId id="292" r:id="rId1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063"/>
    <p:restoredTop sz="94574"/>
  </p:normalViewPr>
  <p:slideViewPr>
    <p:cSldViewPr snapToGrid="0" snapToObjects="1">
      <p:cViewPr varScale="1">
        <p:scale>
          <a:sx n="128" d="100"/>
          <a:sy n="128" d="100"/>
        </p:scale>
        <p:origin x="192" y="6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AB5E724-612A-764A-84C8-D20104C2AFBD}" type="datetimeFigureOut">
              <a:rPr kumimoji="1" lang="ja-JP" altLang="en-US" smtClean="0"/>
              <a:t>2026/4/17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1B4F1C-6373-EB45-BB5C-5A6F2CB72CAC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23289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1B4F1C-6373-EB45-BB5C-5A6F2CB72CAC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625205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1B4F1C-6373-EB45-BB5C-5A6F2CB72CAC}" type="slidenum">
              <a:rPr kumimoji="1" lang="ja-JP" altLang="en-US" smtClean="0"/>
              <a:t>14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8516728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ja-JP" alt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 lang="ja-JP" altLang="en-US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 lang="ja-JP" altLang="en-US"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 lang="ja-JP" altLang="en-US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 lang="ja-JP" altLang="en-US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 lang="ja-JP" altLang="en-US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 lang="ja-JP" altLang="en-US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 lang="ja-JP" altLang="en-US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 lang="ja-JP" altLang="en-US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 lang="ja-JP" altLang="en-US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ja-JP" alt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ja-JP" altLang="en-US" smtClean="0"/>
              <a:t>2026/4/17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ja-JP" altLang="en-US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Click to edit Master text styles</a:t>
            </a:r>
          </a:p>
          <a:p>
            <a:pPr lvl="1"/>
            <a:r>
              <a:rPr lang="ja-JP" altLang="en-US"/>
              <a:t>Second level</a:t>
            </a:r>
          </a:p>
          <a:p>
            <a:pPr lvl="2"/>
            <a:r>
              <a:rPr lang="ja-JP" altLang="en-US"/>
              <a:t>Third level</a:t>
            </a:r>
          </a:p>
          <a:p>
            <a:pPr lvl="3"/>
            <a:r>
              <a:rPr lang="ja-JP" altLang="en-US"/>
              <a:t>Fourth level</a:t>
            </a:r>
          </a:p>
          <a:p>
            <a:pPr lvl="4"/>
            <a:r>
              <a:rPr lang="ja-JP" alt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ja-JP" altLang="en-US" smtClean="0"/>
              <a:t>2026/4/17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ja-JP" altLang="en-US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lang="ja-JP" altLang="en-US" sz="4000" b="1" cap="all"/>
            </a:lvl1pPr>
          </a:lstStyle>
          <a:p>
            <a:r>
              <a:rPr lang="ja-JP" alt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lang="ja-JP" altLang="en-US"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lang="ja-JP" altLang="en-US"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lang="ja-JP" altLang="en-US"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lang="ja-JP" altLang="en-US"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lang="ja-JP" altLang="en-US"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lang="ja-JP" altLang="en-US"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lang="ja-JP" altLang="en-US"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lang="ja-JP" altLang="en-US"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lang="ja-JP" altLang="en-US"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ja-JP" altLang="en-US" smtClean="0"/>
              <a:t>2026/4/17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ja-JP" altLang="en-US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lang="ja-JP" altLang="en-US" sz="2800"/>
            </a:lvl1pPr>
            <a:lvl2pPr>
              <a:defRPr lang="ja-JP" altLang="en-US" sz="2400"/>
            </a:lvl2pPr>
            <a:lvl3pPr>
              <a:defRPr lang="ja-JP" altLang="en-US" sz="2000"/>
            </a:lvl3pPr>
            <a:lvl4pPr>
              <a:defRPr lang="ja-JP" altLang="en-US" sz="1800"/>
            </a:lvl4pPr>
            <a:lvl5pPr>
              <a:defRPr lang="ja-JP" altLang="en-US" sz="1800"/>
            </a:lvl5pPr>
            <a:lvl6pPr>
              <a:defRPr lang="ja-JP" altLang="en-US" sz="1800"/>
            </a:lvl6pPr>
            <a:lvl7pPr>
              <a:defRPr lang="ja-JP" altLang="en-US" sz="1800"/>
            </a:lvl7pPr>
            <a:lvl8pPr>
              <a:defRPr lang="ja-JP" altLang="en-US" sz="1800"/>
            </a:lvl8pPr>
            <a:lvl9pPr>
              <a:defRPr lang="ja-JP" altLang="en-US" sz="1800"/>
            </a:lvl9pPr>
          </a:lstStyle>
          <a:p>
            <a:pPr lvl="0"/>
            <a:r>
              <a:rPr lang="ja-JP" altLang="en-US"/>
              <a:t>Click to edit Master text styles</a:t>
            </a:r>
          </a:p>
          <a:p>
            <a:pPr lvl="1"/>
            <a:r>
              <a:rPr lang="ja-JP" altLang="en-US"/>
              <a:t>Second level</a:t>
            </a:r>
          </a:p>
          <a:p>
            <a:pPr lvl="2"/>
            <a:r>
              <a:rPr lang="ja-JP" altLang="en-US"/>
              <a:t>Third level</a:t>
            </a:r>
          </a:p>
          <a:p>
            <a:pPr lvl="3"/>
            <a:r>
              <a:rPr lang="ja-JP" altLang="en-US"/>
              <a:t>Fourth level</a:t>
            </a:r>
          </a:p>
          <a:p>
            <a:pPr lvl="4"/>
            <a:r>
              <a:rPr lang="ja-JP" alt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lang="ja-JP" altLang="en-US" sz="2800"/>
            </a:lvl1pPr>
            <a:lvl2pPr>
              <a:defRPr lang="ja-JP" altLang="en-US" sz="2400"/>
            </a:lvl2pPr>
            <a:lvl3pPr>
              <a:defRPr lang="ja-JP" altLang="en-US" sz="2000"/>
            </a:lvl3pPr>
            <a:lvl4pPr>
              <a:defRPr lang="ja-JP" altLang="en-US" sz="1800"/>
            </a:lvl4pPr>
            <a:lvl5pPr>
              <a:defRPr lang="ja-JP" altLang="en-US" sz="1800"/>
            </a:lvl5pPr>
            <a:lvl6pPr>
              <a:defRPr lang="ja-JP" altLang="en-US" sz="1800"/>
            </a:lvl6pPr>
            <a:lvl7pPr>
              <a:defRPr lang="ja-JP" altLang="en-US" sz="1800"/>
            </a:lvl7pPr>
            <a:lvl8pPr>
              <a:defRPr lang="ja-JP" altLang="en-US" sz="1800"/>
            </a:lvl8pPr>
            <a:lvl9pPr>
              <a:defRPr lang="ja-JP" altLang="en-US" sz="1800"/>
            </a:lvl9pPr>
          </a:lstStyle>
          <a:p>
            <a:pPr lvl="0"/>
            <a:r>
              <a:rPr lang="ja-JP" altLang="en-US"/>
              <a:t>Click to edit Master text styles</a:t>
            </a:r>
          </a:p>
          <a:p>
            <a:pPr lvl="1"/>
            <a:r>
              <a:rPr lang="ja-JP" altLang="en-US"/>
              <a:t>Second level</a:t>
            </a:r>
          </a:p>
          <a:p>
            <a:pPr lvl="2"/>
            <a:r>
              <a:rPr lang="ja-JP" altLang="en-US"/>
              <a:t>Third level</a:t>
            </a:r>
          </a:p>
          <a:p>
            <a:pPr lvl="3"/>
            <a:r>
              <a:rPr lang="ja-JP" altLang="en-US"/>
              <a:t>Fourth level</a:t>
            </a:r>
          </a:p>
          <a:p>
            <a:pPr lvl="4"/>
            <a:r>
              <a:rPr lang="ja-JP" alt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ja-JP" altLang="en-US" smtClean="0"/>
              <a:t>2026/4/17</a:t>
            </a:fld>
            <a:endParaRPr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ja-JP" altLang="en-US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lang="ja-JP" altLang="en-US"/>
            </a:lvl1pPr>
          </a:lstStyle>
          <a:p>
            <a:r>
              <a:rPr lang="ja-JP" alt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lang="ja-JP" altLang="en-US" sz="2400" b="1"/>
            </a:lvl1pPr>
            <a:lvl2pPr marL="457200" indent="0">
              <a:buNone/>
              <a:defRPr lang="ja-JP" altLang="en-US" sz="2000" b="1"/>
            </a:lvl2pPr>
            <a:lvl3pPr marL="914400" indent="0">
              <a:buNone/>
              <a:defRPr lang="ja-JP" altLang="en-US" sz="1800" b="1"/>
            </a:lvl3pPr>
            <a:lvl4pPr marL="1371600" indent="0">
              <a:buNone/>
              <a:defRPr lang="ja-JP" altLang="en-US" sz="1600" b="1"/>
            </a:lvl4pPr>
            <a:lvl5pPr marL="1828800" indent="0">
              <a:buNone/>
              <a:defRPr lang="ja-JP" altLang="en-US" sz="1600" b="1"/>
            </a:lvl5pPr>
            <a:lvl6pPr marL="2286000" indent="0">
              <a:buNone/>
              <a:defRPr lang="ja-JP" altLang="en-US" sz="1600" b="1"/>
            </a:lvl6pPr>
            <a:lvl7pPr marL="2743200" indent="0">
              <a:buNone/>
              <a:defRPr lang="ja-JP" altLang="en-US" sz="1600" b="1"/>
            </a:lvl7pPr>
            <a:lvl8pPr marL="3200400" indent="0">
              <a:buNone/>
              <a:defRPr lang="ja-JP" altLang="en-US" sz="1600" b="1"/>
            </a:lvl8pPr>
            <a:lvl9pPr marL="3657600" indent="0">
              <a:buNone/>
              <a:defRPr lang="ja-JP" altLang="en-US" sz="1600" b="1"/>
            </a:lvl9pPr>
          </a:lstStyle>
          <a:p>
            <a:pPr lvl="0"/>
            <a:r>
              <a:rPr lang="ja-JP" alt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lang="ja-JP" altLang="en-US" sz="2400"/>
            </a:lvl1pPr>
            <a:lvl2pPr>
              <a:defRPr lang="ja-JP" altLang="en-US" sz="2000"/>
            </a:lvl2pPr>
            <a:lvl3pPr>
              <a:defRPr lang="ja-JP" altLang="en-US" sz="1800"/>
            </a:lvl3pPr>
            <a:lvl4pPr>
              <a:defRPr lang="ja-JP" altLang="en-US" sz="1600"/>
            </a:lvl4pPr>
            <a:lvl5pPr>
              <a:defRPr lang="ja-JP" altLang="en-US" sz="1600"/>
            </a:lvl5pPr>
            <a:lvl6pPr>
              <a:defRPr lang="ja-JP" altLang="en-US" sz="1600"/>
            </a:lvl6pPr>
            <a:lvl7pPr>
              <a:defRPr lang="ja-JP" altLang="en-US" sz="1600"/>
            </a:lvl7pPr>
            <a:lvl8pPr>
              <a:defRPr lang="ja-JP" altLang="en-US" sz="1600"/>
            </a:lvl8pPr>
            <a:lvl9pPr>
              <a:defRPr lang="ja-JP" altLang="en-US" sz="1600"/>
            </a:lvl9pPr>
          </a:lstStyle>
          <a:p>
            <a:pPr lvl="0"/>
            <a:r>
              <a:rPr lang="ja-JP" altLang="en-US"/>
              <a:t>Click to edit Master text styles</a:t>
            </a:r>
          </a:p>
          <a:p>
            <a:pPr lvl="1"/>
            <a:r>
              <a:rPr lang="ja-JP" altLang="en-US"/>
              <a:t>Second level</a:t>
            </a:r>
          </a:p>
          <a:p>
            <a:pPr lvl="2"/>
            <a:r>
              <a:rPr lang="ja-JP" altLang="en-US"/>
              <a:t>Third level</a:t>
            </a:r>
          </a:p>
          <a:p>
            <a:pPr lvl="3"/>
            <a:r>
              <a:rPr lang="ja-JP" altLang="en-US"/>
              <a:t>Fourth level</a:t>
            </a:r>
          </a:p>
          <a:p>
            <a:pPr lvl="4"/>
            <a:r>
              <a:rPr lang="ja-JP" alt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lang="ja-JP" altLang="en-US" sz="2400" b="1"/>
            </a:lvl1pPr>
            <a:lvl2pPr marL="457200" indent="0">
              <a:buNone/>
              <a:defRPr lang="ja-JP" altLang="en-US" sz="2000" b="1"/>
            </a:lvl2pPr>
            <a:lvl3pPr marL="914400" indent="0">
              <a:buNone/>
              <a:defRPr lang="ja-JP" altLang="en-US" sz="1800" b="1"/>
            </a:lvl3pPr>
            <a:lvl4pPr marL="1371600" indent="0">
              <a:buNone/>
              <a:defRPr lang="ja-JP" altLang="en-US" sz="1600" b="1"/>
            </a:lvl4pPr>
            <a:lvl5pPr marL="1828800" indent="0">
              <a:buNone/>
              <a:defRPr lang="ja-JP" altLang="en-US" sz="1600" b="1"/>
            </a:lvl5pPr>
            <a:lvl6pPr marL="2286000" indent="0">
              <a:buNone/>
              <a:defRPr lang="ja-JP" altLang="en-US" sz="1600" b="1"/>
            </a:lvl6pPr>
            <a:lvl7pPr marL="2743200" indent="0">
              <a:buNone/>
              <a:defRPr lang="ja-JP" altLang="en-US" sz="1600" b="1"/>
            </a:lvl7pPr>
            <a:lvl8pPr marL="3200400" indent="0">
              <a:buNone/>
              <a:defRPr lang="ja-JP" altLang="en-US" sz="1600" b="1"/>
            </a:lvl8pPr>
            <a:lvl9pPr marL="3657600" indent="0">
              <a:buNone/>
              <a:defRPr lang="ja-JP" altLang="en-US" sz="1600" b="1"/>
            </a:lvl9pPr>
          </a:lstStyle>
          <a:p>
            <a:pPr lvl="0"/>
            <a:r>
              <a:rPr lang="ja-JP" alt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lang="ja-JP" altLang="en-US" sz="2400"/>
            </a:lvl1pPr>
            <a:lvl2pPr>
              <a:defRPr lang="ja-JP" altLang="en-US" sz="2000"/>
            </a:lvl2pPr>
            <a:lvl3pPr>
              <a:defRPr lang="ja-JP" altLang="en-US" sz="1800"/>
            </a:lvl3pPr>
            <a:lvl4pPr>
              <a:defRPr lang="ja-JP" altLang="en-US" sz="1600"/>
            </a:lvl4pPr>
            <a:lvl5pPr>
              <a:defRPr lang="ja-JP" altLang="en-US" sz="1600"/>
            </a:lvl5pPr>
            <a:lvl6pPr>
              <a:defRPr lang="ja-JP" altLang="en-US" sz="1600"/>
            </a:lvl6pPr>
            <a:lvl7pPr>
              <a:defRPr lang="ja-JP" altLang="en-US" sz="1600"/>
            </a:lvl7pPr>
            <a:lvl8pPr>
              <a:defRPr lang="ja-JP" altLang="en-US" sz="1600"/>
            </a:lvl8pPr>
            <a:lvl9pPr>
              <a:defRPr lang="ja-JP" altLang="en-US" sz="1600"/>
            </a:lvl9pPr>
          </a:lstStyle>
          <a:p>
            <a:pPr lvl="0"/>
            <a:r>
              <a:rPr lang="ja-JP" altLang="en-US"/>
              <a:t>Click to edit Master text styles</a:t>
            </a:r>
          </a:p>
          <a:p>
            <a:pPr lvl="1"/>
            <a:r>
              <a:rPr lang="ja-JP" altLang="en-US"/>
              <a:t>Second level</a:t>
            </a:r>
          </a:p>
          <a:p>
            <a:pPr lvl="2"/>
            <a:r>
              <a:rPr lang="ja-JP" altLang="en-US"/>
              <a:t>Third level</a:t>
            </a:r>
          </a:p>
          <a:p>
            <a:pPr lvl="3"/>
            <a:r>
              <a:rPr lang="ja-JP" altLang="en-US"/>
              <a:t>Fourth level</a:t>
            </a:r>
          </a:p>
          <a:p>
            <a:pPr lvl="4"/>
            <a:r>
              <a:rPr lang="ja-JP" alt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ja-JP" altLang="en-US" smtClean="0"/>
              <a:t>2026/4/17</a:t>
            </a:fld>
            <a:endParaRPr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ja-JP" altLang="en-US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ja-JP" altLang="en-US" smtClean="0"/>
              <a:t>2026/4/17</a:t>
            </a:fld>
            <a:endParaRPr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ja-JP" altLang="en-US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ja-JP" altLang="en-US" smtClean="0"/>
              <a:t>2026/4/17</a:t>
            </a:fld>
            <a:endParaRPr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ja-JP" altLang="en-US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lang="ja-JP" altLang="en-US" sz="2000" b="1"/>
            </a:lvl1pPr>
          </a:lstStyle>
          <a:p>
            <a:r>
              <a:rPr lang="ja-JP" alt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lang="ja-JP" altLang="en-US" sz="3200"/>
            </a:lvl1pPr>
            <a:lvl2pPr>
              <a:defRPr lang="ja-JP" altLang="en-US" sz="2800"/>
            </a:lvl2pPr>
            <a:lvl3pPr>
              <a:defRPr lang="ja-JP" altLang="en-US" sz="2400"/>
            </a:lvl3pPr>
            <a:lvl4pPr>
              <a:defRPr lang="ja-JP" altLang="en-US" sz="2000"/>
            </a:lvl4pPr>
            <a:lvl5pPr>
              <a:defRPr lang="ja-JP" altLang="en-US" sz="2000"/>
            </a:lvl5pPr>
            <a:lvl6pPr>
              <a:defRPr lang="ja-JP" altLang="en-US" sz="2000"/>
            </a:lvl6pPr>
            <a:lvl7pPr>
              <a:defRPr lang="ja-JP" altLang="en-US" sz="2000"/>
            </a:lvl7pPr>
            <a:lvl8pPr>
              <a:defRPr lang="ja-JP" altLang="en-US" sz="2000"/>
            </a:lvl8pPr>
            <a:lvl9pPr>
              <a:defRPr lang="ja-JP" altLang="en-US" sz="2000"/>
            </a:lvl9pPr>
          </a:lstStyle>
          <a:p>
            <a:pPr lvl="0"/>
            <a:r>
              <a:rPr lang="ja-JP" altLang="en-US"/>
              <a:t>Click to edit Master text styles</a:t>
            </a:r>
          </a:p>
          <a:p>
            <a:pPr lvl="1"/>
            <a:r>
              <a:rPr lang="ja-JP" altLang="en-US"/>
              <a:t>Second level</a:t>
            </a:r>
          </a:p>
          <a:p>
            <a:pPr lvl="2"/>
            <a:r>
              <a:rPr lang="ja-JP" altLang="en-US"/>
              <a:t>Third level</a:t>
            </a:r>
          </a:p>
          <a:p>
            <a:pPr lvl="3"/>
            <a:r>
              <a:rPr lang="ja-JP" altLang="en-US"/>
              <a:t>Fourth level</a:t>
            </a:r>
          </a:p>
          <a:p>
            <a:pPr lvl="4"/>
            <a:r>
              <a:rPr lang="ja-JP" alt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lang="ja-JP" altLang="en-US" sz="1400"/>
            </a:lvl1pPr>
            <a:lvl2pPr marL="457200" indent="0">
              <a:buNone/>
              <a:defRPr lang="ja-JP" altLang="en-US" sz="1200"/>
            </a:lvl2pPr>
            <a:lvl3pPr marL="914400" indent="0">
              <a:buNone/>
              <a:defRPr lang="ja-JP" altLang="en-US" sz="1000"/>
            </a:lvl3pPr>
            <a:lvl4pPr marL="1371600" indent="0">
              <a:buNone/>
              <a:defRPr lang="ja-JP" altLang="en-US" sz="900"/>
            </a:lvl4pPr>
            <a:lvl5pPr marL="1828800" indent="0">
              <a:buNone/>
              <a:defRPr lang="ja-JP" altLang="en-US" sz="900"/>
            </a:lvl5pPr>
            <a:lvl6pPr marL="2286000" indent="0">
              <a:buNone/>
              <a:defRPr lang="ja-JP" altLang="en-US" sz="900"/>
            </a:lvl6pPr>
            <a:lvl7pPr marL="2743200" indent="0">
              <a:buNone/>
              <a:defRPr lang="ja-JP" altLang="en-US" sz="900"/>
            </a:lvl7pPr>
            <a:lvl8pPr marL="3200400" indent="0">
              <a:buNone/>
              <a:defRPr lang="ja-JP" altLang="en-US" sz="900"/>
            </a:lvl8pPr>
            <a:lvl9pPr marL="3657600" indent="0">
              <a:buNone/>
              <a:defRPr lang="ja-JP" altLang="en-US" sz="900"/>
            </a:lvl9pPr>
          </a:lstStyle>
          <a:p>
            <a:pPr lvl="0"/>
            <a:r>
              <a:rPr lang="ja-JP" alt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ja-JP" altLang="en-US" smtClean="0"/>
              <a:t>2026/4/17</a:t>
            </a:fld>
            <a:endParaRPr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ja-JP" altLang="en-US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lang="ja-JP" altLang="en-US" sz="2000" b="1"/>
            </a:lvl1pPr>
          </a:lstStyle>
          <a:p>
            <a:r>
              <a:rPr lang="ja-JP" alt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lang="ja-JP" altLang="en-US" sz="3200"/>
            </a:lvl1pPr>
            <a:lvl2pPr marL="457200" indent="0">
              <a:buNone/>
              <a:defRPr lang="ja-JP" altLang="en-US" sz="2800"/>
            </a:lvl2pPr>
            <a:lvl3pPr marL="914400" indent="0">
              <a:buNone/>
              <a:defRPr lang="ja-JP" altLang="en-US" sz="2400"/>
            </a:lvl3pPr>
            <a:lvl4pPr marL="1371600" indent="0">
              <a:buNone/>
              <a:defRPr lang="ja-JP" altLang="en-US" sz="2000"/>
            </a:lvl4pPr>
            <a:lvl5pPr marL="1828800" indent="0">
              <a:buNone/>
              <a:defRPr lang="ja-JP" altLang="en-US" sz="2000"/>
            </a:lvl5pPr>
            <a:lvl6pPr marL="2286000" indent="0">
              <a:buNone/>
              <a:defRPr lang="ja-JP" altLang="en-US" sz="2000"/>
            </a:lvl6pPr>
            <a:lvl7pPr marL="2743200" indent="0">
              <a:buNone/>
              <a:defRPr lang="ja-JP" altLang="en-US" sz="2000"/>
            </a:lvl7pPr>
            <a:lvl8pPr marL="3200400" indent="0">
              <a:buNone/>
              <a:defRPr lang="ja-JP" altLang="en-US" sz="2000"/>
            </a:lvl8pPr>
            <a:lvl9pPr marL="3657600" indent="0">
              <a:buNone/>
              <a:defRPr lang="ja-JP" altLang="en-US" sz="2000"/>
            </a:lvl9pPr>
          </a:lstStyle>
          <a:p>
            <a:endParaRPr lang="ja-JP" alt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lang="ja-JP" altLang="en-US" sz="1400"/>
            </a:lvl1pPr>
            <a:lvl2pPr marL="457200" indent="0">
              <a:buNone/>
              <a:defRPr lang="ja-JP" altLang="en-US" sz="1200"/>
            </a:lvl2pPr>
            <a:lvl3pPr marL="914400" indent="0">
              <a:buNone/>
              <a:defRPr lang="ja-JP" altLang="en-US" sz="1000"/>
            </a:lvl3pPr>
            <a:lvl4pPr marL="1371600" indent="0">
              <a:buNone/>
              <a:defRPr lang="ja-JP" altLang="en-US" sz="900"/>
            </a:lvl4pPr>
            <a:lvl5pPr marL="1828800" indent="0">
              <a:buNone/>
              <a:defRPr lang="ja-JP" altLang="en-US" sz="900"/>
            </a:lvl5pPr>
            <a:lvl6pPr marL="2286000" indent="0">
              <a:buNone/>
              <a:defRPr lang="ja-JP" altLang="en-US" sz="900"/>
            </a:lvl6pPr>
            <a:lvl7pPr marL="2743200" indent="0">
              <a:buNone/>
              <a:defRPr lang="ja-JP" altLang="en-US" sz="900"/>
            </a:lvl7pPr>
            <a:lvl8pPr marL="3200400" indent="0">
              <a:buNone/>
              <a:defRPr lang="ja-JP" altLang="en-US" sz="900"/>
            </a:lvl8pPr>
            <a:lvl9pPr marL="3657600" indent="0">
              <a:buNone/>
              <a:defRPr lang="ja-JP" altLang="en-US" sz="900"/>
            </a:lvl9pPr>
          </a:lstStyle>
          <a:p>
            <a:pPr lvl="0"/>
            <a:r>
              <a:rPr lang="ja-JP" alt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ja-JP" altLang="en-US" smtClean="0"/>
              <a:t>2026/4/17</a:t>
            </a:fld>
            <a:endParaRPr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ja-JP" altLang="en-US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Click to edit Master text styles</a:t>
            </a:r>
          </a:p>
          <a:p>
            <a:pPr lvl="1"/>
            <a:r>
              <a:rPr lang="ja-JP" altLang="en-US"/>
              <a:t>Second level</a:t>
            </a:r>
          </a:p>
          <a:p>
            <a:pPr lvl="2"/>
            <a:r>
              <a:rPr lang="ja-JP" altLang="en-US"/>
              <a:t>Third level</a:t>
            </a:r>
          </a:p>
          <a:p>
            <a:pPr lvl="3"/>
            <a:r>
              <a:rPr lang="ja-JP" altLang="en-US"/>
              <a:t>Fourth level</a:t>
            </a:r>
          </a:p>
          <a:p>
            <a:pPr lvl="4"/>
            <a:r>
              <a:rPr lang="ja-JP" alt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ja-JP" altLang="en-US" smtClean="0"/>
              <a:t>2026/4/17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ja-JP" altLang="en-US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ja-JP" alt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ja-JP" altLang="en-US"/>
              <a:t>Click to edit Master text styles</a:t>
            </a:r>
          </a:p>
          <a:p>
            <a:pPr lvl="1"/>
            <a:r>
              <a:rPr lang="ja-JP" altLang="en-US"/>
              <a:t>Second level</a:t>
            </a:r>
          </a:p>
          <a:p>
            <a:pPr lvl="2"/>
            <a:r>
              <a:rPr lang="ja-JP" altLang="en-US"/>
              <a:t>Third level</a:t>
            </a:r>
          </a:p>
          <a:p>
            <a:pPr lvl="3"/>
            <a:r>
              <a:rPr lang="ja-JP" altLang="en-US"/>
              <a:t>Fourth level</a:t>
            </a:r>
          </a:p>
          <a:p>
            <a:pPr lvl="4"/>
            <a:r>
              <a:rPr lang="ja-JP" alt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ja-JP" altLang="en-US" smtClean="0"/>
              <a:t>2026/4/17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ja-JP" altLang="en-US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Click to edit Master text styles</a:t>
            </a:r>
          </a:p>
          <a:p>
            <a:pPr lvl="1"/>
            <a:r>
              <a:rPr lang="ja-JP" altLang="en-US"/>
              <a:t>Second level</a:t>
            </a:r>
          </a:p>
          <a:p>
            <a:pPr lvl="2"/>
            <a:r>
              <a:rPr lang="ja-JP" altLang="en-US"/>
              <a:t>Third level</a:t>
            </a:r>
          </a:p>
          <a:p>
            <a:pPr lvl="3"/>
            <a:r>
              <a:rPr lang="ja-JP" altLang="en-US"/>
              <a:t>Fourth level</a:t>
            </a:r>
          </a:p>
          <a:p>
            <a:pPr lvl="4"/>
            <a:r>
              <a:rPr lang="ja-JP" alt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lang="ja-JP" altLang="en-US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ja-JP" altLang="en-US" smtClean="0"/>
              <a:t>2026/4/17</a:t>
            </a:fld>
            <a:endParaRPr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lang="ja-JP" altLang="en-US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lang="ja-JP" altLang="en-US"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ja-JP" altLang="en-US" smtClean="0"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ctr" defTabSz="457200" rtl="0" eaLnBrk="1" latinLnBrk="0" hangingPunct="1">
        <a:spcBef>
          <a:spcPct val="0"/>
        </a:spcBef>
        <a:buNone/>
        <a:defRPr lang="ja-JP" altLang="en-US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lang="ja-JP" altLang="en-US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lang="ja-JP" altLang="en-US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lang="ja-JP" altLang="en-US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lang="ja-JP" altLang="en-US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lang="ja-JP" altLang="en-US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lang="ja-JP" altLang="en-US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lang="ja-JP" altLang="en-US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lang="ja-JP" altLang="en-US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lang="ja-JP" altLang="en-US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 altLang="en-US"/>
      </a:defPPr>
      <a:lvl1pPr marL="0" algn="l" defTabSz="457200" rtl="0" eaLnBrk="1" latinLnBrk="0" hangingPunct="1">
        <a:defRPr lang="ja-JP" altLang="en-U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lang="ja-JP" altLang="en-U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lang="ja-JP" altLang="en-U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lang="ja-JP" altLang="en-U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lang="ja-JP" altLang="en-U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lang="ja-JP" altLang="en-U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lang="ja-JP" altLang="en-U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lang="ja-JP" altLang="en-U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lang="ja-JP" altLang="en-U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https://sports-streaming-app.vercel.app/lp" TargetMode="Externa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hyperlink" Target="https://sports-streaming-app.vercel.app/lp" TargetMode="External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7.png"/><Relationship Id="rId4" Type="http://schemas.openxmlformats.org/officeDocument/2006/relationships/hyperlink" Target="https://sports-streaming-app.vercel.app/" TargetMode="Externa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" name="TextBox 2"/>
          <p:cNvSpPr txBox="1"/>
          <p:nvPr/>
        </p:nvSpPr>
        <p:spPr>
          <a:xfrm>
            <a:off x="1280160" y="137160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6400" b="1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LIVE SPOtCH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22860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2800" b="1">
                <a:solidFill>
                  <a:srgbClr val="FFFFFF"/>
                </a:solidFill>
                <a:latin typeface="Meiryo UI"/>
              </a:defRPr>
            </a:pPr>
            <a:r>
              <a:rPr lang="ja-JP" altLang="en-US" dirty="0"/>
              <a:t>誰もがスポーツ中継のカメラマン。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8346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2200" b="0">
                <a:solidFill>
                  <a:srgbClr val="CCCCDD"/>
                </a:solidFill>
                <a:latin typeface="Meiryo UI"/>
              </a:defRPr>
            </a:pPr>
            <a:r>
              <a:rPr lang="ja-JP" altLang="en-US" dirty="0"/>
              <a:t>手元のスマホが機材になる。その一瞬の感動を手のひらに。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1280160" y="3566160"/>
            <a:ext cx="2743200" cy="254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7" name="TextBox 6"/>
          <p:cNvSpPr txBox="1"/>
          <p:nvPr/>
        </p:nvSpPr>
        <p:spPr>
          <a:xfrm>
            <a:off x="1280160" y="3931920"/>
            <a:ext cx="7315200" cy="157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lang="ja-JP" altLang="en-US" sz="1600" b="0">
                <a:solidFill>
                  <a:srgbClr val="9999AA"/>
                </a:solidFill>
                <a:latin typeface="Meiryo UI"/>
              </a:defRPr>
            </a:pPr>
            <a:r>
              <a:rPr lang="ja-JP" altLang="en-US" dirty="0"/>
              <a:t>ローカルスポーツ ライブ配信プラットフォーム</a:t>
            </a:r>
          </a:p>
          <a:p>
            <a:pPr algn="l">
              <a:spcAft>
                <a:spcPts val="400"/>
              </a:spcAft>
              <a:defRPr lang="ja-JP" altLang="en-US" sz="2000" b="1">
                <a:solidFill>
                  <a:srgbClr val="FFFFFF"/>
                </a:solidFill>
                <a:latin typeface="Meiryo UI"/>
              </a:defRPr>
            </a:pPr>
            <a:r>
              <a:rPr lang="ja-JP" altLang="en-US" dirty="0"/>
              <a:t>事業計画書</a:t>
            </a:r>
          </a:p>
          <a:p>
            <a:pPr algn="l">
              <a:spcAft>
                <a:spcPts val="400"/>
              </a:spcAft>
              <a:defRPr lang="ja-JP" altLang="en-US" sz="800" b="0">
                <a:solidFill>
                  <a:srgbClr val="1A1A2E"/>
                </a:solidFill>
                <a:latin typeface="Meiryo UI"/>
              </a:defRPr>
            </a:pPr>
            <a:endParaRPr lang="ja-JP" altLang="en-US"/>
          </a:p>
          <a:p>
            <a:pPr algn="l">
              <a:spcAft>
                <a:spcPts val="400"/>
              </a:spcAft>
              <a:defRPr lang="ja-JP" altLang="en-US" sz="1800" b="1">
                <a:solidFill>
                  <a:srgbClr val="FFFFFF"/>
                </a:solidFill>
                <a:latin typeface="Meiryo UI"/>
              </a:defRPr>
            </a:pPr>
            <a:r>
              <a:rPr lang="ja-JP" altLang="en-US" dirty="0"/>
              <a:t>LIN-NAH株式会社</a:t>
            </a:r>
          </a:p>
          <a:p>
            <a:pPr algn="l">
              <a:spcAft>
                <a:spcPts val="400"/>
              </a:spcAft>
              <a:defRPr lang="ja-JP" altLang="en-US" sz="1300" b="0">
                <a:solidFill>
                  <a:srgbClr val="888899"/>
                </a:solidFill>
                <a:latin typeface="Meiryo UI"/>
              </a:defRPr>
            </a:pPr>
            <a:r>
              <a:rPr lang="ja-JP" altLang="en-US" dirty="0"/>
              <a:t>2026年4月</a:t>
            </a:r>
          </a:p>
          <a:p>
            <a:pPr algn="l">
              <a:spcAft>
                <a:spcPts val="400"/>
              </a:spcAft>
              <a:defRPr lang="ja-JP" altLang="en-US" sz="800" b="0">
                <a:solidFill>
                  <a:srgbClr val="1A1A2E"/>
                </a:solidFill>
                <a:latin typeface="Meiryo UI"/>
              </a:defRPr>
            </a:pPr>
            <a:endParaRPr lang="ja-JP" altLang="en-US"/>
          </a:p>
        </p:txBody>
      </p:sp>
      <p:pic>
        <p:nvPicPr>
          <p:cNvPr id="1026" name="Picture 2" descr="（AI 生成）">
            <a:hlinkClick r:id="rId2"/>
            <a:extLst>
              <a:ext uri="{FF2B5EF4-FFF2-40B4-BE49-F238E27FC236}">
                <a16:creationId xmlns:a16="http://schemas.microsoft.com/office/drawing/2014/main" id="{CB8E1E57-939C-02BE-3082-FD73A936B1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317898" y="3804920"/>
            <a:ext cx="1964594" cy="914400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34170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30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ビジョン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9CA3AF"/>
                </a:solidFill>
                <a:latin typeface="Meiryo UI"/>
              </a:defRPr>
            </a:pPr>
            <a:r>
              <a:rPr lang="ja-JP" altLang="en-US" dirty="0"/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0515600" cy="1097280"/>
          </a:xfrm>
          <a:prstGeom prst="roundRect">
            <a:avLst/>
          </a:prstGeom>
          <a:solidFill>
            <a:schemeClr val="tx1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987552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lang="ja-JP" altLang="en-US" sz="2200" b="1">
                <a:solidFill>
                  <a:srgbClr val="E63946"/>
                </a:solidFill>
                <a:latin typeface="Meiryo UI"/>
              </a:defRPr>
            </a:pPr>
            <a:r>
              <a:rPr lang="ja-JP" altLang="en-US" sz="2800" dirty="0"/>
              <a:t>「すべての子どもの試合が、どこからでも見られる世界をつくる」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35291"/>
            <a:ext cx="987552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>
                <a:solidFill>
                  <a:schemeClr val="bg1"/>
                </a:solidFill>
              </a:rPr>
              <a:t>スポーツブルが配信しない、我が子の試合をチーム内に配信できる — それがLIVE SPOtCH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108960"/>
            <a:ext cx="3291840" cy="329184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1" name="Rectangle 10"/>
          <p:cNvSpPr/>
          <p:nvPr/>
        </p:nvSpPr>
        <p:spPr>
          <a:xfrm>
            <a:off x="822960" y="3108960"/>
            <a:ext cx="329184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109728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800" b="1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誰もがカメラマン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84048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スマホ1台でTV中継のような</a:t>
            </a:r>
            <a:br/>
            <a:r>
              <a:rPr lang="ja-JP" altLang="en-US" dirty="0"/>
              <a:t>配信が可能。プロの機材は不要。</a:t>
            </a:r>
            <a:br/>
            <a:r>
              <a:rPr lang="ja-JP" altLang="en-US" dirty="0"/>
              <a:t>保護者が撮影者になれる。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80560" y="3108960"/>
            <a:ext cx="3291840" cy="3291840"/>
          </a:xfrm>
          <a:prstGeom prst="roundRect">
            <a:avLst/>
          </a:prstGeom>
          <a:solidFill>
            <a:srgbClr val="EB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5" name="Rectangle 14"/>
          <p:cNvSpPr/>
          <p:nvPr/>
        </p:nvSpPr>
        <p:spPr>
          <a:xfrm>
            <a:off x="4480560" y="3108960"/>
            <a:ext cx="32918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6" name="TextBox 15"/>
          <p:cNvSpPr txBox="1"/>
          <p:nvPr/>
        </p:nvSpPr>
        <p:spPr>
          <a:xfrm>
            <a:off x="475488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800" b="1">
                <a:solidFill>
                  <a:srgbClr val="2563EB"/>
                </a:solidFill>
                <a:latin typeface="Meiryo UI"/>
              </a:defRPr>
            </a:pPr>
            <a:r>
              <a:rPr lang="ja-JP" altLang="en-US" dirty="0"/>
              <a:t>加速度的な拡散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84048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部活動・少年団は口コミが命。</a:t>
            </a:r>
            <a:br/>
            <a:r>
              <a:rPr lang="ja-JP" altLang="en-US" dirty="0"/>
              <a:t>1チームの導入が対戦相手→</a:t>
            </a:r>
            <a:br/>
            <a:r>
              <a:rPr lang="ja-JP" altLang="en-US" dirty="0"/>
              <a:t>大会→地域へとドミノ拡散。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60" y="3108960"/>
            <a:ext cx="3291840" cy="3291840"/>
          </a:xfrm>
          <a:prstGeom prst="roundRect">
            <a:avLst/>
          </a:prstGeom>
          <a:solidFill>
            <a:srgbClr val="E8F5EB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9" name="Rectangle 18"/>
          <p:cNvSpPr/>
          <p:nvPr/>
        </p:nvSpPr>
        <p:spPr>
          <a:xfrm>
            <a:off x="8138160" y="3108960"/>
            <a:ext cx="3291840" cy="50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8412480" y="3383280"/>
            <a:ext cx="2743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800" b="1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YouTube連携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3840480"/>
            <a:ext cx="2743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試合アーカイブが自動で</a:t>
            </a:r>
            <a:br/>
            <a:r>
              <a:rPr lang="ja-JP" altLang="en-US" dirty="0"/>
              <a:t>YouTubeに保存。使いやすさと</a:t>
            </a:r>
            <a:br/>
            <a:r>
              <a:rPr lang="ja-JP" altLang="en-US" dirty="0"/>
              <a:t>連携のしやすさにこだわり。</a:t>
            </a:r>
          </a:p>
        </p:txBody>
      </p:sp>
      <p:pic>
        <p:nvPicPr>
          <p:cNvPr id="22" name="Picture 2" descr="（AI 生成）">
            <a:extLst>
              <a:ext uri="{FF2B5EF4-FFF2-40B4-BE49-F238E27FC236}">
                <a16:creationId xmlns:a16="http://schemas.microsoft.com/office/drawing/2014/main" id="{DC5A0592-EE96-F22B-D790-95DB0EC363D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87800" y="242188"/>
            <a:ext cx="1084400" cy="50472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（AI 生成）">
            <a:extLst>
              <a:ext uri="{FF2B5EF4-FFF2-40B4-BE49-F238E27FC236}">
                <a16:creationId xmlns:a16="http://schemas.microsoft.com/office/drawing/2014/main" id="{CD10E05B-207F-54FB-1ED9-4E16BFE20B2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583981" y="4983480"/>
            <a:ext cx="2256499" cy="12067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>
            <a:extLst>
              <a:ext uri="{FF2B5EF4-FFF2-40B4-BE49-F238E27FC236}">
                <a16:creationId xmlns:a16="http://schemas.microsoft.com/office/drawing/2014/main" id="{1643D620-8007-5ECA-FE0D-3714046D2A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39785" y="4931660"/>
            <a:ext cx="1818250" cy="125857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136698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30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市場の課題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Why Now? — 日本のスポーツ市場を揺るがすコンテンツ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9CA3AF"/>
                </a:solidFill>
                <a:latin typeface="Meiryo UI"/>
              </a:defRPr>
            </a:pPr>
            <a:r>
              <a:rPr lang="ja-JP" altLang="en-US" dirty="0"/>
              <a:t>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4754880" cy="47548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754880" cy="50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9" name="TextBox 8"/>
          <p:cNvSpPr txBox="1"/>
          <p:nvPr/>
        </p:nvSpPr>
        <p:spPr>
          <a:xfrm>
            <a:off x="1188720" y="18288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1">
                <a:solidFill>
                  <a:srgbClr val="DC2626"/>
                </a:solidFill>
                <a:latin typeface="Meiryo UI"/>
              </a:defRPr>
            </a:pPr>
            <a:r>
              <a:rPr lang="ja-JP" altLang="en-US" dirty="0"/>
              <a:t>現在のスポーツ配信市場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97280" y="2377440"/>
            <a:ext cx="4206240" cy="4572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CD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1280160" y="243230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DC2626"/>
                </a:solidFill>
                <a:latin typeface="Meiryo UI"/>
              </a:defRPr>
            </a:pPr>
            <a:r>
              <a:rPr lang="ja-JP" altLang="en-US" dirty="0"/>
              <a:t>✕  スポーツブル等は有名校・上位校の試合のみ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97280" y="2971800"/>
            <a:ext cx="4206240" cy="4572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CD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1280160" y="302666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DC2626"/>
                </a:solidFill>
                <a:latin typeface="Meiryo UI"/>
              </a:defRPr>
            </a:pPr>
            <a:r>
              <a:rPr lang="ja-JP" altLang="en-US" dirty="0"/>
              <a:t>✕  地域大会・少年団の試合は一切配信されない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97280" y="3566160"/>
            <a:ext cx="4206240" cy="4572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CD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5" name="TextBox 14"/>
          <p:cNvSpPr txBox="1"/>
          <p:nvPr/>
        </p:nvSpPr>
        <p:spPr>
          <a:xfrm>
            <a:off x="1280160" y="362102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DC2626"/>
                </a:solidFill>
                <a:latin typeface="Meiryo UI"/>
              </a:defRPr>
            </a:pPr>
            <a:r>
              <a:rPr lang="ja-JP" altLang="en-US" dirty="0"/>
              <a:t>✕  YouTube Liveではスコアが表示できない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97280" y="4160520"/>
            <a:ext cx="4206240" cy="4572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CD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1280160" y="421538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DC2626"/>
                </a:solidFill>
                <a:latin typeface="Meiryo UI"/>
              </a:defRPr>
            </a:pPr>
            <a:r>
              <a:rPr lang="ja-JP" altLang="en-US" dirty="0"/>
              <a:t>✕  得点板を映すと映像が遮られる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97280" y="4754880"/>
            <a:ext cx="4206240" cy="4572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CD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1280160" y="480974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DC2626"/>
                </a:solidFill>
                <a:latin typeface="Meiryo UI"/>
              </a:defRPr>
            </a:pPr>
            <a:r>
              <a:rPr lang="ja-JP" altLang="en-US" dirty="0"/>
              <a:t>✕  試合のアーカイブが散逸・管理できない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97280" y="5349240"/>
            <a:ext cx="4206240" cy="457200"/>
          </a:xfrm>
          <a:prstGeom prst="roundRect">
            <a:avLst/>
          </a:prstGeom>
          <a:solidFill>
            <a:srgbClr val="FFF0F0"/>
          </a:solidFill>
          <a:ln w="12700">
            <a:solidFill>
              <a:srgbClr val="FCD5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1280160" y="5404104"/>
            <a:ext cx="3840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DC2626"/>
                </a:solidFill>
                <a:latin typeface="Meiryo UI"/>
              </a:defRPr>
            </a:pPr>
            <a:r>
              <a:rPr lang="ja-JP" altLang="en-US" dirty="0"/>
              <a:t>✕  配信者が撮影とスコア入力を兼任するストレス</a:t>
            </a:r>
          </a:p>
        </p:txBody>
      </p:sp>
      <p:sp>
        <p:nvSpPr>
          <p:cNvPr id="22" name="Notched Right Arrow 21"/>
          <p:cNvSpPr/>
          <p:nvPr/>
        </p:nvSpPr>
        <p:spPr>
          <a:xfrm>
            <a:off x="5760720" y="3474720"/>
            <a:ext cx="914400" cy="457200"/>
          </a:xfrm>
          <a:prstGeom prst="notchedRightArrow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3" name="Rounded Rectangle 22"/>
          <p:cNvSpPr/>
          <p:nvPr/>
        </p:nvSpPr>
        <p:spPr>
          <a:xfrm>
            <a:off x="6858000" y="1645920"/>
            <a:ext cx="4754880" cy="4754880"/>
          </a:xfrm>
          <a:prstGeom prst="roundRect">
            <a:avLst/>
          </a:prstGeom>
          <a:solidFill>
            <a:srgbClr val="E8F5EB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4" name="Rectangle 23"/>
          <p:cNvSpPr/>
          <p:nvPr/>
        </p:nvSpPr>
        <p:spPr>
          <a:xfrm>
            <a:off x="6858000" y="1645920"/>
            <a:ext cx="4754880" cy="50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5" name="TextBox 24"/>
          <p:cNvSpPr txBox="1"/>
          <p:nvPr/>
        </p:nvSpPr>
        <p:spPr>
          <a:xfrm>
            <a:off x="7223760" y="18288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1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LIVE SPOtCH の解決策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132320" y="2377440"/>
            <a:ext cx="4206240" cy="457200"/>
          </a:xfrm>
          <a:prstGeom prst="roundRect">
            <a:avLst/>
          </a:prstGeom>
          <a:solidFill>
            <a:srgbClr val="E8F8EB"/>
          </a:solidFill>
          <a:ln w="12700">
            <a:solidFill>
              <a:srgbClr val="BBE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7315200" y="2487728"/>
            <a:ext cx="1828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1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✓  スコアオーバーレイ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503783"/>
            <a:ext cx="219456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sz="1050" dirty="0"/>
              <a:t>TV中継のようにスコアを常時表示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132320" y="2971800"/>
            <a:ext cx="4206240" cy="457200"/>
          </a:xfrm>
          <a:prstGeom prst="roundRect">
            <a:avLst/>
          </a:prstGeom>
          <a:solidFill>
            <a:srgbClr val="E8F8EB"/>
          </a:solidFill>
          <a:ln w="12700">
            <a:solidFill>
              <a:srgbClr val="BBE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0" name="TextBox 29"/>
          <p:cNvSpPr txBox="1"/>
          <p:nvPr/>
        </p:nvSpPr>
        <p:spPr>
          <a:xfrm>
            <a:off x="7315200" y="3082088"/>
            <a:ext cx="1828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1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✓  専用リモコン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0" y="3098143"/>
            <a:ext cx="219456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sz="1050" dirty="0"/>
              <a:t>別の人がスコア操作、撮影に集中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132320" y="3566160"/>
            <a:ext cx="4206240" cy="457200"/>
          </a:xfrm>
          <a:prstGeom prst="roundRect">
            <a:avLst/>
          </a:prstGeom>
          <a:solidFill>
            <a:srgbClr val="E8F8EB"/>
          </a:solidFill>
          <a:ln w="12700">
            <a:solidFill>
              <a:srgbClr val="BBE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3" name="TextBox 32"/>
          <p:cNvSpPr txBox="1"/>
          <p:nvPr/>
        </p:nvSpPr>
        <p:spPr>
          <a:xfrm>
            <a:off x="7315200" y="3676448"/>
            <a:ext cx="1828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1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✓  Web版（PWA）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44000" y="3692503"/>
            <a:ext cx="2194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sz="1050" dirty="0"/>
              <a:t>URLタップで即視聴、DL不要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132320" y="4160520"/>
            <a:ext cx="4206240" cy="457200"/>
          </a:xfrm>
          <a:prstGeom prst="roundRect">
            <a:avLst/>
          </a:prstGeom>
          <a:solidFill>
            <a:srgbClr val="E8F8EB"/>
          </a:solidFill>
          <a:ln w="12700">
            <a:solidFill>
              <a:srgbClr val="BBE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6" name="TextBox 35"/>
          <p:cNvSpPr txBox="1"/>
          <p:nvPr/>
        </p:nvSpPr>
        <p:spPr>
          <a:xfrm>
            <a:off x="7315200" y="4270808"/>
            <a:ext cx="1828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1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✓  LINE共有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144000" y="4286863"/>
            <a:ext cx="219456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sz="1050" dirty="0"/>
              <a:t>ワンタップで家族・チームに共有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132320" y="4754880"/>
            <a:ext cx="4206240" cy="457200"/>
          </a:xfrm>
          <a:prstGeom prst="roundRect">
            <a:avLst/>
          </a:prstGeom>
          <a:solidFill>
            <a:srgbClr val="E8F8EB"/>
          </a:solidFill>
          <a:ln w="12700">
            <a:solidFill>
              <a:srgbClr val="BBE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9" name="TextBox 38"/>
          <p:cNvSpPr txBox="1"/>
          <p:nvPr/>
        </p:nvSpPr>
        <p:spPr>
          <a:xfrm>
            <a:off x="7315200" y="4865168"/>
            <a:ext cx="1828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1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✓  YouTube連携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0" y="4881223"/>
            <a:ext cx="21945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sz="1050" dirty="0"/>
              <a:t>試合映像を自動アーカイブ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132320" y="5349240"/>
            <a:ext cx="4206240" cy="457200"/>
          </a:xfrm>
          <a:prstGeom prst="roundRect">
            <a:avLst/>
          </a:prstGeom>
          <a:solidFill>
            <a:srgbClr val="E8F8EB"/>
          </a:solidFill>
          <a:ln w="12700">
            <a:solidFill>
              <a:srgbClr val="BBE8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2" name="TextBox 41"/>
          <p:cNvSpPr txBox="1"/>
          <p:nvPr/>
        </p:nvSpPr>
        <p:spPr>
          <a:xfrm>
            <a:off x="7315200" y="5459528"/>
            <a:ext cx="18288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1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✓  チーム管理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44000" y="5475583"/>
            <a:ext cx="2194560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sz="1050" dirty="0"/>
              <a:t>メンバー招待・権限管理を一元化</a:t>
            </a:r>
          </a:p>
        </p:txBody>
      </p:sp>
      <p:pic>
        <p:nvPicPr>
          <p:cNvPr id="44" name="Picture 2" descr="（AI 生成）">
            <a:extLst>
              <a:ext uri="{FF2B5EF4-FFF2-40B4-BE49-F238E27FC236}">
                <a16:creationId xmlns:a16="http://schemas.microsoft.com/office/drawing/2014/main" id="{BE92AE90-7E49-A0B7-E27A-E818A6E37E5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87800" y="242188"/>
            <a:ext cx="1084400" cy="50472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3818789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30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なぜ部活動か — 加速度的な拡散モデル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Viral Growth Strategy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9CA3AF"/>
                </a:solidFill>
                <a:latin typeface="Meiryo UI"/>
              </a:defRPr>
            </a:pPr>
            <a:r>
              <a:rPr lang="ja-JP" altLang="en-US" dirty="0"/>
              <a:t>4</a:t>
            </a:r>
          </a:p>
        </p:txBody>
      </p:sp>
      <p:sp>
        <p:nvSpPr>
          <p:cNvPr id="7" name="Rectangle 6"/>
          <p:cNvSpPr/>
          <p:nvPr/>
        </p:nvSpPr>
        <p:spPr>
          <a:xfrm>
            <a:off x="1371600" y="2560320"/>
            <a:ext cx="9601200" cy="3810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8" name="Oval 7"/>
          <p:cNvSpPr/>
          <p:nvPr/>
        </p:nvSpPr>
        <p:spPr>
          <a:xfrm>
            <a:off x="1874520" y="1645920"/>
            <a:ext cx="571500" cy="571500"/>
          </a:xfrm>
          <a:prstGeom prst="ellipse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9" name="TextBox 8"/>
          <p:cNvSpPr txBox="1"/>
          <p:nvPr/>
        </p:nvSpPr>
        <p:spPr>
          <a:xfrm>
            <a:off x="1783080" y="167335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lang="ja-JP" altLang="en-US" sz="2000" b="1">
                <a:solidFill>
                  <a:srgbClr val="FFFFFF"/>
                </a:solidFill>
                <a:latin typeface="Meiryo UI"/>
              </a:defRPr>
            </a:pPr>
            <a:r>
              <a:rPr lang="ja-JP" altLang="en-US" dirty="0"/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08660" y="2808882"/>
            <a:ext cx="2560320" cy="29260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1" name="Rectangle 10"/>
          <p:cNvSpPr/>
          <p:nvPr/>
        </p:nvSpPr>
        <p:spPr>
          <a:xfrm>
            <a:off x="708660" y="2808882"/>
            <a:ext cx="256032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2" name="TextBox 11"/>
          <p:cNvSpPr txBox="1"/>
          <p:nvPr/>
        </p:nvSpPr>
        <p:spPr>
          <a:xfrm>
            <a:off x="937260" y="299176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100" b="1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7260" y="3266081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保護者1人が配信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7260" y="3723282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スマホ1台で</a:t>
            </a:r>
            <a:br/>
            <a:r>
              <a:rPr lang="ja-JP" altLang="en-US" dirty="0"/>
              <a:t>我が子の試合を配信</a:t>
            </a:r>
            <a:br/>
            <a:r>
              <a:rPr lang="ja-JP" altLang="en-US" dirty="0"/>
              <a:t>→ チーム内30-50人が視聴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37560" y="2377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2200" b="1">
                <a:solidFill>
                  <a:srgbClr val="9CA3AF"/>
                </a:solidFill>
                <a:latin typeface="Meiryo UI"/>
              </a:defRPr>
            </a:pPr>
            <a:r>
              <a:rPr lang="ja-JP" altLang="en-US" dirty="0"/>
              <a:t>→</a:t>
            </a:r>
          </a:p>
        </p:txBody>
      </p:sp>
      <p:sp>
        <p:nvSpPr>
          <p:cNvPr id="16" name="Oval 15"/>
          <p:cNvSpPr/>
          <p:nvPr/>
        </p:nvSpPr>
        <p:spPr>
          <a:xfrm>
            <a:off x="4709160" y="1645920"/>
            <a:ext cx="571500" cy="571500"/>
          </a:xfrm>
          <a:prstGeom prst="ellipse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4617720" y="167335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lang="ja-JP" altLang="en-US" sz="2000" b="1">
                <a:solidFill>
                  <a:srgbClr val="FFFFFF"/>
                </a:solidFill>
                <a:latin typeface="Meiryo UI"/>
              </a:defRPr>
            </a:pPr>
            <a:r>
              <a:rPr lang="ja-JP" altLang="en-US" dirty="0"/>
              <a:t>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543300" y="2808882"/>
            <a:ext cx="2560320" cy="29260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9" name="Rectangle 18"/>
          <p:cNvSpPr/>
          <p:nvPr/>
        </p:nvSpPr>
        <p:spPr>
          <a:xfrm>
            <a:off x="3543300" y="2808882"/>
            <a:ext cx="256032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0" name="TextBox 19"/>
          <p:cNvSpPr txBox="1"/>
          <p:nvPr/>
        </p:nvSpPr>
        <p:spPr>
          <a:xfrm>
            <a:off x="3771900" y="299176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100" b="1">
                <a:solidFill>
                  <a:srgbClr val="2563EB"/>
                </a:solidFill>
                <a:latin typeface="Meiryo UI"/>
              </a:defRPr>
            </a:pPr>
            <a:r>
              <a:rPr lang="ja-JP" altLang="en-US" dirty="0"/>
              <a:t>Step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1900" y="3266081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対戦相手が発見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771900" y="3723282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「うちもやりたい！」</a:t>
            </a:r>
            <a:br/>
            <a:r>
              <a:rPr lang="ja-JP" altLang="en-US" dirty="0"/>
              <a:t>→ 相手チームの保護者も</a:t>
            </a:r>
            <a:br/>
            <a:r>
              <a:rPr lang="ja-JP" altLang="en-US" dirty="0"/>
              <a:t>配信者に転換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172200" y="2377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2200" b="1">
                <a:solidFill>
                  <a:srgbClr val="9CA3AF"/>
                </a:solidFill>
                <a:latin typeface="Meiryo UI"/>
              </a:defRPr>
            </a:pPr>
            <a:r>
              <a:rPr lang="ja-JP" altLang="en-US" dirty="0"/>
              <a:t>→</a:t>
            </a:r>
          </a:p>
        </p:txBody>
      </p:sp>
      <p:sp>
        <p:nvSpPr>
          <p:cNvPr id="24" name="Oval 23"/>
          <p:cNvSpPr/>
          <p:nvPr/>
        </p:nvSpPr>
        <p:spPr>
          <a:xfrm>
            <a:off x="7543800" y="1645920"/>
            <a:ext cx="571500" cy="571500"/>
          </a:xfrm>
          <a:prstGeom prst="ellipse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5" name="TextBox 24"/>
          <p:cNvSpPr txBox="1"/>
          <p:nvPr/>
        </p:nvSpPr>
        <p:spPr>
          <a:xfrm>
            <a:off x="7452360" y="167335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lang="ja-JP" altLang="en-US" sz="2000" b="1">
                <a:solidFill>
                  <a:srgbClr val="FFFFFF"/>
                </a:solidFill>
                <a:latin typeface="Meiryo UI"/>
              </a:defRPr>
            </a:pPr>
            <a:r>
              <a:rPr lang="ja-JP" altLang="en-US" dirty="0"/>
              <a:t>3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377940" y="2808882"/>
            <a:ext cx="2560320" cy="29260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7" name="Rectangle 26"/>
          <p:cNvSpPr/>
          <p:nvPr/>
        </p:nvSpPr>
        <p:spPr>
          <a:xfrm>
            <a:off x="6377940" y="2808882"/>
            <a:ext cx="2560320" cy="50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8" name="TextBox 27"/>
          <p:cNvSpPr txBox="1"/>
          <p:nvPr/>
        </p:nvSpPr>
        <p:spPr>
          <a:xfrm>
            <a:off x="6606540" y="299176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100" b="1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Step 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6540" y="3266081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大会全体に波及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06540" y="3723282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大会主催者が推奨</a:t>
            </a:r>
            <a:br/>
            <a:r>
              <a:rPr lang="ja-JP" altLang="en-US" dirty="0"/>
              <a:t>→ 全参加チームが利用</a:t>
            </a:r>
            <a:br/>
            <a:r>
              <a:rPr lang="ja-JP" altLang="en-US" dirty="0"/>
              <a:t>→ 1大会で100-200人獲得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006840" y="237744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2200" b="1">
                <a:solidFill>
                  <a:srgbClr val="9CA3AF"/>
                </a:solidFill>
                <a:latin typeface="Meiryo UI"/>
              </a:defRPr>
            </a:pPr>
            <a:r>
              <a:rPr lang="ja-JP" altLang="en-US" dirty="0"/>
              <a:t>→</a:t>
            </a:r>
          </a:p>
        </p:txBody>
      </p:sp>
      <p:sp>
        <p:nvSpPr>
          <p:cNvPr id="32" name="Oval 31"/>
          <p:cNvSpPr/>
          <p:nvPr/>
        </p:nvSpPr>
        <p:spPr>
          <a:xfrm>
            <a:off x="10378440" y="1645920"/>
            <a:ext cx="571500" cy="571500"/>
          </a:xfrm>
          <a:prstGeom prst="ellipse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3" name="TextBox 32"/>
          <p:cNvSpPr txBox="1"/>
          <p:nvPr/>
        </p:nvSpPr>
        <p:spPr>
          <a:xfrm>
            <a:off x="10287000" y="1673351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lang="ja-JP" altLang="en-US" sz="2000" b="1">
                <a:solidFill>
                  <a:srgbClr val="FFFFFF"/>
                </a:solidFill>
                <a:latin typeface="Meiryo UI"/>
              </a:defRPr>
            </a:pPr>
            <a:r>
              <a:rPr lang="ja-JP" altLang="en-US" dirty="0"/>
              <a:t>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212580" y="2808882"/>
            <a:ext cx="2560320" cy="29260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5" name="Rectangle 34"/>
          <p:cNvSpPr/>
          <p:nvPr/>
        </p:nvSpPr>
        <p:spPr>
          <a:xfrm>
            <a:off x="9212580" y="2808882"/>
            <a:ext cx="2560320" cy="50800"/>
          </a:xfrm>
          <a:prstGeom prst="rect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6" name="TextBox 35"/>
          <p:cNvSpPr txBox="1"/>
          <p:nvPr/>
        </p:nvSpPr>
        <p:spPr>
          <a:xfrm>
            <a:off x="9441180" y="299176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100" b="1">
                <a:solidFill>
                  <a:srgbClr val="EA880B"/>
                </a:solidFill>
                <a:latin typeface="Meiryo UI"/>
              </a:defRPr>
            </a:pPr>
            <a:r>
              <a:rPr lang="ja-JP" altLang="en-US" dirty="0"/>
              <a:t>Step 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441180" y="3266081"/>
            <a:ext cx="2103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地域のスタンダード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441180" y="3723282"/>
            <a:ext cx="21031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サッカー→野球→バスケ</a:t>
            </a:r>
            <a:br/>
            <a:r>
              <a:rPr lang="ja-JP" altLang="en-US" dirty="0"/>
              <a:t>→ 複数スポーツに横展開</a:t>
            </a:r>
            <a:br/>
            <a:r>
              <a:rPr lang="ja-JP" altLang="en-US" dirty="0"/>
              <a:t>→ 地域のインフラに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08660" y="5917842"/>
            <a:ext cx="10515600" cy="36576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0" name="TextBox 39"/>
          <p:cNvSpPr txBox="1"/>
          <p:nvPr/>
        </p:nvSpPr>
        <p:spPr>
          <a:xfrm>
            <a:off x="1074420" y="5936130"/>
            <a:ext cx="9875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部活動は保護者コミュニティが密接 → 口コミの拡散速度が圧倒的に速い</a:t>
            </a:r>
          </a:p>
        </p:txBody>
      </p:sp>
      <p:pic>
        <p:nvPicPr>
          <p:cNvPr id="41" name="Picture 2" descr="（AI 生成）">
            <a:extLst>
              <a:ext uri="{FF2B5EF4-FFF2-40B4-BE49-F238E27FC236}">
                <a16:creationId xmlns:a16="http://schemas.microsoft.com/office/drawing/2014/main" id="{E5D120A7-AAF6-C141-0E1D-982F1777CD8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87800" y="242188"/>
            <a:ext cx="1084400" cy="50472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153520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30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市場規模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Market Size — 1,000万人超の未開拓市場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9CA3AF"/>
                </a:solidFill>
                <a:latin typeface="Meiryo UI"/>
              </a:defRPr>
            </a:pPr>
            <a:r>
              <a:rPr lang="ja-JP" altLang="en-US" dirty="0"/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4937760" cy="47548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188720" y="178308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ターゲット市場規模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23774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中学校 部活動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23774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3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約270万人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88720" y="2697480"/>
            <a:ext cx="393192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2" name="Rounded Rectangle 11"/>
          <p:cNvSpPr/>
          <p:nvPr/>
        </p:nvSpPr>
        <p:spPr>
          <a:xfrm>
            <a:off x="1188720" y="2697480"/>
            <a:ext cx="1936376" cy="2286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1188720" y="3291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高校 部活動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840480" y="32918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3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約180万人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88720" y="3611880"/>
            <a:ext cx="393192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6" name="Rounded Rectangle 15"/>
          <p:cNvSpPr/>
          <p:nvPr/>
        </p:nvSpPr>
        <p:spPr>
          <a:xfrm>
            <a:off x="1188720" y="3611880"/>
            <a:ext cx="1290917" cy="2286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1188720" y="42062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スポーツ少年団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40480" y="4206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3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約60万人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88720" y="4526280"/>
            <a:ext cx="393192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0" name="Rounded Rectangle 19"/>
          <p:cNvSpPr/>
          <p:nvPr/>
        </p:nvSpPr>
        <p:spPr>
          <a:xfrm>
            <a:off x="1188720" y="4526280"/>
            <a:ext cx="430305" cy="2286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1" name="Rectangle 20"/>
          <p:cNvSpPr/>
          <p:nvPr/>
        </p:nvSpPr>
        <p:spPr>
          <a:xfrm>
            <a:off x="1188720" y="5029200"/>
            <a:ext cx="3931920" cy="1270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2" name="TextBox 21"/>
          <p:cNvSpPr txBox="1"/>
          <p:nvPr/>
        </p:nvSpPr>
        <p:spPr>
          <a:xfrm>
            <a:off x="1188720" y="5212080"/>
            <a:ext cx="3931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保護者・家族を含む対象層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88720" y="5577840"/>
            <a:ext cx="3931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lang="ja-JP" altLang="en-US" sz="3000" b="1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1,000〜1,500万人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17920" y="1645920"/>
            <a:ext cx="5120640" cy="47548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5" name="TextBox 24"/>
          <p:cNvSpPr txBox="1"/>
          <p:nvPr/>
        </p:nvSpPr>
        <p:spPr>
          <a:xfrm>
            <a:off x="6583680" y="178308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競合との差別化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2377440"/>
            <a:ext cx="45720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6858000" y="24688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スポーツブル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20" y="2468878"/>
            <a:ext cx="94595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sz="1050" dirty="0"/>
              <a:t>プロ・大学スポーツ中心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37183" y="2468880"/>
            <a:ext cx="17270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1">
                <a:solidFill>
                  <a:srgbClr val="DC2626"/>
                </a:solidFill>
                <a:latin typeface="Meiryo UI"/>
              </a:defRPr>
            </a:pPr>
            <a:r>
              <a:rPr lang="ja-JP" altLang="en-US" sz="1400" dirty="0"/>
              <a:t>ローカル未対応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583680" y="3291840"/>
            <a:ext cx="45720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1" name="TextBox 30"/>
          <p:cNvSpPr txBox="1"/>
          <p:nvPr/>
        </p:nvSpPr>
        <p:spPr>
          <a:xfrm>
            <a:off x="6858000" y="33832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YouTube Live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20" y="3383278"/>
            <a:ext cx="945953" cy="2539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sz="1050" dirty="0"/>
              <a:t>汎用配信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37183" y="3383280"/>
            <a:ext cx="17270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1">
                <a:solidFill>
                  <a:srgbClr val="DC2626"/>
                </a:solidFill>
                <a:latin typeface="Meiryo UI"/>
              </a:defRPr>
            </a:pPr>
            <a:r>
              <a:rPr lang="ja-JP" altLang="en-US" sz="1400" dirty="0"/>
              <a:t>スコア表示なし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206240"/>
            <a:ext cx="457200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5" name="TextBox 34"/>
          <p:cNvSpPr txBox="1"/>
          <p:nvPr/>
        </p:nvSpPr>
        <p:spPr>
          <a:xfrm>
            <a:off x="6858000" y="42976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DAZN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20" y="4297678"/>
            <a:ext cx="94595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sz="1050" dirty="0"/>
              <a:t>プロスポーツ月額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337183" y="4297680"/>
            <a:ext cx="17270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1">
                <a:solidFill>
                  <a:srgbClr val="DC2626"/>
                </a:solidFill>
                <a:latin typeface="Meiryo UI"/>
              </a:defRPr>
            </a:pPr>
            <a:r>
              <a:rPr lang="ja-JP" altLang="en-US" sz="1400" dirty="0"/>
              <a:t>アマチュア未対応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583680" y="5120640"/>
            <a:ext cx="4572000" cy="640080"/>
          </a:xfrm>
          <a:prstGeom prst="roundRect">
            <a:avLst/>
          </a:prstGeom>
          <a:solidFill>
            <a:srgbClr val="E8F5EB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9" name="TextBox 38"/>
          <p:cNvSpPr txBox="1"/>
          <p:nvPr/>
        </p:nvSpPr>
        <p:spPr>
          <a:xfrm>
            <a:off x="6858000" y="521208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LIVE SPOtCH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20" y="5212078"/>
            <a:ext cx="945953" cy="4154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sz="1050" dirty="0"/>
              <a:t>ローカルスポーツ専用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337183" y="5212080"/>
            <a:ext cx="17270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1">
                <a:solidFill>
                  <a:srgbClr val="16A34A"/>
                </a:solidFill>
                <a:latin typeface="Meiryo UI"/>
              </a:defRPr>
            </a:pPr>
            <a:r>
              <a:rPr lang="ja-JP" altLang="en-US" sz="1400" dirty="0"/>
              <a:t>唯一の選択肢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217920" y="5943600"/>
            <a:ext cx="5120640" cy="36576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43" name="TextBox 42"/>
          <p:cNvSpPr txBox="1"/>
          <p:nvPr/>
        </p:nvSpPr>
        <p:spPr>
          <a:xfrm>
            <a:off x="6400800" y="596188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国内に直接競合なし = ブルーオーシャン</a:t>
            </a:r>
          </a:p>
        </p:txBody>
      </p:sp>
      <p:pic>
        <p:nvPicPr>
          <p:cNvPr id="44" name="Picture 2" descr="（AI 生成）">
            <a:extLst>
              <a:ext uri="{FF2B5EF4-FFF2-40B4-BE49-F238E27FC236}">
                <a16:creationId xmlns:a16="http://schemas.microsoft.com/office/drawing/2014/main" id="{01D8CE0F-49D7-5912-18A7-8BED7A425C0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87800" y="242188"/>
            <a:ext cx="1084400" cy="50472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05820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30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ビジネスモデル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Pricing Plans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9CA3AF"/>
                </a:solidFill>
                <a:latin typeface="Meiryo UI"/>
              </a:defRPr>
            </a:pPr>
            <a:r>
              <a:rPr lang="ja-JP" altLang="en-US" dirty="0"/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474720" cy="47548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3474720" cy="50800"/>
          </a:xfrm>
          <a:prstGeom prst="rect">
            <a:avLst/>
          </a:prstGeom>
          <a:solidFill>
            <a:srgbClr val="6666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1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無料プラン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38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¥0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80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視聴者向け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3200400"/>
            <a:ext cx="2926080" cy="1270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1097280" y="3383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ライブ視聴（無制限）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76732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1ヶ月以内のアーカイブ視聴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15137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試合スコアの閲覧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0" y="1645920"/>
            <a:ext cx="3474720" cy="475488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7" name="Rectangle 16"/>
          <p:cNvSpPr/>
          <p:nvPr/>
        </p:nvSpPr>
        <p:spPr>
          <a:xfrm>
            <a:off x="4572000" y="1645920"/>
            <a:ext cx="347472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8" name="Rounded Rectangle 17"/>
          <p:cNvSpPr/>
          <p:nvPr/>
        </p:nvSpPr>
        <p:spPr>
          <a:xfrm>
            <a:off x="6583680" y="1463040"/>
            <a:ext cx="1280160" cy="32004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6583680" y="1463040"/>
            <a:ext cx="128016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lang="ja-JP" altLang="en-US" sz="1100" b="1">
                <a:solidFill>
                  <a:srgbClr val="FFFFFF"/>
                </a:solidFill>
                <a:latin typeface="Meiryo UI"/>
              </a:defRPr>
            </a:pPr>
            <a:r>
              <a:rPr lang="ja-JP" altLang="en-US"/>
              <a:t>人気予想</a:t>
            </a:r>
            <a:endParaRPr lang="ja-JP" altLang="en-US" dirty="0"/>
          </a:p>
        </p:txBody>
      </p:sp>
      <p:sp>
        <p:nvSpPr>
          <p:cNvPr id="20" name="TextBox 19"/>
          <p:cNvSpPr txBox="1"/>
          <p:nvPr/>
        </p:nvSpPr>
        <p:spPr>
          <a:xfrm>
            <a:off x="4846320" y="1920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1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配信者プラン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84632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38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¥300/月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46320" y="2880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保護者・コーチ向け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846320" y="3200400"/>
            <a:ext cx="2926080" cy="1270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4" name="TextBox 23"/>
          <p:cNvSpPr txBox="1"/>
          <p:nvPr/>
        </p:nvSpPr>
        <p:spPr>
          <a:xfrm>
            <a:off x="4846320" y="3383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ライブ配信機能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846320" y="3767328"/>
            <a:ext cx="2926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</a:t>
            </a:r>
            <a:r>
              <a:rPr lang="ja-JP" altLang="en-US" dirty="0">
                <a:highlight>
                  <a:srgbClr val="FFFF00"/>
                </a:highlight>
              </a:rPr>
              <a:t>スコアボードオーバーレイ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846320" y="415137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アーカイブ自動保存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846320" y="4535424"/>
            <a:ext cx="2926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</a:t>
            </a:r>
            <a:r>
              <a:rPr lang="ja-JP" altLang="en-US" dirty="0">
                <a:highlight>
                  <a:srgbClr val="FFFF00"/>
                </a:highlight>
              </a:rPr>
              <a:t>LINE共有機能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846320" y="49194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初回10分間無料お試し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321040" y="1645920"/>
            <a:ext cx="3474720" cy="475488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A88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0" name="Rectangle 29"/>
          <p:cNvSpPr/>
          <p:nvPr/>
        </p:nvSpPr>
        <p:spPr>
          <a:xfrm>
            <a:off x="8321040" y="1645920"/>
            <a:ext cx="3474720" cy="50800"/>
          </a:xfrm>
          <a:prstGeom prst="rect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1" name="TextBox 30"/>
          <p:cNvSpPr txBox="1"/>
          <p:nvPr/>
        </p:nvSpPr>
        <p:spPr>
          <a:xfrm>
            <a:off x="8595360" y="192024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1">
                <a:solidFill>
                  <a:srgbClr val="EA880B"/>
                </a:solidFill>
                <a:latin typeface="Meiryo UI"/>
              </a:defRPr>
            </a:pPr>
            <a:r>
              <a:rPr lang="ja-JP" altLang="en-US" dirty="0"/>
              <a:t>チームプラン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595360" y="2286000"/>
            <a:ext cx="29260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38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¥500/月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595360" y="288036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チーム代表向け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595360" y="3200400"/>
            <a:ext cx="2926080" cy="12700"/>
          </a:xfrm>
          <a:prstGeom prst="rect">
            <a:avLst/>
          </a:prstGeom>
          <a:solidFill>
            <a:srgbClr val="E0E0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5" name="TextBox 34"/>
          <p:cNvSpPr txBox="1"/>
          <p:nvPr/>
        </p:nvSpPr>
        <p:spPr>
          <a:xfrm>
            <a:off x="8595360" y="33832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配信者プランの全機能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595360" y="376732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大容量ストレージ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595360" y="415137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チーム管理・メンバー招待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595360" y="4535424"/>
            <a:ext cx="292608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</a:t>
            </a:r>
            <a:r>
              <a:rPr lang="ja-JP" altLang="en-US" dirty="0">
                <a:highlight>
                  <a:srgbClr val="FFFF00"/>
                </a:highlight>
              </a:rPr>
              <a:t>YouTube自動アーカイブ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595360" y="491947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スケジュール管理</a:t>
            </a:r>
          </a:p>
        </p:txBody>
      </p:sp>
      <p:pic>
        <p:nvPicPr>
          <p:cNvPr id="40" name="Picture 2" descr="（AI 生成）">
            <a:extLst>
              <a:ext uri="{FF2B5EF4-FFF2-40B4-BE49-F238E27FC236}">
                <a16:creationId xmlns:a16="http://schemas.microsoft.com/office/drawing/2014/main" id="{D7A92036-93E5-396E-2828-837768E4FB7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87800" y="242188"/>
            <a:ext cx="1084400" cy="50472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0913713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30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3年間の収支計画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Financial Projection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9CA3AF"/>
                </a:solidFill>
                <a:latin typeface="Meiryo UI"/>
              </a:defRPr>
            </a:pPr>
            <a:r>
              <a:rPr lang="ja-JP" altLang="en-US" dirty="0"/>
              <a:t>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78190741"/>
              </p:ext>
            </p:extLst>
          </p:nvPr>
        </p:nvGraphicFramePr>
        <p:xfrm>
          <a:off x="822960" y="1645920"/>
          <a:ext cx="10515600" cy="35661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0945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 b="1">
                          <a:solidFill>
                            <a:srgbClr val="FFFFFF"/>
                          </a:solidFill>
                          <a:latin typeface="Meiryo UI"/>
                        </a:defRPr>
                      </a:pPr>
                      <a:endParaRPr lang="ja-JP" altLang="en-US"/>
                    </a:p>
                  </a:txBody>
                  <a:tcPr anchor="ctr"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 b="1">
                          <a:solidFill>
                            <a:srgbClr val="FFFFFF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Year 1（立ち上げ期）</a:t>
                      </a:r>
                    </a:p>
                  </a:txBody>
                  <a:tcPr anchor="ctr"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 b="1">
                          <a:solidFill>
                            <a:srgbClr val="FFFFFF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Year 2（成長期）</a:t>
                      </a:r>
                    </a:p>
                  </a:txBody>
                  <a:tcPr anchor="ctr">
                    <a:solidFill>
                      <a:srgbClr val="E6394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 b="1">
                          <a:solidFill>
                            <a:srgbClr val="FFFFFF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Year 3（拡大期）</a:t>
                      </a:r>
                    </a:p>
                  </a:txBody>
                  <a:tcPr anchor="ctr">
                    <a:solidFill>
                      <a:srgbClr val="E6394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登録ユーザー（期末）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8,000人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35,000人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100,000人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有料会員（期末）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1,000人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4,550人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13,000人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売上合計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153万円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1,291万円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5,144万円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経費合計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503万円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634万円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1,479万円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営業損益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▲350万円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+657万円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+3,665万円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09451"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累計損益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▲350万円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+307万円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spcAft>
                          <a:spcPts val="100"/>
                        </a:spcAft>
                        <a:defRPr lang="ja-JP" altLang="en-US" sz="1400">
                          <a:solidFill>
                            <a:srgbClr val="1A1A2E"/>
                          </a:solidFill>
                          <a:latin typeface="Meiryo UI"/>
                        </a:defRPr>
                      </a:pPr>
                      <a:r>
                        <a:rPr lang="ja-JP" altLang="en-US" dirty="0"/>
                        <a:t>+3,972万円</a:t>
                      </a:r>
                    </a:p>
                  </a:txBody>
                  <a:tcPr anchor="ctr">
                    <a:solidFill>
                      <a:srgbClr val="F8F8F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822960" y="5440680"/>
            <a:ext cx="10515600" cy="54864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9" name="TextBox 8"/>
          <p:cNvSpPr txBox="1"/>
          <p:nvPr/>
        </p:nvSpPr>
        <p:spPr>
          <a:xfrm>
            <a:off x="1188720" y="5513832"/>
            <a:ext cx="9875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lang="ja-JP" altLang="en-US" sz="1600" b="1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Year 2で単月黒字化 → 借入金700万円はYear 2〜3で完済見込み</a:t>
            </a:r>
          </a:p>
        </p:txBody>
      </p:sp>
      <p:pic>
        <p:nvPicPr>
          <p:cNvPr id="10" name="Picture 2" descr="（AI 生成）">
            <a:extLst>
              <a:ext uri="{FF2B5EF4-FFF2-40B4-BE49-F238E27FC236}">
                <a16:creationId xmlns:a16="http://schemas.microsoft.com/office/drawing/2014/main" id="{307B74C3-FB71-109B-D6AF-1626A780421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87800" y="242188"/>
            <a:ext cx="1084400" cy="50472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073182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30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資金計画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700万円の使途内訳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9CA3AF"/>
                </a:solidFill>
                <a:latin typeface="Meiryo UI"/>
              </a:defRPr>
            </a:pPr>
            <a:r>
              <a:rPr lang="ja-JP" altLang="en-US" dirty="0"/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3200400" cy="109728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188720" y="1691640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借入希望額</a:t>
            </a:r>
          </a:p>
          <a:p>
            <a:pPr algn="l">
              <a:spcAft>
                <a:spcPts val="400"/>
              </a:spcAft>
              <a:defRPr lang="ja-JP" altLang="en-US" sz="4200" b="1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700万円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01752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マーケティング費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17520" y="301752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250万円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0" y="3063240"/>
            <a:ext cx="685800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2" name="Rounded Rectangle 11"/>
          <p:cNvSpPr/>
          <p:nvPr/>
        </p:nvSpPr>
        <p:spPr>
          <a:xfrm>
            <a:off x="4572000" y="3063240"/>
            <a:ext cx="6172200" cy="2286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10835640" y="301752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100" b="0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36%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33756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SNS広告 / Google広告 / PR / 販促物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79475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運転資金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17520" y="379475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2563EB"/>
                </a:solidFill>
                <a:latin typeface="Meiryo UI"/>
              </a:defRPr>
            </a:pPr>
            <a:r>
              <a:rPr lang="ja-JP" altLang="en-US" dirty="0"/>
              <a:t>150万円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0" y="3840479"/>
            <a:ext cx="685800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8" name="Rounded Rectangle 17"/>
          <p:cNvSpPr/>
          <p:nvPr/>
        </p:nvSpPr>
        <p:spPr>
          <a:xfrm>
            <a:off x="4572000" y="3840479"/>
            <a:ext cx="3600450" cy="228600"/>
          </a:xfrm>
          <a:prstGeom prst="round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9" name="TextBox 18"/>
          <p:cNvSpPr txBox="1"/>
          <p:nvPr/>
        </p:nvSpPr>
        <p:spPr>
          <a:xfrm>
            <a:off x="8263890" y="379475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100" b="0">
                <a:solidFill>
                  <a:srgbClr val="2563EB"/>
                </a:solidFill>
                <a:latin typeface="Meiryo UI"/>
              </a:defRPr>
            </a:pPr>
            <a:r>
              <a:rPr lang="ja-JP" altLang="en-US" dirty="0"/>
              <a:t>21%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114799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既存事業との並行運営（6ヶ月分）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57200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開発費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17520" y="457200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EA880B"/>
                </a:solidFill>
                <a:latin typeface="Meiryo UI"/>
              </a:defRPr>
            </a:pPr>
            <a:r>
              <a:rPr lang="ja-JP" altLang="en-US" dirty="0"/>
              <a:t>150万円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0" y="4617720"/>
            <a:ext cx="685800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4" name="Rounded Rectangle 23"/>
          <p:cNvSpPr/>
          <p:nvPr/>
        </p:nvSpPr>
        <p:spPr>
          <a:xfrm>
            <a:off x="4572000" y="4617720"/>
            <a:ext cx="3600450" cy="228600"/>
          </a:xfrm>
          <a:prstGeom prst="roundRect">
            <a:avLst/>
          </a:prstGeom>
          <a:solidFill>
            <a:srgbClr val="EA88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5" name="TextBox 24"/>
          <p:cNvSpPr txBox="1"/>
          <p:nvPr/>
        </p:nvSpPr>
        <p:spPr>
          <a:xfrm>
            <a:off x="8263890" y="457200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100" b="0">
                <a:solidFill>
                  <a:srgbClr val="EA880B"/>
                </a:solidFill>
                <a:latin typeface="Meiryo UI"/>
              </a:defRPr>
            </a:pPr>
            <a:r>
              <a:rPr lang="ja-JP" altLang="en-US" dirty="0"/>
              <a:t>21%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89204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残り開発 / 外部API利用料 / テスト環境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2960" y="5349240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インフラ費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534924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100万円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0" y="5394960"/>
            <a:ext cx="685800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0" name="Rounded Rectangle 29"/>
          <p:cNvSpPr/>
          <p:nvPr/>
        </p:nvSpPr>
        <p:spPr>
          <a:xfrm>
            <a:off x="4572000" y="5394960"/>
            <a:ext cx="2400300" cy="228600"/>
          </a:xfrm>
          <a:prstGeom prst="round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1" name="TextBox 30"/>
          <p:cNvSpPr txBox="1"/>
          <p:nvPr/>
        </p:nvSpPr>
        <p:spPr>
          <a:xfrm>
            <a:off x="7063740" y="53492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100" b="0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14%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5669280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LiveKit / Supabase / Vercel（1年分）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6126479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予備費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6126479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7C3AED"/>
                </a:solidFill>
                <a:latin typeface="Meiryo UI"/>
              </a:defRPr>
            </a:pPr>
            <a:r>
              <a:rPr lang="ja-JP" altLang="en-US" dirty="0"/>
              <a:t>50万円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6172199"/>
            <a:ext cx="6858000" cy="228600"/>
          </a:xfrm>
          <a:prstGeom prst="roundRect">
            <a:avLst/>
          </a:prstGeom>
          <a:solidFill>
            <a:srgbClr val="F0F0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6" name="Rounded Rectangle 35"/>
          <p:cNvSpPr/>
          <p:nvPr/>
        </p:nvSpPr>
        <p:spPr>
          <a:xfrm>
            <a:off x="4572000" y="6172199"/>
            <a:ext cx="1200150" cy="2286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7" name="TextBox 36"/>
          <p:cNvSpPr txBox="1"/>
          <p:nvPr/>
        </p:nvSpPr>
        <p:spPr>
          <a:xfrm>
            <a:off x="5863590" y="6126479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100" b="0">
                <a:solidFill>
                  <a:srgbClr val="7C3AED"/>
                </a:solidFill>
                <a:latin typeface="Meiryo UI"/>
              </a:defRPr>
            </a:pPr>
            <a:r>
              <a:rPr lang="ja-JP" altLang="en-US" dirty="0"/>
              <a:t>7%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72000" y="6446519"/>
            <a:ext cx="68580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想定外のコスト / 法務費用 / 商標登録等</a:t>
            </a:r>
          </a:p>
        </p:txBody>
      </p:sp>
      <p:pic>
        <p:nvPicPr>
          <p:cNvPr id="39" name="Picture 2" descr="（AI 生成）">
            <a:extLst>
              <a:ext uri="{FF2B5EF4-FFF2-40B4-BE49-F238E27FC236}">
                <a16:creationId xmlns:a16="http://schemas.microsoft.com/office/drawing/2014/main" id="{7B3F51A7-E103-9562-14AB-424BC96CF7C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87800" y="242188"/>
            <a:ext cx="1084400" cy="50472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9089896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30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開発状況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92%完了 — 本番稼働中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9CA3AF"/>
                </a:solidFill>
                <a:latin typeface="Meiryo UI"/>
              </a:defRPr>
            </a:pPr>
            <a:r>
              <a:rPr lang="ja-JP" altLang="en-US" dirty="0"/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10515600" cy="457200"/>
          </a:xfrm>
          <a:prstGeom prst="roundRect">
            <a:avLst/>
          </a:prstGeom>
          <a:solidFill>
            <a:srgbClr val="F0F0F5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8" name="Rounded Rectangle 7"/>
          <p:cNvSpPr/>
          <p:nvPr/>
        </p:nvSpPr>
        <p:spPr>
          <a:xfrm>
            <a:off x="822960" y="1645920"/>
            <a:ext cx="9674352" cy="457200"/>
          </a:xfrm>
          <a:prstGeom prst="round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9" name="TextBox 8"/>
          <p:cNvSpPr txBox="1"/>
          <p:nvPr/>
        </p:nvSpPr>
        <p:spPr>
          <a:xfrm>
            <a:off x="822960" y="1673352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defRPr lang="ja-JP" altLang="en-US" sz="1800" b="1">
                <a:solidFill>
                  <a:srgbClr val="FFFFFF"/>
                </a:solidFill>
                <a:latin typeface="Meiryo UI"/>
              </a:defRPr>
            </a:pPr>
            <a:r>
              <a:rPr lang="ja-JP" altLang="en-US" dirty="0"/>
              <a:t>92%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2377440"/>
            <a:ext cx="6858000" cy="402336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1" name="TextBox 10"/>
          <p:cNvSpPr txBox="1"/>
          <p:nvPr/>
        </p:nvSpPr>
        <p:spPr>
          <a:xfrm>
            <a:off x="1188720" y="2468880"/>
            <a:ext cx="5943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✅ 実装済み（本番稼働中）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880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ユーザー認証（Google / メール）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32918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ライブ映像配信（LiveKit）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7033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スコアボード（TV中継風）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スポーツ別ルール（バレー・野球）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5262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共有コードによる視聴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37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LINE共有（ワンタップ）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5349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配信履歴・スコア記録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880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PWA対応（ホーム画面追加）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32918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Stripe決済（¥300 / ¥500）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370332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チーム管理・招待コード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411480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YouTube連携（OAuth認証）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120" y="45262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パスワードリセット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49377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お問い合わせフォーム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120" y="5349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2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退会機能 / 本番デプロイ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955279" y="2377440"/>
            <a:ext cx="3383280" cy="2286000"/>
          </a:xfrm>
          <a:prstGeom prst="roundRect">
            <a:avLst/>
          </a:prstGeom>
          <a:solidFill>
            <a:srgbClr val="FFF3E0"/>
          </a:solidFill>
          <a:ln w="12700">
            <a:solidFill>
              <a:srgbClr val="EA88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7" name="TextBox 26"/>
          <p:cNvSpPr txBox="1"/>
          <p:nvPr/>
        </p:nvSpPr>
        <p:spPr>
          <a:xfrm>
            <a:off x="8229600" y="24688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EA880B"/>
                </a:solidFill>
                <a:latin typeface="Meiryo UI"/>
              </a:defRPr>
            </a:pPr>
            <a:r>
              <a:rPr lang="ja-JP" altLang="en-US" dirty="0"/>
              <a:t>残りタスク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2860243"/>
            <a:ext cx="226771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YouTube録画・アップロード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058400" y="29260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1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3週間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0" y="3408883"/>
            <a:ext cx="226771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UI最終調整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347472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1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1週間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3957523"/>
            <a:ext cx="2267712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ベータテスト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058400" y="402336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1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2週間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955278" y="4937760"/>
            <a:ext cx="3413761" cy="1444752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5" name="TextBox 34"/>
          <p:cNvSpPr txBox="1"/>
          <p:nvPr/>
        </p:nvSpPr>
        <p:spPr>
          <a:xfrm>
            <a:off x="8229600" y="502920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1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本番URL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0" y="5303520"/>
            <a:ext cx="2834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100" b="0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sports-streaming-app.vercel.app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0" y="5577840"/>
            <a:ext cx="2834640" cy="279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ローンチ: 2026年6</a:t>
            </a:r>
            <a:r>
              <a:rPr lang="ja-JP" altLang="en-US"/>
              <a:t>〜7月</a:t>
            </a:r>
            <a:endParaRPr lang="en-US" altLang="ja-JP" dirty="0"/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B7C249EF-2E8D-A621-014E-408B003B26CF}"/>
              </a:ext>
            </a:extLst>
          </p:cNvPr>
          <p:cNvSpPr txBox="1"/>
          <p:nvPr/>
        </p:nvSpPr>
        <p:spPr>
          <a:xfrm>
            <a:off x="8229601" y="5880100"/>
            <a:ext cx="2834640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100" b="1">
                <a:solidFill>
                  <a:srgbClr val="FF0000"/>
                </a:solidFill>
              </a:rPr>
              <a:t>県下の大会や地方大会、全国大会が活況を迎えるまでにローンチしたい！</a:t>
            </a:r>
          </a:p>
        </p:txBody>
      </p:sp>
      <p:pic>
        <p:nvPicPr>
          <p:cNvPr id="41" name="Picture 2" descr="（AI 生成）">
            <a:extLst>
              <a:ext uri="{FF2B5EF4-FFF2-40B4-BE49-F238E27FC236}">
                <a16:creationId xmlns:a16="http://schemas.microsoft.com/office/drawing/2014/main" id="{A513C61A-9578-51FE-698F-01AE9D6A04A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87800" y="242188"/>
            <a:ext cx="1084400" cy="50472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606980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30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知的財産・参入障壁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IP &amp; Competitive Moat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9CA3AF"/>
                </a:solidFill>
                <a:latin typeface="Meiryo UI"/>
              </a:defRPr>
            </a:pPr>
            <a:r>
              <a:rPr lang="ja-JP" altLang="en-US" dirty="0"/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5120640" cy="2194560"/>
          </a:xfrm>
          <a:prstGeom prst="roundRect">
            <a:avLst/>
          </a:prstGeom>
          <a:solidFill>
            <a:srgbClr val="FDEBED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512064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9" name="TextBox 8"/>
          <p:cNvSpPr txBox="1"/>
          <p:nvPr/>
        </p:nvSpPr>
        <p:spPr>
          <a:xfrm>
            <a:off x="1097280" y="1874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800" b="1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商標登録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「LIVE SPOtCH」の商標出願を予定。</a:t>
            </a:r>
            <a:br/>
            <a:r>
              <a:rPr lang="ja-JP" altLang="en-US" dirty="0"/>
              <a:t>サービス名のブランド保護。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0" y="1645920"/>
            <a:ext cx="5120640" cy="2194560"/>
          </a:xfrm>
          <a:prstGeom prst="roundRect">
            <a:avLst/>
          </a:prstGeom>
          <a:solidFill>
            <a:srgbClr val="EBF0FF"/>
          </a:solidFill>
          <a:ln w="12700">
            <a:solidFill>
              <a:srgbClr val="2563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2" name="Rectangle 11"/>
          <p:cNvSpPr/>
          <p:nvPr/>
        </p:nvSpPr>
        <p:spPr>
          <a:xfrm>
            <a:off x="6400800" y="1645920"/>
            <a:ext cx="512064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3" name="TextBox 12"/>
          <p:cNvSpPr txBox="1"/>
          <p:nvPr/>
        </p:nvSpPr>
        <p:spPr>
          <a:xfrm>
            <a:off x="6675120" y="187452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800" b="1">
                <a:solidFill>
                  <a:srgbClr val="2563EB"/>
                </a:solidFill>
                <a:latin typeface="Meiryo UI"/>
              </a:defRPr>
            </a:pPr>
            <a:r>
              <a:rPr lang="ja-JP" altLang="en-US" dirty="0"/>
              <a:t>特許出願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5120" y="228600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スコアオーバーレイ×ライブ配信×</a:t>
            </a:r>
            <a:br/>
            <a:r>
              <a:rPr lang="ja-JP" altLang="en-US" dirty="0"/>
              <a:t>スポーツルールエンジンの組み合わせ</a:t>
            </a:r>
            <a:br/>
            <a:r>
              <a:rPr lang="ja-JP" altLang="en-US" dirty="0"/>
              <a:t>技術について特許出願を検討。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4206240"/>
            <a:ext cx="5120640" cy="2194560"/>
          </a:xfrm>
          <a:prstGeom prst="roundRect">
            <a:avLst/>
          </a:prstGeom>
          <a:solidFill>
            <a:srgbClr val="E8F5EB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6" name="Rectangle 15"/>
          <p:cNvSpPr/>
          <p:nvPr/>
        </p:nvSpPr>
        <p:spPr>
          <a:xfrm>
            <a:off x="822960" y="4206240"/>
            <a:ext cx="5120640" cy="50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1097280" y="4434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800" b="1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先行者優位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7280" y="48463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ネットワーク効果：チーム単位で普及</a:t>
            </a:r>
            <a:br/>
            <a:r>
              <a:rPr lang="ja-JP" altLang="en-US" dirty="0"/>
              <a:t>→ 先に広がった側が勝つ。</a:t>
            </a:r>
            <a:br/>
            <a:r>
              <a:rPr lang="ja-JP" altLang="en-US" dirty="0"/>
              <a:t>UGCの蓄積が参入障壁になる。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0" y="4206240"/>
            <a:ext cx="5120640" cy="2194560"/>
          </a:xfrm>
          <a:prstGeom prst="roundRect">
            <a:avLst/>
          </a:prstGeom>
          <a:solidFill>
            <a:srgbClr val="F3EEFF"/>
          </a:solidFill>
          <a:ln w="12700">
            <a:solidFill>
              <a:srgbClr val="7C3A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0" name="Rectangle 19"/>
          <p:cNvSpPr/>
          <p:nvPr/>
        </p:nvSpPr>
        <p:spPr>
          <a:xfrm>
            <a:off x="6400800" y="4206240"/>
            <a:ext cx="512064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21" name="TextBox 20"/>
          <p:cNvSpPr txBox="1"/>
          <p:nvPr/>
        </p:nvSpPr>
        <p:spPr>
          <a:xfrm>
            <a:off x="6675120" y="4434840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800" b="1">
                <a:solidFill>
                  <a:srgbClr val="7C3AED"/>
                </a:solidFill>
                <a:latin typeface="Meiryo UI"/>
              </a:defRPr>
            </a:pPr>
            <a:r>
              <a:rPr lang="ja-JP" altLang="en-US" dirty="0"/>
              <a:t>AI技術蓄積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84632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将来のマルチカメラAI自動切替、</a:t>
            </a:r>
            <a:br/>
            <a:r>
              <a:rPr lang="ja-JP" altLang="en-US" dirty="0"/>
              <a:t>AIハイライト自動生成など</a:t>
            </a:r>
            <a:br/>
            <a:r>
              <a:rPr lang="ja-JP" altLang="en-US" dirty="0"/>
              <a:t>独自の技術蓄積を計画。</a:t>
            </a:r>
          </a:p>
        </p:txBody>
      </p:sp>
      <p:pic>
        <p:nvPicPr>
          <p:cNvPr id="23" name="Picture 2" descr="（AI 生成）">
            <a:extLst>
              <a:ext uri="{FF2B5EF4-FFF2-40B4-BE49-F238E27FC236}">
                <a16:creationId xmlns:a16="http://schemas.microsoft.com/office/drawing/2014/main" id="{ABA0C096-FCA2-7D1C-BD54-D5CD790703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87800" y="242188"/>
            <a:ext cx="1084400" cy="50472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306979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Bar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Title"/>
          <p:cNvSpPr txBox="1"/>
          <p:nvPr/>
        </p:nvSpPr>
        <p:spPr>
          <a:xfrm>
            <a:off x="825500" y="368300"/>
            <a:ext cx="9144000" cy="5461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ja-JP" altLang="en-US" sz="3000" b="1" dirty="0">
                <a:solidFill>
                  <a:srgbClr val="0F172A"/>
                </a:solidFill>
                <a:latin typeface="Meiryo UI"/>
                <a:ea typeface="Meiryo UI"/>
              </a:rPr>
              <a:t>LIVE SPOtCH</a:t>
            </a:r>
            <a:r>
              <a:rPr lang="ja-JP" altLang="en-US" sz="3000" b="1" dirty="0">
                <a:solidFill>
                  <a:srgbClr val="E63946"/>
                </a:solidFill>
                <a:latin typeface="Meiryo UI"/>
                <a:ea typeface="Meiryo UI"/>
              </a:rPr>
              <a:t> </a:t>
            </a:r>
            <a:r>
              <a:rPr lang="ja-JP" altLang="en-US" sz="3000" b="1" dirty="0">
                <a:solidFill>
                  <a:srgbClr val="0F172A"/>
                </a:solidFill>
                <a:latin typeface="Meiryo UI"/>
                <a:ea typeface="Meiryo UI"/>
              </a:rPr>
              <a:t>が拓く未来</a:t>
            </a:r>
          </a:p>
        </p:txBody>
      </p:sp>
      <p:sp>
        <p:nvSpPr>
          <p:cNvPr id="4" name="Subtitle"/>
          <p:cNvSpPr txBox="1"/>
          <p:nvPr/>
        </p:nvSpPr>
        <p:spPr>
          <a:xfrm>
            <a:off x="825500" y="863600"/>
            <a:ext cx="9144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ja-JP" altLang="en-US" sz="1300" b="0" dirty="0">
                <a:solidFill>
                  <a:srgbClr val="666680"/>
                </a:solidFill>
                <a:latin typeface="Meiryo UI"/>
                <a:ea typeface="Meiryo UI"/>
              </a:rPr>
              <a:t>Future Vision &amp; Growth Roadmap</a:t>
            </a:r>
          </a:p>
        </p:txBody>
      </p:sp>
      <p:sp>
        <p:nvSpPr>
          <p:cNvPr id="5" name="Divider"/>
          <p:cNvSpPr/>
          <p:nvPr/>
        </p:nvSpPr>
        <p:spPr>
          <a:xfrm>
            <a:off x="825500" y="1231900"/>
            <a:ext cx="109220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Phase1BG"/>
          <p:cNvSpPr/>
          <p:nvPr/>
        </p:nvSpPr>
        <p:spPr>
          <a:xfrm>
            <a:off x="825500" y="1587500"/>
            <a:ext cx="3238500" cy="1968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8EE"/>
            </a:solidFill>
          </a:ln>
          <a:effectLst>
            <a:outerShdw blurRad="40000" dist="120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11" name="Phase1Bar"/>
          <p:cNvSpPr/>
          <p:nvPr/>
        </p:nvSpPr>
        <p:spPr>
          <a:xfrm>
            <a:off x="825500" y="1587500"/>
            <a:ext cx="32385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Phase1Label"/>
          <p:cNvSpPr txBox="1"/>
          <p:nvPr/>
        </p:nvSpPr>
        <p:spPr>
          <a:xfrm>
            <a:off x="1016000" y="1765300"/>
            <a:ext cx="2857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ja-JP" altLang="en-US" sz="1100" b="1" dirty="0">
                <a:solidFill>
                  <a:srgbClr val="E63946"/>
                </a:solidFill>
                <a:latin typeface="Meiryo UI"/>
                <a:ea typeface="Meiryo UI"/>
              </a:rPr>
              <a:t>PHASE 1</a:t>
            </a:r>
          </a:p>
        </p:txBody>
      </p:sp>
      <p:sp>
        <p:nvSpPr>
          <p:cNvPr id="13" name="Phase1Title"/>
          <p:cNvSpPr txBox="1"/>
          <p:nvPr/>
        </p:nvSpPr>
        <p:spPr>
          <a:xfrm>
            <a:off x="1016000" y="2019300"/>
            <a:ext cx="2857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ja-JP" altLang="en-US" sz="1600" b="1" dirty="0">
                <a:solidFill>
                  <a:srgbClr val="0F172A"/>
                </a:solidFill>
                <a:latin typeface="Meiryo UI"/>
                <a:ea typeface="Meiryo UI"/>
              </a:rPr>
              <a:t>日本No.1配信ツールへ</a:t>
            </a:r>
          </a:p>
        </p:txBody>
      </p:sp>
      <p:sp>
        <p:nvSpPr>
          <p:cNvPr id="14" name="Phase1Body"/>
          <p:cNvSpPr txBox="1"/>
          <p:nvPr/>
        </p:nvSpPr>
        <p:spPr>
          <a:xfrm>
            <a:off x="1016000" y="2374900"/>
            <a:ext cx="2857500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ts val="1800"/>
              </a:lnSpc>
            </a:pPr>
            <a:r>
              <a:rPr lang="ja-JP" altLang="en-US" sz="1200" dirty="0">
                <a:solidFill>
                  <a:srgbClr val="374151"/>
                </a:solidFill>
                <a:latin typeface="Meiryo UI"/>
                <a:ea typeface="Meiryo UI"/>
              </a:rPr>
              <a:t>スマホ1台で誰でも高品質配信。圧倒的な使いやすさで、日本で最も選ばれるスポーツLIVE配信プラットフォームを目指す</a:t>
            </a:r>
          </a:p>
        </p:txBody>
      </p:sp>
      <p:sp>
        <p:nvSpPr>
          <p:cNvPr id="20" name="Arrow1"/>
          <p:cNvSpPr/>
          <p:nvPr/>
        </p:nvSpPr>
        <p:spPr>
          <a:xfrm>
            <a:off x="4127500" y="2349500"/>
            <a:ext cx="381000" cy="4445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E63946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0" name="Phase2BG"/>
          <p:cNvSpPr/>
          <p:nvPr/>
        </p:nvSpPr>
        <p:spPr>
          <a:xfrm>
            <a:off x="4572000" y="1587500"/>
            <a:ext cx="3238500" cy="1968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8EE"/>
            </a:solidFill>
          </a:ln>
          <a:effectLst>
            <a:outerShdw blurRad="40000" dist="120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31" name="Phase2Bar"/>
          <p:cNvSpPr/>
          <p:nvPr/>
        </p:nvSpPr>
        <p:spPr>
          <a:xfrm>
            <a:off x="4572000" y="1587500"/>
            <a:ext cx="3238500" cy="50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Phase2Label"/>
          <p:cNvSpPr txBox="1"/>
          <p:nvPr/>
        </p:nvSpPr>
        <p:spPr>
          <a:xfrm>
            <a:off x="4762500" y="1765300"/>
            <a:ext cx="2857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ja-JP" altLang="en-US" sz="1100" b="1" dirty="0">
                <a:solidFill>
                  <a:srgbClr val="FF6B35"/>
                </a:solidFill>
                <a:latin typeface="Meiryo UI"/>
                <a:ea typeface="Meiryo UI"/>
              </a:rPr>
              <a:t>PHASE 2</a:t>
            </a:r>
          </a:p>
        </p:txBody>
      </p:sp>
      <p:sp>
        <p:nvSpPr>
          <p:cNvPr id="33" name="Phase2Title"/>
          <p:cNvSpPr txBox="1"/>
          <p:nvPr/>
        </p:nvSpPr>
        <p:spPr>
          <a:xfrm>
            <a:off x="4762500" y="2019300"/>
            <a:ext cx="2857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ja-JP" altLang="en-US" sz="1600" b="1" dirty="0">
                <a:solidFill>
                  <a:srgbClr val="0F172A"/>
                </a:solidFill>
                <a:latin typeface="Meiryo UI"/>
                <a:ea typeface="Meiryo UI"/>
              </a:rPr>
              <a:t>広告収入で事業加速</a:t>
            </a:r>
          </a:p>
        </p:txBody>
      </p:sp>
      <p:sp>
        <p:nvSpPr>
          <p:cNvPr id="34" name="Phase2Body"/>
          <p:cNvSpPr txBox="1"/>
          <p:nvPr/>
        </p:nvSpPr>
        <p:spPr>
          <a:xfrm>
            <a:off x="4762500" y="2374900"/>
            <a:ext cx="2857500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ts val="1800"/>
              </a:lnSpc>
            </a:pPr>
            <a:r>
              <a:rPr lang="ja-JP" altLang="en-US" sz="1200" dirty="0">
                <a:solidFill>
                  <a:srgbClr val="374151"/>
                </a:solidFill>
                <a:latin typeface="Meiryo UI"/>
                <a:ea typeface="Meiryo UI"/>
              </a:rPr>
              <a:t>膨大なユーザー基盤にスポーツメーカー等の広告を展開。配信プラットフォームが巨大な広告メディアに進化</a:t>
            </a:r>
          </a:p>
        </p:txBody>
      </p:sp>
      <p:sp>
        <p:nvSpPr>
          <p:cNvPr id="40" name="Arrow2"/>
          <p:cNvSpPr/>
          <p:nvPr/>
        </p:nvSpPr>
        <p:spPr>
          <a:xfrm>
            <a:off x="7874000" y="2349500"/>
            <a:ext cx="381000" cy="444500"/>
          </a:xfrm>
          <a:prstGeom prst="rightArrow">
            <a:avLst>
              <a:gd name="adj1" fmla="val 60000"/>
              <a:gd name="adj2" fmla="val 50000"/>
            </a:avLst>
          </a:prstGeo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0" name="Phase3BG"/>
          <p:cNvSpPr/>
          <p:nvPr/>
        </p:nvSpPr>
        <p:spPr>
          <a:xfrm>
            <a:off x="8318500" y="1587500"/>
            <a:ext cx="3238500" cy="19685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8E8EE"/>
            </a:solidFill>
          </a:ln>
          <a:effectLst>
            <a:outerShdw blurRad="40000" dist="12000" dir="5400000" algn="t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ja-JP" altLang="en-US"/>
          </a:p>
        </p:txBody>
      </p:sp>
      <p:sp>
        <p:nvSpPr>
          <p:cNvPr id="51" name="Phase3Bar"/>
          <p:cNvSpPr/>
          <p:nvPr/>
        </p:nvSpPr>
        <p:spPr>
          <a:xfrm>
            <a:off x="8318500" y="1587500"/>
            <a:ext cx="32385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2" name="Phase3Label"/>
          <p:cNvSpPr txBox="1"/>
          <p:nvPr/>
        </p:nvSpPr>
        <p:spPr>
          <a:xfrm>
            <a:off x="8509000" y="1765300"/>
            <a:ext cx="2857500" cy="22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ja-JP" altLang="en-US" sz="1100" b="1" dirty="0">
                <a:solidFill>
                  <a:srgbClr val="2563EB"/>
                </a:solidFill>
                <a:latin typeface="Meiryo UI"/>
                <a:ea typeface="Meiryo UI"/>
              </a:rPr>
              <a:t>PHASE 3</a:t>
            </a:r>
          </a:p>
        </p:txBody>
      </p:sp>
      <p:sp>
        <p:nvSpPr>
          <p:cNvPr id="53" name="Phase3Title"/>
          <p:cNvSpPr txBox="1"/>
          <p:nvPr/>
        </p:nvSpPr>
        <p:spPr>
          <a:xfrm>
            <a:off x="8509000" y="2019300"/>
            <a:ext cx="28575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ja-JP" altLang="en-US" sz="1600" b="1" dirty="0">
                <a:solidFill>
                  <a:srgbClr val="0F172A"/>
                </a:solidFill>
                <a:latin typeface="Meiryo UI"/>
                <a:ea typeface="Meiryo UI"/>
              </a:rPr>
              <a:t>スマホ × AI 配信革命</a:t>
            </a:r>
          </a:p>
        </p:txBody>
      </p:sp>
      <p:sp>
        <p:nvSpPr>
          <p:cNvPr id="54" name="Phase3Body"/>
          <p:cNvSpPr txBox="1"/>
          <p:nvPr/>
        </p:nvSpPr>
        <p:spPr>
          <a:xfrm>
            <a:off x="8509000" y="2374900"/>
            <a:ext cx="2857500" cy="1079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ts val="1800"/>
              </a:lnSpc>
            </a:pPr>
            <a:r>
              <a:rPr lang="ja-JP" altLang="en-US" sz="1200" dirty="0">
                <a:solidFill>
                  <a:srgbClr val="374151"/>
                </a:solidFill>
                <a:latin typeface="Meiryo UI"/>
                <a:ea typeface="Meiryo UI"/>
              </a:rPr>
              <a:t>複数スマホの撮影者を連携、AIが自動でベストアングルに切替。プロ級の中継をスマホだけで実現</a:t>
            </a:r>
          </a:p>
        </p:txBody>
      </p:sp>
      <p:sp>
        <p:nvSpPr>
          <p:cNvPr id="60" name="BannerBG"/>
          <p:cNvSpPr/>
          <p:nvPr/>
        </p:nvSpPr>
        <p:spPr>
          <a:xfrm>
            <a:off x="825500" y="3937000"/>
            <a:ext cx="10693400" cy="1016000"/>
          </a:xfrm>
          <a:prstGeom prst="roundRect">
            <a:avLst>
              <a:gd name="adj" fmla="val 5000"/>
            </a:avLst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61" name="BannerText"/>
          <p:cNvSpPr txBox="1"/>
          <p:nvPr/>
        </p:nvSpPr>
        <p:spPr>
          <a:xfrm>
            <a:off x="1079500" y="4064000"/>
            <a:ext cx="101854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ts val="2200"/>
              </a:lnSpc>
            </a:pPr>
            <a:r>
              <a:rPr lang="ja-JP" altLang="en-US" sz="1500" b="1" dirty="0">
                <a:solidFill>
                  <a:srgbClr val="FFFFFF"/>
                </a:solidFill>
                <a:latin typeface="Meiryo UI"/>
                <a:ea typeface="Meiryo UI"/>
              </a:rPr>
              <a:t>普及 → ユーザー基盤拡大 → 広告収益化 → AI進化</a:t>
            </a:r>
          </a:p>
          <a:p>
            <a:pPr algn="ctr">
              <a:lnSpc>
                <a:spcPts val="2200"/>
              </a:lnSpc>
            </a:pPr>
            <a:r>
              <a:rPr lang="ja-JP" altLang="en-US" sz="1500" b="1" dirty="0">
                <a:solidFill>
                  <a:srgbClr val="E63946"/>
                </a:solidFill>
                <a:latin typeface="Meiryo UI"/>
                <a:ea typeface="Meiryo UI"/>
              </a:rPr>
              <a:t>この好循環が、加速度的な事業成長を生む</a:t>
            </a:r>
          </a:p>
        </p:txBody>
      </p:sp>
      <p:sp>
        <p:nvSpPr>
          <p:cNvPr id="70" name="Item0Title"/>
          <p:cNvSpPr txBox="1"/>
          <p:nvPr/>
        </p:nvSpPr>
        <p:spPr>
          <a:xfrm>
            <a:off x="825500" y="54356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ja-JP" altLang="en-US" sz="1400" b="1" dirty="0">
                <a:solidFill>
                  <a:srgbClr val="0F172A"/>
                </a:solidFill>
                <a:latin typeface="Meiryo UI"/>
                <a:ea typeface="Meiryo UI"/>
              </a:rPr>
              <a:t>スマホ = 配信機材</a:t>
            </a:r>
          </a:p>
        </p:txBody>
      </p:sp>
      <p:sp>
        <p:nvSpPr>
          <p:cNvPr id="71" name="Item0Desc"/>
          <p:cNvSpPr txBox="1"/>
          <p:nvPr/>
        </p:nvSpPr>
        <p:spPr>
          <a:xfrm>
            <a:off x="825500" y="5765800"/>
            <a:ext cx="3429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lnSpc>
                <a:spcPts val="1600"/>
              </a:lnSpc>
            </a:pPr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特別な機材不要。参入障壁を限りなくゼロに</a:t>
            </a:r>
          </a:p>
        </p:txBody>
      </p:sp>
      <p:sp>
        <p:nvSpPr>
          <p:cNvPr id="73" name="Item1Title"/>
          <p:cNvSpPr txBox="1"/>
          <p:nvPr/>
        </p:nvSpPr>
        <p:spPr>
          <a:xfrm>
            <a:off x="4457700" y="54356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ja-JP" altLang="en-US" sz="1400" b="1" dirty="0">
                <a:solidFill>
                  <a:srgbClr val="0F172A"/>
                </a:solidFill>
                <a:latin typeface="Meiryo UI"/>
                <a:ea typeface="Meiryo UI"/>
              </a:rPr>
              <a:t>膨大なユーザー基盤</a:t>
            </a:r>
          </a:p>
        </p:txBody>
      </p:sp>
      <p:sp>
        <p:nvSpPr>
          <p:cNvPr id="74" name="Item1Desc"/>
          <p:cNvSpPr txBox="1"/>
          <p:nvPr/>
        </p:nvSpPr>
        <p:spPr>
          <a:xfrm>
            <a:off x="4457700" y="5765800"/>
            <a:ext cx="3429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lnSpc>
                <a:spcPts val="1600"/>
              </a:lnSpc>
            </a:pPr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配信者も視聴者も集まるスポーツ特化エコシステム</a:t>
            </a:r>
          </a:p>
        </p:txBody>
      </p:sp>
      <p:sp>
        <p:nvSpPr>
          <p:cNvPr id="76" name="Item2Title"/>
          <p:cNvSpPr txBox="1"/>
          <p:nvPr/>
        </p:nvSpPr>
        <p:spPr>
          <a:xfrm>
            <a:off x="8089900" y="5435600"/>
            <a:ext cx="3429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/>
            <a:r>
              <a:rPr lang="ja-JP" altLang="en-US" sz="1400" b="1" dirty="0">
                <a:solidFill>
                  <a:srgbClr val="0F172A"/>
                </a:solidFill>
                <a:latin typeface="Meiryo UI"/>
                <a:ea typeface="Meiryo UI"/>
              </a:rPr>
              <a:t>AI自動アングル切替</a:t>
            </a:r>
          </a:p>
        </p:txBody>
      </p:sp>
      <p:sp>
        <p:nvSpPr>
          <p:cNvPr id="77" name="Item2Desc"/>
          <p:cNvSpPr txBox="1"/>
          <p:nvPr/>
        </p:nvSpPr>
        <p:spPr>
          <a:xfrm>
            <a:off x="8089900" y="5765800"/>
            <a:ext cx="3429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ctr">
              <a:lnSpc>
                <a:spcPts val="1600"/>
              </a:lnSpc>
            </a:pPr>
            <a:r>
              <a:rPr lang="ja-JP" altLang="en-US" sz="1200" dirty="0">
                <a:solidFill>
                  <a:srgbClr val="666680"/>
                </a:solidFill>
                <a:latin typeface="Meiryo UI"/>
                <a:ea typeface="Meiryo UI"/>
              </a:rPr>
              <a:t>複数撮影者のスマホ映像をAIが最適編集・自動切替</a:t>
            </a:r>
          </a:p>
        </p:txBody>
      </p:sp>
      <p:sp>
        <p:nvSpPr>
          <p:cNvPr id="90" name="PageNum"/>
          <p:cNvSpPr txBox="1"/>
          <p:nvPr/>
        </p:nvSpPr>
        <p:spPr>
          <a:xfrm>
            <a:off x="11150600" y="6400800"/>
            <a:ext cx="736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ja-JP" altLang="en-US" sz="1000" dirty="0">
                <a:solidFill>
                  <a:srgbClr val="9CA3AF"/>
                </a:solidFill>
                <a:latin typeface="Meiryo UI"/>
                <a:ea typeface="Meiryo UI"/>
              </a:rPr>
              <a:t>11</a:t>
            </a:r>
          </a:p>
        </p:txBody>
      </p:sp>
      <p:pic>
        <p:nvPicPr>
          <p:cNvPr id="6" name="Picture 2" descr="（AI 生成）">
            <a:extLst>
              <a:ext uri="{FF2B5EF4-FFF2-40B4-BE49-F238E27FC236}">
                <a16:creationId xmlns:a16="http://schemas.microsoft.com/office/drawing/2014/main" id="{F5E03881-EDE8-BED6-B642-145E139FB00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87800" y="242188"/>
            <a:ext cx="1084400" cy="50472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1" name="Graphic 91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349500" y="5016500"/>
            <a:ext cx="381000" cy="381000"/>
          </a:xfrm>
          <a:prstGeom prst="rect">
            <a:avLst/>
          </a:prstGeom>
        </p:spPr>
      </p:pic>
      <p:pic>
        <p:nvPicPr>
          <p:cNvPr id="92" name="Graphic 92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981700" y="5016500"/>
            <a:ext cx="381000" cy="381000"/>
          </a:xfrm>
          <a:prstGeom prst="rect">
            <a:avLst/>
          </a:prstGeom>
        </p:spPr>
      </p:pic>
      <p:pic>
        <p:nvPicPr>
          <p:cNvPr id="93" name="Graphic 93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9613900" y="5016500"/>
            <a:ext cx="381000" cy="3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918494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" name="AccentBar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4" name="Headline"/>
          <p:cNvSpPr txBox="1"/>
          <p:nvPr/>
        </p:nvSpPr>
        <p:spPr>
          <a:xfrm>
            <a:off x="825500" y="508000"/>
            <a:ext cx="10541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400" dirty="0">
                <a:solidFill>
                  <a:srgbClr val="9CA3AF"/>
                </a:solidFill>
                <a:latin typeface="Meiryo UI"/>
                <a:ea typeface="Meiryo UI"/>
              </a:rPr>
              <a:t>Why Invest Now?</a:t>
            </a:r>
          </a:p>
        </p:txBody>
      </p:sp>
      <p:sp>
        <p:nvSpPr>
          <p:cNvPr id="5" name="MainTitle"/>
          <p:cNvSpPr txBox="1"/>
          <p:nvPr/>
        </p:nvSpPr>
        <p:spPr>
          <a:xfrm>
            <a:off x="825500" y="863600"/>
            <a:ext cx="10541000" cy="660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3200" b="1" dirty="0">
                <a:solidFill>
                  <a:srgbClr val="FFFFFF"/>
                </a:solidFill>
                <a:latin typeface="Meiryo UI"/>
                <a:ea typeface="Meiryo UI"/>
              </a:rPr>
              <a:t>今、</a:t>
            </a:r>
            <a:r>
              <a:rPr lang="ja-JP" altLang="en-US" sz="3200" b="1" dirty="0">
                <a:solidFill>
                  <a:srgbClr val="E63946"/>
                </a:solidFill>
                <a:latin typeface="Meiryo UI"/>
                <a:ea typeface="Meiryo UI"/>
              </a:rPr>
              <a:t>LIVE SPOtCH</a:t>
            </a:r>
            <a:r>
              <a:rPr lang="ja-JP" altLang="en-US" sz="3200" b="1" dirty="0">
                <a:solidFill>
                  <a:srgbClr val="FFFFFF"/>
                </a:solidFill>
                <a:latin typeface="Meiryo UI"/>
                <a:ea typeface="Meiryo UI"/>
              </a:rPr>
              <a:t> に投資する理由</a:t>
            </a:r>
          </a:p>
        </p:txBody>
      </p:sp>
      <p:sp>
        <p:nvSpPr>
          <p:cNvPr id="6" name="Divider"/>
          <p:cNvSpPr/>
          <p:nvPr/>
        </p:nvSpPr>
        <p:spPr>
          <a:xfrm>
            <a:off x="825500" y="1651000"/>
            <a:ext cx="109220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0" name="Card0BG"/>
          <p:cNvSpPr/>
          <p:nvPr/>
        </p:nvSpPr>
        <p:spPr>
          <a:xfrm>
            <a:off x="825500" y="1968500"/>
            <a:ext cx="3365500" cy="2667000"/>
          </a:xfrm>
          <a:prstGeom prst="roundRect">
            <a:avLst>
              <a:gd name="adj" fmla="val 5000"/>
            </a:avLst>
          </a:prstGeom>
          <a:solidFill>
            <a:srgbClr val="1A2332"/>
          </a:solidFill>
          <a:ln w="9525">
            <a:solidFill>
              <a:srgbClr val="2A3544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1" name="Card0Bar"/>
          <p:cNvSpPr/>
          <p:nvPr/>
        </p:nvSpPr>
        <p:spPr>
          <a:xfrm>
            <a:off x="825500" y="1968500"/>
            <a:ext cx="3365500" cy="508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12" name="Card0Num"/>
          <p:cNvSpPr txBox="1"/>
          <p:nvPr/>
        </p:nvSpPr>
        <p:spPr>
          <a:xfrm>
            <a:off x="1079500" y="2222500"/>
            <a:ext cx="2857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2800" b="1" dirty="0">
                <a:solidFill>
                  <a:srgbClr val="E63946"/>
                </a:solidFill>
                <a:latin typeface="Meiryo UI"/>
                <a:ea typeface="Meiryo UI"/>
              </a:rPr>
              <a:t>01</a:t>
            </a:r>
          </a:p>
        </p:txBody>
      </p:sp>
      <p:sp>
        <p:nvSpPr>
          <p:cNvPr id="13" name="Card0Title"/>
          <p:cNvSpPr txBox="1"/>
          <p:nvPr/>
        </p:nvSpPr>
        <p:spPr>
          <a:xfrm>
            <a:off x="1079500" y="2667000"/>
            <a:ext cx="28575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800" b="1" dirty="0">
                <a:solidFill>
                  <a:srgbClr val="FFFFFF"/>
                </a:solidFill>
                <a:latin typeface="Meiryo UI"/>
                <a:ea typeface="Meiryo UI"/>
              </a:rPr>
              <a:t>先行者利益</a:t>
            </a:r>
          </a:p>
        </p:txBody>
      </p:sp>
      <p:sp>
        <p:nvSpPr>
          <p:cNvPr id="14" name="Card0Body"/>
          <p:cNvSpPr txBox="1"/>
          <p:nvPr/>
        </p:nvSpPr>
        <p:spPr>
          <a:xfrm>
            <a:off x="1079500" y="3111500"/>
            <a:ext cx="2857500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ts val="1900"/>
              </a:lnSpc>
            </a:pPr>
            <a:r>
              <a:rPr lang="ja-JP" altLang="en-US" sz="1300" dirty="0">
                <a:solidFill>
                  <a:srgbClr val="B0B8C8"/>
                </a:solidFill>
                <a:latin typeface="Meiryo UI"/>
                <a:ea typeface="Meiryo UI"/>
              </a:rPr>
              <a:t>スポーツLIVE配信に特化したプラットフォームは日本にまだない。今参入すれば市場を独占的に獲得できる</a:t>
            </a:r>
          </a:p>
        </p:txBody>
      </p:sp>
      <p:sp>
        <p:nvSpPr>
          <p:cNvPr id="20" name="Card1BG"/>
          <p:cNvSpPr/>
          <p:nvPr/>
        </p:nvSpPr>
        <p:spPr>
          <a:xfrm>
            <a:off x="4445000" y="1968500"/>
            <a:ext cx="3365500" cy="2667000"/>
          </a:xfrm>
          <a:prstGeom prst="roundRect">
            <a:avLst>
              <a:gd name="adj" fmla="val 5000"/>
            </a:avLst>
          </a:prstGeom>
          <a:solidFill>
            <a:srgbClr val="1A2332"/>
          </a:solidFill>
          <a:ln w="9525">
            <a:solidFill>
              <a:srgbClr val="2A3544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1" name="Card1Bar"/>
          <p:cNvSpPr/>
          <p:nvPr/>
        </p:nvSpPr>
        <p:spPr>
          <a:xfrm>
            <a:off x="4445000" y="1968500"/>
            <a:ext cx="3365500" cy="50800"/>
          </a:xfrm>
          <a:prstGeom prst="rect">
            <a:avLst/>
          </a:prstGeom>
          <a:solidFill>
            <a:srgbClr val="FF6B35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22" name="Card1Num"/>
          <p:cNvSpPr txBox="1"/>
          <p:nvPr/>
        </p:nvSpPr>
        <p:spPr>
          <a:xfrm>
            <a:off x="4699000" y="2222500"/>
            <a:ext cx="2857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2800" b="1" dirty="0">
                <a:solidFill>
                  <a:srgbClr val="FF6B35"/>
                </a:solidFill>
                <a:latin typeface="Meiryo UI"/>
                <a:ea typeface="Meiryo UI"/>
              </a:rPr>
              <a:t>02</a:t>
            </a:r>
          </a:p>
        </p:txBody>
      </p:sp>
      <p:sp>
        <p:nvSpPr>
          <p:cNvPr id="23" name="Card1Title"/>
          <p:cNvSpPr txBox="1"/>
          <p:nvPr/>
        </p:nvSpPr>
        <p:spPr>
          <a:xfrm>
            <a:off x="4699000" y="2667000"/>
            <a:ext cx="28575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800" b="1" dirty="0">
                <a:solidFill>
                  <a:srgbClr val="FFFFFF"/>
                </a:solidFill>
                <a:latin typeface="Meiryo UI"/>
                <a:ea typeface="Meiryo UI"/>
              </a:rPr>
              <a:t>収益の多層化</a:t>
            </a:r>
          </a:p>
        </p:txBody>
      </p:sp>
      <p:sp>
        <p:nvSpPr>
          <p:cNvPr id="24" name="Card1Body"/>
          <p:cNvSpPr txBox="1"/>
          <p:nvPr/>
        </p:nvSpPr>
        <p:spPr>
          <a:xfrm>
            <a:off x="4699000" y="3111500"/>
            <a:ext cx="2857500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ts val="1900"/>
              </a:lnSpc>
            </a:pPr>
            <a:r>
              <a:rPr lang="ja-JP" altLang="en-US" sz="1300" dirty="0">
                <a:solidFill>
                  <a:srgbClr val="B0B8C8"/>
                </a:solidFill>
                <a:latin typeface="Meiryo UI"/>
                <a:ea typeface="Meiryo UI"/>
              </a:rPr>
              <a:t>ユーザー課金に加え、スポーツメーカー・ブランドの広告収入が加わることで、収益基盤が飛躍的に拡大する</a:t>
            </a:r>
          </a:p>
        </p:txBody>
      </p:sp>
      <p:sp>
        <p:nvSpPr>
          <p:cNvPr id="30" name="Card2BG"/>
          <p:cNvSpPr/>
          <p:nvPr/>
        </p:nvSpPr>
        <p:spPr>
          <a:xfrm>
            <a:off x="8064500" y="1968500"/>
            <a:ext cx="3365500" cy="2667000"/>
          </a:xfrm>
          <a:prstGeom prst="roundRect">
            <a:avLst>
              <a:gd name="adj" fmla="val 5000"/>
            </a:avLst>
          </a:prstGeom>
          <a:solidFill>
            <a:srgbClr val="1A2332"/>
          </a:solidFill>
          <a:ln w="9525">
            <a:solidFill>
              <a:srgbClr val="2A3544"/>
            </a:solidFill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1" name="Card2Bar"/>
          <p:cNvSpPr/>
          <p:nvPr/>
        </p:nvSpPr>
        <p:spPr>
          <a:xfrm>
            <a:off x="8064500" y="1968500"/>
            <a:ext cx="3365500" cy="50800"/>
          </a:xfrm>
          <a:prstGeom prst="rect">
            <a:avLst/>
          </a:prstGeom>
          <a:solidFill>
            <a:srgbClr val="2563EB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32" name="Card2Num"/>
          <p:cNvSpPr txBox="1"/>
          <p:nvPr/>
        </p:nvSpPr>
        <p:spPr>
          <a:xfrm>
            <a:off x="8318500" y="2222500"/>
            <a:ext cx="28575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2800" b="1" dirty="0">
                <a:solidFill>
                  <a:srgbClr val="2563EB"/>
                </a:solidFill>
                <a:latin typeface="Meiryo UI"/>
                <a:ea typeface="Meiryo UI"/>
              </a:rPr>
              <a:t>03</a:t>
            </a:r>
          </a:p>
        </p:txBody>
      </p:sp>
      <p:sp>
        <p:nvSpPr>
          <p:cNvPr id="33" name="Card2Title"/>
          <p:cNvSpPr txBox="1"/>
          <p:nvPr/>
        </p:nvSpPr>
        <p:spPr>
          <a:xfrm>
            <a:off x="8318500" y="2667000"/>
            <a:ext cx="2857500" cy="355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/>
            <a:r>
              <a:rPr lang="ja-JP" altLang="en-US" sz="1800" b="1" dirty="0">
                <a:solidFill>
                  <a:srgbClr val="FFFFFF"/>
                </a:solidFill>
                <a:latin typeface="Meiryo UI"/>
                <a:ea typeface="Meiryo UI"/>
              </a:rPr>
              <a:t>AI×スマホの破壊力</a:t>
            </a:r>
          </a:p>
        </p:txBody>
      </p:sp>
      <p:sp>
        <p:nvSpPr>
          <p:cNvPr id="34" name="Card2Body"/>
          <p:cNvSpPr txBox="1"/>
          <p:nvPr/>
        </p:nvSpPr>
        <p:spPr>
          <a:xfrm>
            <a:off x="8318500" y="3111500"/>
            <a:ext cx="2857500" cy="1333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l">
              <a:lnSpc>
                <a:spcPts val="1900"/>
              </a:lnSpc>
            </a:pPr>
            <a:r>
              <a:rPr lang="ja-JP" altLang="en-US" sz="1300" dirty="0">
                <a:solidFill>
                  <a:srgbClr val="B0B8C8"/>
                </a:solidFill>
                <a:latin typeface="Meiryo UI"/>
                <a:ea typeface="Meiryo UI"/>
              </a:rPr>
              <a:t>スマホが配信機材になる時代。複数台連携とAI自動切替で、プロ品質の中継を誰もが実現。技術的優位性が参入障壁になる</a:t>
            </a:r>
          </a:p>
        </p:txBody>
      </p:sp>
      <p:sp>
        <p:nvSpPr>
          <p:cNvPr id="50" name="CTABanner"/>
          <p:cNvSpPr/>
          <p:nvPr/>
        </p:nvSpPr>
        <p:spPr>
          <a:xfrm>
            <a:off x="825500" y="5080000"/>
            <a:ext cx="10693400" cy="1143000"/>
          </a:xfrm>
          <a:prstGeom prst="roundRect">
            <a:avLst>
              <a:gd name="adj" fmla="val 5000"/>
            </a:avLst>
          </a:prstGeom>
          <a:solidFill>
            <a:srgbClr val="E63946"/>
          </a:solidFill>
          <a:ln>
            <a:noFill/>
          </a:ln>
        </p:spPr>
        <p:txBody>
          <a:bodyPr/>
          <a:lstStyle/>
          <a:p>
            <a:endParaRPr lang="ja-JP" altLang="en-US"/>
          </a:p>
        </p:txBody>
      </p:sp>
      <p:sp>
        <p:nvSpPr>
          <p:cNvPr id="51" name="CTAText"/>
          <p:cNvSpPr txBox="1"/>
          <p:nvPr/>
        </p:nvSpPr>
        <p:spPr>
          <a:xfrm>
            <a:off x="1079500" y="5207000"/>
            <a:ext cx="101854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>
              <a:lnSpc>
                <a:spcPts val="2400"/>
              </a:lnSpc>
            </a:pPr>
            <a:r>
              <a:rPr lang="ja-JP" altLang="en-US" sz="2000" b="1" dirty="0">
                <a:solidFill>
                  <a:srgbClr val="FFFFFF"/>
                </a:solidFill>
                <a:latin typeface="Meiryo UI"/>
                <a:ea typeface="Meiryo UI"/>
              </a:rPr>
              <a:t>「スポーツ × テクノロジー」の未来を、今ここから。</a:t>
            </a:r>
          </a:p>
          <a:p>
            <a:pPr algn="ctr">
              <a:lnSpc>
                <a:spcPts val="2400"/>
              </a:lnSpc>
            </a:pPr>
            <a:r>
              <a:rPr lang="ja-JP" altLang="en-US" sz="1600" dirty="0">
                <a:solidFill>
                  <a:srgbClr val="FFFFFF">
                    <a:alpha val="85000"/>
                  </a:srgbClr>
                </a:solidFill>
                <a:latin typeface="Meiryo UI"/>
                <a:ea typeface="Meiryo UI"/>
              </a:rPr>
              <a:t>だからこそ今、LIVE SPOtCHへの投資が最大のリターンを生む</a:t>
            </a:r>
          </a:p>
        </p:txBody>
      </p:sp>
      <p:sp>
        <p:nvSpPr>
          <p:cNvPr id="60" name="PageNum"/>
          <p:cNvSpPr txBox="1"/>
          <p:nvPr/>
        </p:nvSpPr>
        <p:spPr>
          <a:xfrm>
            <a:off x="11150600" y="6400800"/>
            <a:ext cx="7366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/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lang="ja-JP" altLang="en-US" sz="1000" dirty="0">
                <a:solidFill>
                  <a:srgbClr val="6B7280"/>
                </a:solidFill>
                <a:latin typeface="Meiryo UI"/>
                <a:ea typeface="Meiryo UI"/>
              </a:rPr>
              <a:t>12</a:t>
            </a:r>
          </a:p>
        </p:txBody>
      </p:sp>
      <p:pic>
        <p:nvPicPr>
          <p:cNvPr id="61" name="Copied Picture 61" descr="（AI 生成）">
            <a:extLst>
              <a:ext uri="{FF2B5EF4-FFF2-40B4-BE49-F238E27FC236}">
                <a16:creationId xmlns:a16="http://schemas.microsoft.com/office/drawing/2014/main" id="{ABA0C096-FCA2-7D1C-BD54-D5CD7907039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87800" y="242188"/>
            <a:ext cx="1084400" cy="50472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570265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" name="TextBox 2"/>
          <p:cNvSpPr txBox="1"/>
          <p:nvPr/>
        </p:nvSpPr>
        <p:spPr>
          <a:xfrm>
            <a:off x="822960" y="365760"/>
            <a:ext cx="9144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30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開発コスト戦略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868680"/>
            <a:ext cx="91440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3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AI活用による大幅な</a:t>
            </a:r>
            <a:r>
              <a:rPr lang="ja-JP" altLang="en-US"/>
              <a:t>コスト削減　　ここまでの開発は</a:t>
            </a:r>
            <a:r>
              <a:rPr lang="en-US" altLang="ja-JP" dirty="0"/>
              <a:t>AI</a:t>
            </a:r>
            <a:r>
              <a:rPr lang="ja-JP" altLang="en-US"/>
              <a:t>を駆使して、一人で実装。開発期間は２週間。</a:t>
            </a:r>
            <a:endParaRPr lang="ja-JP" altLang="en-US" dirty="0"/>
          </a:p>
        </p:txBody>
      </p:sp>
      <p:sp>
        <p:nvSpPr>
          <p:cNvPr id="5" name="Rectangle 4"/>
          <p:cNvSpPr/>
          <p:nvPr/>
        </p:nvSpPr>
        <p:spPr>
          <a:xfrm>
            <a:off x="822960" y="1234440"/>
            <a:ext cx="1097280" cy="381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000" b="0">
                <a:solidFill>
                  <a:srgbClr val="9CA3AF"/>
                </a:solidFill>
                <a:latin typeface="Meiryo UI"/>
              </a:defRPr>
            </a:pPr>
            <a:r>
              <a:rPr lang="ja-JP" altLang="en-US" dirty="0"/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1645920"/>
            <a:ext cx="4754880" cy="201168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8" name="Rectangle 7"/>
          <p:cNvSpPr/>
          <p:nvPr/>
        </p:nvSpPr>
        <p:spPr>
          <a:xfrm>
            <a:off x="822960" y="1645920"/>
            <a:ext cx="4754880" cy="50800"/>
          </a:xfrm>
          <a:prstGeom prst="rect">
            <a:avLst/>
          </a:prstGeom>
          <a:solidFill>
            <a:srgbClr val="DC262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9" name="TextBox 8"/>
          <p:cNvSpPr txBox="1"/>
          <p:nvPr/>
        </p:nvSpPr>
        <p:spPr>
          <a:xfrm>
            <a:off x="1188720" y="18288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DC2626"/>
                </a:solidFill>
                <a:latin typeface="Meiryo UI"/>
              </a:defRPr>
            </a:pPr>
            <a:r>
              <a:rPr lang="ja-JP" altLang="en-US" dirty="0"/>
              <a:t>通常の開発会社に外注した場合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現在完成分（92%）の見積もり</a:t>
            </a:r>
          </a:p>
          <a:p>
            <a:pPr algn="l">
              <a:spcAft>
                <a:spcPts val="400"/>
              </a:spcAft>
              <a:defRPr lang="ja-JP" altLang="en-US" sz="26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約900万円（税込）</a:t>
            </a:r>
          </a:p>
        </p:txBody>
      </p:sp>
      <p:sp>
        <p:nvSpPr>
          <p:cNvPr id="11" name="Notched Right Arrow 10"/>
          <p:cNvSpPr/>
          <p:nvPr/>
        </p:nvSpPr>
        <p:spPr>
          <a:xfrm>
            <a:off x="5760720" y="2286000"/>
            <a:ext cx="914400" cy="457200"/>
          </a:xfrm>
          <a:prstGeom prst="notchedRightArrow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2" name="Rounded Rectangle 11"/>
          <p:cNvSpPr/>
          <p:nvPr/>
        </p:nvSpPr>
        <p:spPr>
          <a:xfrm>
            <a:off x="6858000" y="1645920"/>
            <a:ext cx="4754880" cy="2011680"/>
          </a:xfrm>
          <a:prstGeom prst="roundRect">
            <a:avLst/>
          </a:prstGeom>
          <a:solidFill>
            <a:srgbClr val="E8F5EB"/>
          </a:solidFill>
          <a:ln w="12700">
            <a:solidFill>
              <a:srgbClr val="16A3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3" name="Rectangle 12"/>
          <p:cNvSpPr/>
          <p:nvPr/>
        </p:nvSpPr>
        <p:spPr>
          <a:xfrm>
            <a:off x="6858000" y="1645920"/>
            <a:ext cx="4754880" cy="50800"/>
          </a:xfrm>
          <a:prstGeom prst="rect">
            <a:avLst/>
          </a:prstGeom>
          <a:solidFill>
            <a:srgbClr val="16A3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7223760" y="182880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1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AI開発ツール活用の実績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2286000"/>
            <a:ext cx="40233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lang="ja-JP" altLang="en-US" sz="1200" b="0">
                <a:solidFill>
                  <a:srgbClr val="666680"/>
                </a:solidFill>
                <a:latin typeface="Meiryo UI"/>
              </a:defRPr>
            </a:pPr>
            <a:r>
              <a:rPr lang="ja-JP" altLang="en-US" dirty="0"/>
              <a:t>実コスト</a:t>
            </a:r>
          </a:p>
          <a:p>
            <a:pPr algn="l">
              <a:spcAft>
                <a:spcPts val="400"/>
              </a:spcAft>
              <a:defRPr lang="ja-JP" altLang="en-US" sz="2600" b="1">
                <a:solidFill>
                  <a:srgbClr val="16A34A"/>
                </a:solidFill>
                <a:latin typeface="Meiryo UI"/>
              </a:defRPr>
            </a:pPr>
            <a:r>
              <a:rPr lang="ja-JP" altLang="en-US" dirty="0"/>
              <a:t>ほぼ¥0（自社開発）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931920"/>
            <a:ext cx="10789920" cy="2560320"/>
          </a:xfrm>
          <a:prstGeom prst="roundRect">
            <a:avLst/>
          </a:prstGeom>
          <a:solidFill>
            <a:srgbClr val="F8F8FA"/>
          </a:solidFill>
          <a:ln w="12700">
            <a:solidFill>
              <a:srgbClr val="E0E0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7" name="TextBox 16"/>
          <p:cNvSpPr txBox="1"/>
          <p:nvPr/>
        </p:nvSpPr>
        <p:spPr>
          <a:xfrm>
            <a:off x="1188720" y="4023360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1">
                <a:solidFill>
                  <a:srgbClr val="0F172A"/>
                </a:solidFill>
                <a:latin typeface="Meiryo UI"/>
              </a:defRPr>
            </a:pPr>
            <a:r>
              <a:rPr lang="ja-JP" altLang="en-US" dirty="0"/>
              <a:t>なぜこれが可能なのか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48056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最新のAI開発支援ツールにより、設計・実装・テストの大部分を自社で対応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89204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従来の外注開発に対し、85%以上のコスト削減を実現済み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530352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すでに92%が本番稼働中（決済・チーム管理・YouTube連携すべて動作中）→ 実績が証拠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715000"/>
            <a:ext cx="9875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400" b="0">
                <a:solidFill>
                  <a:srgbClr val="1A1A2E"/>
                </a:solidFill>
                <a:latin typeface="Meiryo UI"/>
              </a:defRPr>
            </a:pPr>
            <a:r>
              <a:rPr lang="ja-JP" altLang="en-US" dirty="0"/>
              <a:t>  ✓  既存事業で培ったデザイン・映像制作のノウハウも活用</a:t>
            </a:r>
          </a:p>
        </p:txBody>
      </p:sp>
      <p:pic>
        <p:nvPicPr>
          <p:cNvPr id="22" name="Picture 2" descr="（AI 生成）">
            <a:extLst>
              <a:ext uri="{FF2B5EF4-FFF2-40B4-BE49-F238E27FC236}">
                <a16:creationId xmlns:a16="http://schemas.microsoft.com/office/drawing/2014/main" id="{79178C44-57B6-D57A-FCD2-12FBE414945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87800" y="242188"/>
            <a:ext cx="1084400" cy="50472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2796C3E7-A6B8-4EA4-81A5-D95A855ACCAD}"/>
              </a:ext>
            </a:extLst>
          </p:cNvPr>
          <p:cNvSpPr txBox="1"/>
          <p:nvPr/>
        </p:nvSpPr>
        <p:spPr>
          <a:xfrm>
            <a:off x="2272049" y="1178679"/>
            <a:ext cx="6123904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  <a:defRPr lang="ja-JP" altLang="en-US" sz="1200" b="0">
                <a:solidFill>
                  <a:srgbClr val="E63946"/>
                </a:solidFill>
                <a:latin typeface="Meiryo UI"/>
              </a:defRPr>
            </a:pPr>
            <a:endParaRPr lang="ja-JP" altLang="en-US" dirty="0"/>
          </a:p>
        </p:txBody>
      </p:sp>
      <p:sp>
        <p:nvSpPr>
          <p:cNvPr id="24" name="角丸四角形 23">
            <a:hlinkClick r:id="rId3"/>
            <a:extLst>
              <a:ext uri="{FF2B5EF4-FFF2-40B4-BE49-F238E27FC236}">
                <a16:creationId xmlns:a16="http://schemas.microsoft.com/office/drawing/2014/main" id="{F6A19F9D-F2DC-4631-E35F-1B7E4478567B}"/>
              </a:ext>
            </a:extLst>
          </p:cNvPr>
          <p:cNvSpPr/>
          <p:nvPr/>
        </p:nvSpPr>
        <p:spPr>
          <a:xfrm>
            <a:off x="8924197" y="552438"/>
            <a:ext cx="785192" cy="74576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/>
              <a:t>開発</a:t>
            </a:r>
            <a:r>
              <a:rPr kumimoji="1" lang="en-US" altLang="ja-JP" dirty="0"/>
              <a:t>LP</a:t>
            </a:r>
            <a:endParaRPr kumimoji="1" lang="ja-JP" altLang="en-US"/>
          </a:p>
        </p:txBody>
      </p:sp>
      <p:sp>
        <p:nvSpPr>
          <p:cNvPr id="25" name="角丸四角形 24">
            <a:hlinkClick r:id="rId4"/>
            <a:extLst>
              <a:ext uri="{FF2B5EF4-FFF2-40B4-BE49-F238E27FC236}">
                <a16:creationId xmlns:a16="http://schemas.microsoft.com/office/drawing/2014/main" id="{0EE1BE15-2C19-B7CE-3CB4-6D11CDA2AFC5}"/>
              </a:ext>
            </a:extLst>
          </p:cNvPr>
          <p:cNvSpPr/>
          <p:nvPr/>
        </p:nvSpPr>
        <p:spPr>
          <a:xfrm>
            <a:off x="9810891" y="536943"/>
            <a:ext cx="785192" cy="745766"/>
          </a:xfrm>
          <a:prstGeom prst="roundRect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/>
              <a:t>開発</a:t>
            </a:r>
            <a:r>
              <a:rPr kumimoji="1" lang="en-US" altLang="ja-JP" dirty="0"/>
              <a:t>App</a:t>
            </a:r>
            <a:endParaRPr kumimoji="1" lang="ja-JP" altLang="en-US"/>
          </a:p>
        </p:txBody>
      </p:sp>
      <p:pic>
        <p:nvPicPr>
          <p:cNvPr id="1026" name="Picture 2" descr="クリック 」の無料フリー素材 | イラスト・アイコンのフリー素材なら「フリーアイコンズ」">
            <a:extLst>
              <a:ext uri="{FF2B5EF4-FFF2-40B4-BE49-F238E27FC236}">
                <a16:creationId xmlns:a16="http://schemas.microsoft.com/office/drawing/2014/main" id="{DAB621D9-C12B-0D59-2F4C-C3FDE9ECF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563140" y="990601"/>
            <a:ext cx="601445" cy="6014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004304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63500" cy="68580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3" name="TextBox 2"/>
          <p:cNvSpPr txBox="1"/>
          <p:nvPr/>
        </p:nvSpPr>
        <p:spPr>
          <a:xfrm>
            <a:off x="1280160" y="7315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5600" b="1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LIVE SPOtCH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155448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2200" b="0">
                <a:solidFill>
                  <a:srgbClr val="FFFFFF"/>
                </a:solidFill>
                <a:latin typeface="Meiryo UI"/>
              </a:defRPr>
            </a:pPr>
            <a:r>
              <a:rPr lang="ja-JP" altLang="en-US" dirty="0"/>
              <a:t>誰もがスポーツ中継のカメラマン。その一瞬の感動を手のひらに。</a:t>
            </a:r>
          </a:p>
        </p:txBody>
      </p:sp>
      <p:sp>
        <p:nvSpPr>
          <p:cNvPr id="5" name="Rectangle 4"/>
          <p:cNvSpPr/>
          <p:nvPr/>
        </p:nvSpPr>
        <p:spPr>
          <a:xfrm>
            <a:off x="1280160" y="2286000"/>
            <a:ext cx="2743200" cy="25400"/>
          </a:xfrm>
          <a:prstGeom prst="rect">
            <a:avLst/>
          </a:prstGeom>
          <a:solidFill>
            <a:srgbClr val="E6394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6" name="TextBox 5"/>
          <p:cNvSpPr txBox="1"/>
          <p:nvPr/>
        </p:nvSpPr>
        <p:spPr>
          <a:xfrm>
            <a:off x="1280160" y="27432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0">
                <a:solidFill>
                  <a:srgbClr val="CCCCDD"/>
                </a:solidFill>
                <a:latin typeface="Meiryo UI"/>
              </a:defRPr>
            </a:pPr>
            <a:r>
              <a:rPr lang="ja-JP" altLang="en-US" dirty="0"/>
              <a:t>  ✓  国内に直接競合がないブルーオーシャン市場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318211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0">
                <a:solidFill>
                  <a:srgbClr val="CCCCDD"/>
                </a:solidFill>
                <a:latin typeface="Meiryo UI"/>
              </a:defRPr>
            </a:pPr>
            <a:r>
              <a:rPr lang="ja-JP" altLang="en-US" dirty="0"/>
              <a:t>  ✓  すでに92%の開発が完了、本番稼働中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80160" y="3621024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0">
                <a:solidFill>
                  <a:srgbClr val="CCCCDD"/>
                </a:solidFill>
                <a:latin typeface="Meiryo UI"/>
              </a:defRPr>
            </a:pPr>
            <a:r>
              <a:rPr lang="ja-JP" altLang="en-US" dirty="0"/>
              <a:t>  ✓  部活動コミュニティの口コミで加速度的に拡散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4059935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0">
                <a:solidFill>
                  <a:srgbClr val="CCCCDD"/>
                </a:solidFill>
                <a:latin typeface="Meiryo UI"/>
              </a:defRPr>
            </a:pPr>
            <a:r>
              <a:rPr lang="ja-JP" altLang="en-US" dirty="0"/>
              <a:t>  ✓  UGCモデルによる撮影コストゼロの全国展開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4498848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0">
                <a:solidFill>
                  <a:srgbClr val="CCCCDD"/>
                </a:solidFill>
                <a:latin typeface="Meiryo UI"/>
              </a:defRPr>
            </a:pPr>
            <a:r>
              <a:rPr lang="ja-JP" altLang="en-US" dirty="0"/>
              <a:t>  ✓  YouTube連携で使いやすさと連携力を最大化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493776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0">
                <a:solidFill>
                  <a:srgbClr val="CCCCDD"/>
                </a:solidFill>
                <a:latin typeface="Meiryo UI"/>
              </a:defRPr>
            </a:pPr>
            <a:r>
              <a:rPr lang="ja-JP" altLang="en-US" dirty="0"/>
              <a:t>  ✓  Year 2で単月黒字化、返済後も十分なCFを確保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5376672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600" b="0">
                <a:solidFill>
                  <a:srgbClr val="CCCCDD"/>
                </a:solidFill>
                <a:latin typeface="Meiryo UI"/>
              </a:defRPr>
            </a:pPr>
            <a:r>
              <a:rPr lang="ja-JP" altLang="en-US" dirty="0"/>
              <a:t>  ✓  商標・特許による知的財産の保護を計画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80160" y="5943600"/>
            <a:ext cx="5029200" cy="640080"/>
          </a:xfrm>
          <a:prstGeom prst="roundRect">
            <a:avLst/>
          </a:prstGeom>
          <a:solidFill>
            <a:srgbClr val="181822"/>
          </a:solidFill>
          <a:ln w="12700">
            <a:solidFill>
              <a:srgbClr val="E6394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/>
          </a:p>
        </p:txBody>
      </p:sp>
      <p:sp>
        <p:nvSpPr>
          <p:cNvPr id="14" name="TextBox 13"/>
          <p:cNvSpPr txBox="1"/>
          <p:nvPr/>
        </p:nvSpPr>
        <p:spPr>
          <a:xfrm>
            <a:off x="1554480" y="6016752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defRPr lang="ja-JP" altLang="en-US" sz="1800" b="1">
                <a:solidFill>
                  <a:srgbClr val="E63946"/>
                </a:solidFill>
                <a:latin typeface="Meiryo UI"/>
              </a:defRPr>
            </a:pPr>
            <a:r>
              <a:rPr lang="ja-JP" altLang="en-US" dirty="0"/>
              <a:t>借入希望額: 700万円 → 2年で黒字回収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61264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defRPr lang="ja-JP" altLang="en-US" sz="1800" b="1">
                <a:solidFill>
                  <a:srgbClr val="FFFFFF"/>
                </a:solidFill>
                <a:latin typeface="Meiryo UI"/>
              </a:defRPr>
            </a:pPr>
            <a:r>
              <a:rPr lang="ja-JP" altLang="en-US" dirty="0"/>
              <a:t>LIN-NAH株式会社</a:t>
            </a:r>
          </a:p>
        </p:txBody>
      </p:sp>
      <p:pic>
        <p:nvPicPr>
          <p:cNvPr id="16" name="Picture 2" descr="（AI 生成）">
            <a:extLst>
              <a:ext uri="{FF2B5EF4-FFF2-40B4-BE49-F238E27FC236}">
                <a16:creationId xmlns:a16="http://schemas.microsoft.com/office/drawing/2014/main" id="{61BC9A0D-B18E-CC85-0914-127C8ED007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0887800" y="242188"/>
            <a:ext cx="1084400" cy="504723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8862078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76398077931]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DBC47309-3743-7D46-89BF-805475187AC6}">
  <we:reference id="wa200010001" version="1.0.0.1" store="ja-JP" storeType="OMEX"/>
  <we:alternateReferences>
    <we:reference id="WA200010001" version="1.0.0.1" store="WA200010001" storeType="OMEX"/>
  </we:alternateReferences>
  <we:properties>
    <we:property name="claude.fileId" value="&quot;f09c54d5-41c7-4448-a28d-36ff2779c8a2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69</TotalTime>
  <Words>1578</Words>
  <Application>Microsoft Macintosh PowerPoint</Application>
  <PresentationFormat>ワイド画面</PresentationFormat>
  <Paragraphs>277</Paragraphs>
  <Slides>14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Meiryo UI</vt:lpstr>
      <vt:lpstr>游ゴシック</vt:lpstr>
      <vt:lpstr>Arial</vt:lpstr>
      <vt:lpstr>Calibri</vt:lpstr>
      <vt:lpstr>Office Theme [1776398077931]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Yuki Harada</cp:lastModifiedBy>
  <cp:revision>7</cp:revision>
  <dcterms:created xsi:type="dcterms:W3CDTF">2013-01-27T09:14:16Z</dcterms:created>
  <dcterms:modified xsi:type="dcterms:W3CDTF">2026-04-17T05:35:01Z</dcterms:modified>
  <cp:category/>
</cp:coreProperties>
</file>