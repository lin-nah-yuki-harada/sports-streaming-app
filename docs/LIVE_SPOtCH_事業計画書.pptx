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E63946"/>
                </a:solidFill>
                <a:latin typeface="Meiryo UI"/>
              </a:defRPr>
            </a:pPr>
            <a:r>
              <a:t>LIVE SPOtCH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eiryo UI"/>
              </a:defRPr>
            </a:pPr>
            <a:r>
              <a:t>誰もがスポーツ中継のカメラマン。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CCDD"/>
                </a:solidFill>
                <a:latin typeface="Meiryo UI"/>
              </a:defRPr>
            </a:pPr>
            <a:r>
              <a:t>手元のスマホが機材になる。その一瞬の感動を手のひらに。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566160"/>
            <a:ext cx="274320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931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9999AA"/>
                </a:solidFill>
                <a:latin typeface="Meiryo UI"/>
              </a:defRPr>
            </a:pPr>
            <a:r>
              <a:t>ローカルスポーツ ライブ配信プラットフォーム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事業計画書 v2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Meiryo U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LIN-NAH株式会社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888899"/>
                </a:solidFill>
                <a:latin typeface="Meiryo UI"/>
              </a:defRPr>
            </a:pPr>
            <a:r>
              <a:t>2026年5月（v2 改訂版）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A1A2E"/>
                </a:solidFill>
                <a:latin typeface="Meiryo U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E63946"/>
                </a:solidFill>
                <a:latin typeface="Meiryo UI"/>
              </a:defRPr>
            </a:pPr>
            <a:r>
              <a:t>https://live-spotch.com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ビジョン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9728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63946"/>
                </a:solidFill>
                <a:latin typeface="Meiryo UI"/>
              </a:defRPr>
            </a:pPr>
            <a:r>
              <a:t>「すべての子どもの試合が、どこからでも見られる世界をつくる」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80"/>
                </a:solidFill>
                <a:latin typeface="Meiryo UI"/>
              </a:defRPr>
            </a:pPr>
            <a:r>
              <a:t>スポーツブルが配信しない、地域大会・部活・少年団の試合を保護者の手で配信できる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3291840" cy="329184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08960"/>
            <a:ext cx="329184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3946"/>
                </a:solidFill>
                <a:latin typeface="Meiryo UI"/>
              </a:defRPr>
            </a:pPr>
            <a:r>
              <a:t>スマホ1台でOK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2E"/>
                </a:solidFill>
                <a:latin typeface="Meiryo UI"/>
              </a:defRPr>
            </a:pPr>
            <a:r>
              <a:t>プロカメラ機材は不要。</a:t>
            </a:r>
            <a:br/>
            <a:r>
              <a:t>保護者のスマホで</a:t>
            </a:r>
            <a:br/>
            <a:r>
              <a:t>TV中継品質の配信を実現。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108960"/>
            <a:ext cx="3291840" cy="3291840"/>
          </a:xfrm>
          <a:prstGeom prst="roundRect">
            <a:avLst/>
          </a:prstGeom>
          <a:solidFill>
            <a:srgbClr val="EB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3108960"/>
            <a:ext cx="32918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Meiryo UI"/>
              </a:defRPr>
            </a:pPr>
            <a:r>
              <a:t>加速度的な拡散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8404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2E"/>
                </a:solidFill>
                <a:latin typeface="Meiryo UI"/>
              </a:defRPr>
            </a:pPr>
            <a:r>
              <a:t>部活動・少年団は口コミが命。</a:t>
            </a:r>
            <a:br/>
            <a:r>
              <a:t>1チームの導入が対戦相手→</a:t>
            </a:r>
            <a:br/>
            <a:r>
              <a:t>大会→地域へとドミノ拡散。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108960"/>
            <a:ext cx="3291840" cy="329184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108960"/>
            <a:ext cx="329184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A34A"/>
                </a:solidFill>
                <a:latin typeface="Meiryo UI"/>
              </a:defRPr>
            </a:pPr>
            <a:r>
              <a:t>YouTube Live 連携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2E"/>
                </a:solidFill>
                <a:latin typeface="Meiryo UI"/>
              </a:defRPr>
            </a:pPr>
            <a:r>
              <a:t>チームプランは YouTube Live</a:t>
            </a:r>
            <a:br/>
            <a:r>
              <a:t>同時配信 + アーカイブ自動保存</a:t>
            </a:r>
            <a:br/>
            <a:r>
              <a:t>— 視聴も拡散も両立。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市場の課題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Why Now? — 既存サービスがカバーしないローカルスポーツ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754880" cy="4754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75488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C2626"/>
                </a:solidFill>
                <a:latin typeface="Meiryo UI"/>
              </a:defRPr>
            </a:pPr>
            <a:r>
              <a:t>現在のスポーツ配信市場の空白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377440"/>
            <a:ext cx="420624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C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3230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C2626"/>
                </a:solidFill>
                <a:latin typeface="Meiryo UI"/>
              </a:defRPr>
            </a:pPr>
            <a:r>
              <a:t>✕  スポーツブル等は有名校・上位校の試合のみ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971800"/>
            <a:ext cx="420624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C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0266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C2626"/>
                </a:solidFill>
                <a:latin typeface="Meiryo UI"/>
              </a:defRPr>
            </a:pPr>
            <a:r>
              <a:t>✕  地域大会・少年団の試合は一切配信されない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566160"/>
            <a:ext cx="420624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C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6210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C2626"/>
                </a:solidFill>
                <a:latin typeface="Meiryo UI"/>
              </a:defRPr>
            </a:pPr>
            <a:r>
              <a:t>✕  YouTube Live ではスコアが表示できない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160520"/>
            <a:ext cx="420624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C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2153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C2626"/>
                </a:solidFill>
                <a:latin typeface="Meiryo UI"/>
              </a:defRPr>
            </a:pPr>
            <a:r>
              <a:t>✕  BAND (NAVER) はチーム連絡網が中心、配信補助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754880"/>
            <a:ext cx="420624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C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80974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C2626"/>
                </a:solidFill>
                <a:latin typeface="Meiryo UI"/>
              </a:defRPr>
            </a:pPr>
            <a:r>
              <a:t>✕  得点板を映すと映像が遮られる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349240"/>
            <a:ext cx="4206240" cy="4572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C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40410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C2626"/>
                </a:solidFill>
                <a:latin typeface="Meiryo UI"/>
              </a:defRPr>
            </a:pPr>
            <a:r>
              <a:t>✕  試合のアーカイブが散逸・管理できない</a:t>
            </a:r>
          </a:p>
        </p:txBody>
      </p:sp>
      <p:sp>
        <p:nvSpPr>
          <p:cNvPr id="22" name="Notched Right Arrow 21"/>
          <p:cNvSpPr/>
          <p:nvPr/>
        </p:nvSpPr>
        <p:spPr>
          <a:xfrm>
            <a:off x="5760720" y="3474720"/>
            <a:ext cx="914400" cy="457200"/>
          </a:xfrm>
          <a:prstGeom prst="notchedRight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0" y="1645920"/>
            <a:ext cx="4754880" cy="475488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645920"/>
            <a:ext cx="475488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1828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A34A"/>
                </a:solidFill>
                <a:latin typeface="Meiryo UI"/>
              </a:defRPr>
            </a:pPr>
            <a:r>
              <a:t>LIVE SPOtCH の解決策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2377440"/>
            <a:ext cx="4206240" cy="457200"/>
          </a:xfrm>
          <a:prstGeom prst="roundRect">
            <a:avLst/>
          </a:prstGeom>
          <a:solidFill>
            <a:srgbClr val="E8F8EB"/>
          </a:solidFill>
          <a:ln w="12700">
            <a:solidFill>
              <a:srgbClr val="BB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4323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A34A"/>
                </a:solidFill>
                <a:latin typeface="Meiryo UI"/>
              </a:defRPr>
            </a:pPr>
            <a:r>
              <a:t>✓  スコアオーバーレイ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TV中継のようにスコアを常時表示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2971800"/>
            <a:ext cx="4206240" cy="457200"/>
          </a:xfrm>
          <a:prstGeom prst="roundRect">
            <a:avLst/>
          </a:prstGeom>
          <a:solidFill>
            <a:srgbClr val="E8F8EB"/>
          </a:solidFill>
          <a:ln w="12700">
            <a:solidFill>
              <a:srgbClr val="BB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0266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A34A"/>
                </a:solidFill>
                <a:latin typeface="Meiryo UI"/>
              </a:defRPr>
            </a:pPr>
            <a:r>
              <a:t>✓  YouTube Live 同時配信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0266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チームプランで自動 push + アーカイブ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3566160"/>
            <a:ext cx="4206240" cy="457200"/>
          </a:xfrm>
          <a:prstGeom prst="roundRect">
            <a:avLst/>
          </a:prstGeom>
          <a:solidFill>
            <a:srgbClr val="E8F8EB"/>
          </a:solidFill>
          <a:ln w="12700">
            <a:solidFill>
              <a:srgbClr val="BB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36210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A34A"/>
                </a:solidFill>
                <a:latin typeface="Meiryo UI"/>
              </a:defRPr>
            </a:pPr>
            <a:r>
              <a:t>✓  Web版（PWA）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6210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URLタップで即視聴、DL不要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4160520"/>
            <a:ext cx="4206240" cy="457200"/>
          </a:xfrm>
          <a:prstGeom prst="roundRect">
            <a:avLst/>
          </a:prstGeom>
          <a:solidFill>
            <a:srgbClr val="E8F8EB"/>
          </a:solidFill>
          <a:ln w="12700">
            <a:solidFill>
              <a:srgbClr val="BB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42153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A34A"/>
                </a:solidFill>
                <a:latin typeface="Meiryo UI"/>
              </a:defRPr>
            </a:pPr>
            <a:r>
              <a:t>✓  LINE共有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ワンタップで家族・チームに共有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4754880"/>
            <a:ext cx="4206240" cy="457200"/>
          </a:xfrm>
          <a:prstGeom prst="roundRect">
            <a:avLst/>
          </a:prstGeom>
          <a:solidFill>
            <a:srgbClr val="E8F8EB"/>
          </a:solidFill>
          <a:ln w="12700">
            <a:solidFill>
              <a:srgbClr val="BB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4809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A34A"/>
                </a:solidFill>
                <a:latin typeface="Meiryo UI"/>
              </a:defRPr>
            </a:pPr>
            <a:r>
              <a:t>✓  チーム管理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8097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メンバー招待・権限管理を一元化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5349240"/>
            <a:ext cx="4206240" cy="457200"/>
          </a:xfrm>
          <a:prstGeom prst="roundRect">
            <a:avLst/>
          </a:prstGeom>
          <a:solidFill>
            <a:srgbClr val="E8F8EB"/>
          </a:solidFill>
          <a:ln w="12700">
            <a:solidFill>
              <a:srgbClr val="BBE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5404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A34A"/>
                </a:solidFill>
                <a:latin typeface="Meiryo UI"/>
              </a:defRPr>
            </a:pPr>
            <a:r>
              <a:t>✓  Made for Kids 対応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4041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13歳未満視聴対応で安全配信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なぜ部活動か — 加速度的な拡散モデル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Viral Growth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9601200" cy="3810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74520" y="1828800"/>
            <a:ext cx="571500" cy="5715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1856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2560320" cy="2926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91840"/>
            <a:ext cx="25603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74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3946"/>
                </a:solidFill>
                <a:latin typeface="Meiryo UI"/>
              </a:defRPr>
            </a:pPr>
            <a: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490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Meiryo UI"/>
              </a:defRPr>
            </a:pPr>
            <a:r>
              <a:t>保護者1人が配信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スマホ1台で</a:t>
            </a:r>
            <a:br/>
            <a:r>
              <a:t>我が子の試合を配信</a:t>
            </a:r>
            <a:br/>
            <a:r>
              <a:t>→ チーム内30-50人が視聴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CA3AF"/>
                </a:solidFill>
                <a:latin typeface="Meiryo U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709160" y="1828800"/>
            <a:ext cx="571500" cy="5715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856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291840"/>
            <a:ext cx="2560320" cy="2926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3291840"/>
            <a:ext cx="25603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3474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Meiryo UI"/>
              </a:defRPr>
            </a:pPr>
            <a: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490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Meiryo UI"/>
              </a:defRPr>
            </a:pPr>
            <a:r>
              <a:t>対戦相手が発見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206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「うちもやりたい！」</a:t>
            </a:r>
            <a:br/>
            <a:r>
              <a:t>→ 相手チームの保護者も</a:t>
            </a:r>
            <a:br/>
            <a:r>
              <a:t>配信者に転換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CA3AF"/>
                </a:solidFill>
                <a:latin typeface="Meiryo UI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543800" y="1828800"/>
            <a:ext cx="571500" cy="5715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856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291840"/>
            <a:ext cx="2560320" cy="2926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291840"/>
            <a:ext cx="256032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474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A34A"/>
                </a:solidFill>
                <a:latin typeface="Meiryo UI"/>
              </a:defRPr>
            </a:pPr>
            <a: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7490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Meiryo UI"/>
              </a:defRPr>
            </a:pPr>
            <a:r>
              <a:t>大会全体に波及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206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大会主催者が推奨</a:t>
            </a:r>
            <a:br/>
            <a:r>
              <a:t>→ 全参加チームが利用</a:t>
            </a:r>
            <a:br/>
            <a:r>
              <a:t>→ 1大会で100-200人獲得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CA3AF"/>
                </a:solidFill>
                <a:latin typeface="Meiryo UI"/>
              </a:defRPr>
            </a:pPr>
            <a: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378440" y="1828800"/>
            <a:ext cx="571500" cy="571500"/>
          </a:xfrm>
          <a:prstGeom prst="ellipse">
            <a:avLst/>
          </a:prstGeom>
          <a:solidFill>
            <a:srgbClr val="EA8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1856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291840"/>
            <a:ext cx="2560320" cy="29260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80" y="3291840"/>
            <a:ext cx="2560320" cy="50800"/>
          </a:xfrm>
          <a:prstGeom prst="rect">
            <a:avLst/>
          </a:prstGeom>
          <a:solidFill>
            <a:srgbClr val="EA8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3474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A880B"/>
                </a:solidFill>
                <a:latin typeface="Meiryo UI"/>
              </a:defRPr>
            </a:pPr>
            <a: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7490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Meiryo UI"/>
              </a:defRPr>
            </a:pPr>
            <a:r>
              <a:t>地域のスタンダード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206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サッカー→野球→バスケ</a:t>
            </a:r>
            <a:br/>
            <a:r>
              <a:t>→ 複数スポーツに横展開</a:t>
            </a:r>
            <a:br/>
            <a:r>
              <a:t>→ 地域のインフラに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6400800"/>
            <a:ext cx="10515600" cy="36576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641908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63946"/>
                </a:solidFill>
                <a:latin typeface="Meiryo UI"/>
              </a:defRPr>
            </a:pPr>
            <a:r>
              <a:t>部活動は保護者コミュニティが密接 → 口コミの拡散速度が圧倒的に速い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市場規模 + 競合分析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Market Size &amp; 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937760" cy="4754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Meiryo UI"/>
              </a:defRPr>
            </a:pPr>
            <a:r>
              <a:t>ターゲット市場規模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中学校 部活動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Meiryo UI"/>
              </a:defRPr>
            </a:pPr>
            <a:r>
              <a:t>約270万人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697480"/>
            <a:ext cx="3931920" cy="228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88720" y="2697480"/>
            <a:ext cx="1936376" cy="2286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高校 部活動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Meiryo UI"/>
              </a:defRPr>
            </a:pPr>
            <a:r>
              <a:t>約180万人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611880"/>
            <a:ext cx="3931920" cy="228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3611880"/>
            <a:ext cx="1290917" cy="2286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スポーツ少年団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Meiryo UI"/>
              </a:defRPr>
            </a:pPr>
            <a:r>
              <a:t>約60万人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526280"/>
            <a:ext cx="3931920" cy="228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88720" y="4526280"/>
            <a:ext cx="430305" cy="2286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88720" y="5029200"/>
            <a:ext cx="3931920" cy="1270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保護者・家族を含む対象層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63946"/>
                </a:solidFill>
                <a:latin typeface="Meiryo UI"/>
              </a:defRPr>
            </a:pPr>
            <a:r>
              <a:t>1,000〜1,500万人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Meiryo UI"/>
              </a:defRPr>
            </a:pPr>
            <a:r>
              <a:t>競合との差別化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377440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F172A"/>
                </a:solidFill>
                <a:latin typeface="Meiryo UI"/>
              </a:defRPr>
            </a:pPr>
            <a:r>
              <a:t>スポーツブル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プロ・大学スポーツ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Meiryo UI"/>
              </a:defRPr>
            </a:pPr>
            <a:r>
              <a:t>ローカル未対応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154680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24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F172A"/>
                </a:solidFill>
                <a:latin typeface="Meiryo UI"/>
              </a:defRPr>
            </a:pPr>
            <a:r>
              <a:t>YouTube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汎用配信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Meiryo UI"/>
              </a:defRPr>
            </a:pPr>
            <a:r>
              <a:t>スコア・連携なし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931920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023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F172A"/>
                </a:solidFill>
                <a:latin typeface="Meiryo UI"/>
              </a:defRPr>
            </a:pPr>
            <a:r>
              <a:t>BAND (NAVER)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チーム連絡網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Meiryo UI"/>
              </a:defRPr>
            </a:pPr>
            <a:r>
              <a:t>配信は補助機能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709160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F172A"/>
                </a:solidFill>
                <a:latin typeface="Meiryo UI"/>
              </a:defRPr>
            </a:pPr>
            <a:r>
              <a:t>DAZN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プロ月額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4800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Meiryo UI"/>
              </a:defRPr>
            </a:pPr>
            <a:r>
              <a:t>アマチュア未対応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486400"/>
            <a:ext cx="4572000" cy="59436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577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Meiryo UI"/>
              </a:defRPr>
            </a:pPr>
            <a:r>
              <a:t>LIVE SPOtCH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ローカルスポーツ専用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577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A34A"/>
                </a:solidFill>
                <a:latin typeface="Meiryo UI"/>
              </a:defRPr>
            </a:pPr>
            <a:r>
              <a:t>唯一の選択肢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6446520"/>
            <a:ext cx="5120640" cy="32004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6464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63946"/>
                </a:solidFill>
                <a:latin typeface="Meiryo UI"/>
              </a:defRPr>
            </a:pPr>
            <a:r>
              <a:t>国内に直接競合なし = ブルーオーシャン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ビジネスモデル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Pricing Plans v2 (2026/04/30 確定)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474720" cy="4754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3474720" cy="50800"/>
          </a:xfrm>
          <a:prstGeom prst="rect">
            <a:avLst/>
          </a:prstGeom>
          <a:solidFill>
            <a:srgbClr val="666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6680"/>
                </a:solidFill>
                <a:latin typeface="Meiryo UI"/>
              </a:defRPr>
            </a:pPr>
            <a:r>
              <a:t>無料プラン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F172A"/>
                </a:solidFill>
                <a:latin typeface="Meiryo UI"/>
              </a:defRPr>
            </a:pPr>
            <a:r>
              <a:t>¥0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視聴者向け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200400"/>
            <a:ext cx="2926080" cy="1270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ライブ視聴（無制限）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67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1ヶ月以内のアーカイブ視聴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513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試合スコアの閲覧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645920"/>
            <a:ext cx="3474720" cy="475488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645920"/>
            <a:ext cx="347472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3946"/>
                </a:solidFill>
                <a:latin typeface="Meiryo UI"/>
              </a:defRPr>
            </a:pPr>
            <a:r>
              <a:t>配信者プラン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F172A"/>
                </a:solidFill>
                <a:latin typeface="Meiryo UI"/>
              </a:defRPr>
            </a:pPr>
            <a:r>
              <a:t>¥300/月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個人保護者向け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200400"/>
            <a:ext cx="2926080" cy="1270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ライブ配信機能（無制限）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767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スコアボード常時表示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1513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LINE共有・QRコード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535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限定公開URL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919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初回10分間無料お試し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303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※ アーカイブなし(ライブ専用)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1645920"/>
            <a:ext cx="3474720" cy="47548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A88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645920"/>
            <a:ext cx="3474720" cy="50800"/>
          </a:xfrm>
          <a:prstGeom prst="rect">
            <a:avLst/>
          </a:prstGeom>
          <a:solidFill>
            <a:srgbClr val="EA8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32720" y="1463040"/>
            <a:ext cx="1280160" cy="320040"/>
          </a:xfrm>
          <a:prstGeom prst="roundRect">
            <a:avLst/>
          </a:prstGeom>
          <a:solidFill>
            <a:srgbClr val="EA8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1463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推奨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A880B"/>
                </a:solidFill>
                <a:latin typeface="Meiryo UI"/>
              </a:defRPr>
            </a:pPr>
            <a:r>
              <a:t>チームプラン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F172A"/>
                </a:solidFill>
                <a:latin typeface="Meiryo UI"/>
              </a:defRPr>
            </a:pPr>
            <a:r>
              <a:t>¥500/月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チーム代表向け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200400"/>
            <a:ext cx="2926080" cy="1270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配信者プランの全機能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767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YouTube Live 同時配信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1513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YouTubeアーカイブ自動保存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535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チーム管理・メンバー招待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919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スケジュール管理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303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AIハイライト (開発中)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6400800"/>
            <a:ext cx="10515600" cy="320040"/>
          </a:xfrm>
          <a:prstGeom prst="roundRect">
            <a:avLst/>
          </a:prstGeom>
          <a:solidFill>
            <a:srgbClr val="EB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641908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Meiryo UI"/>
              </a:defRPr>
            </a:pPr>
            <a:r>
              <a:t>アーカイブ課金 ¥100/視聴: 1ヶ月経過後のアーカイブはチームプラン配信のみ視聴可能 (容量ベース従量課金)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3年間の収支計画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Financial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</a:p>
                  </a:txBody>
                  <a:tcPr anchor="ctr"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Year 1（立ち上げ期）</a:t>
                      </a:r>
                    </a:p>
                  </a:txBody>
                  <a:tcPr anchor="ctr"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Year 2（成長期）</a:t>
                      </a:r>
                    </a:p>
                  </a:txBody>
                  <a:tcPr anchor="ctr"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Year 3（拡大期）</a:t>
                      </a:r>
                    </a:p>
                  </a:txBody>
                  <a:tcPr anchor="ctr">
                    <a:solidFill>
                      <a:srgbClr val="E639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登録ユーザー（期末）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8,000人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35,000人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100,000人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有料会員（期末）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1,000人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4,550人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13,000人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売上合計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153万円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1,291万円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5,144万円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経費合計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503万円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634万円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1,479万円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営業損益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▲350万円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+657万円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+3,665万円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累計損益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▲350万円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+307万円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400">
                          <a:solidFill>
                            <a:srgbClr val="1A1A2E"/>
                          </a:solidFill>
                          <a:latin typeface="Meiryo UI"/>
                        </a:defRPr>
                      </a:pPr>
                      <a:r>
                        <a:t>+3,972万円</a:t>
                      </a:r>
                    </a:p>
                  </a:txBody>
                  <a:tcPr anchor="ctr"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120640"/>
            <a:ext cx="10515600" cy="54864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1937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3946"/>
                </a:solidFill>
                <a:latin typeface="Meiryo UI"/>
              </a:defRPr>
            </a:pPr>
            <a:r>
              <a:t>Year 2で単月黒字化 → 借入金700万円はYear 2〜3で完済見込み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資金計画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700万円の使途内訳 (v2 改訂)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200400" cy="109728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借入希望額</a:t>
            </a:r>
          </a:p>
          <a:p>
            <a:pPr algn="l">
              <a:spcAft>
                <a:spcPts val="400"/>
              </a:spcAft>
              <a:defRPr sz="4200" b="1">
                <a:solidFill>
                  <a:srgbClr val="E63946"/>
                </a:solidFill>
                <a:latin typeface="Meiryo UI"/>
              </a:defRPr>
            </a:pPr>
            <a:r>
              <a:t>700万円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公庫350万 + 埼玉りそな350万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66680"/>
                </a:solidFill>
                <a:latin typeface="Meiryo UI"/>
              </a:defRPr>
            </a:pPr>
            <a:r>
              <a:t>協調融資による分散リスク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Meiryo UI"/>
              </a:defRPr>
            </a:pPr>
            <a:r>
              <a:t>マーケティング費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63946"/>
                </a:solidFill>
                <a:latin typeface="Meiryo UI"/>
              </a:defRPr>
            </a:pPr>
            <a:r>
              <a:t>240万円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063240"/>
            <a:ext cx="6858000" cy="228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3063240"/>
            <a:ext cx="5829300" cy="2286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9274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63946"/>
                </a:solidFill>
                <a:latin typeface="Meiryo UI"/>
              </a:defRPr>
            </a:pPr>
            <a:r>
              <a:t>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3756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80"/>
                </a:solidFill>
                <a:latin typeface="Meiryo UI"/>
              </a:defRPr>
            </a:pPr>
            <a:r>
              <a:t>Meta/Google広告 / PRTIMES / SNS / 販促物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Meiryo UI"/>
              </a:defRPr>
            </a:pPr>
            <a:r>
              <a:t>開発費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947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Meiryo UI"/>
              </a:defRPr>
            </a:pPr>
            <a:r>
              <a:t>210万円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840479"/>
            <a:ext cx="6858000" cy="228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79"/>
            <a:ext cx="5143500" cy="228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6940" y="37947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63EB"/>
                </a:solidFill>
                <a:latin typeface="Meiryo UI"/>
              </a:defRPr>
            </a:pPr>
            <a: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1479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80"/>
                </a:solidFill>
                <a:latin typeface="Meiryo UI"/>
              </a:defRPr>
            </a:pPr>
            <a:r>
              <a:t>LiveKit Cloud Ship + TCP化中継server + AI開発支援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Meiryo UI"/>
              </a:defRPr>
            </a:pPr>
            <a:r>
              <a:t>運転資金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A880B"/>
                </a:solidFill>
                <a:latin typeface="Meiryo UI"/>
              </a:defRPr>
            </a:pPr>
            <a:r>
              <a:t>170万円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617720"/>
            <a:ext cx="6858000" cy="228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4617720"/>
            <a:ext cx="4114800" cy="228600"/>
          </a:xfrm>
          <a:prstGeom prst="roundRect">
            <a:avLst/>
          </a:prstGeom>
          <a:solidFill>
            <a:srgbClr val="EA8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A880B"/>
                </a:solidFill>
                <a:latin typeface="Meiryo UI"/>
              </a:defRPr>
            </a:pPr>
            <a:r>
              <a:t>24%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9204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80"/>
                </a:solidFill>
                <a:latin typeface="Meiryo UI"/>
              </a:defRPr>
            </a:pPr>
            <a:r>
              <a:t>LIN-NAH既存事業との並行運営 (6ヶ月分)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Meiryo UI"/>
              </a:defRPr>
            </a:pPr>
            <a:r>
              <a:t>予備費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C3AED"/>
                </a:solidFill>
                <a:latin typeface="Meiryo UI"/>
              </a:defRPr>
            </a:pPr>
            <a:r>
              <a:t>50万円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5394960"/>
            <a:ext cx="6858000" cy="228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0" y="5394960"/>
            <a:ext cx="120015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359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C3AED"/>
                </a:solidFill>
                <a:latin typeface="Meiryo UI"/>
              </a:defRPr>
            </a:pPr>
            <a:r>
              <a:t>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66928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80"/>
                </a:solidFill>
                <a:latin typeface="Meiryo UI"/>
              </a:defRPr>
            </a:pPr>
            <a:r>
              <a:t>OAuth審査追加対応 / TCP化想定外コスト / 法務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1264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Meiryo UI"/>
              </a:defRPr>
            </a:pPr>
            <a:r>
              <a:t>インフラ費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61264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Meiryo UI"/>
              </a:defRPr>
            </a:pPr>
            <a:r>
              <a:t>30万円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6172199"/>
            <a:ext cx="6858000" cy="228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0" y="6172199"/>
            <a:ext cx="857250" cy="2286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0690" y="61264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6A34A"/>
                </a:solidFill>
                <a:latin typeface="Meiryo UI"/>
              </a:defRPr>
            </a:pPr>
            <a:r>
              <a:t>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1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80"/>
                </a:solidFill>
                <a:latin typeface="Meiryo UI"/>
              </a:defRPr>
            </a:pPr>
            <a:r>
              <a:t>YouTube API / Egress帯域 / Vercel Pro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5月中完璧化 → 6月1日 正式ローンチ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Phase 0: Pre-Launch Polish (3週間)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486400" cy="49377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Meiryo UI"/>
              </a:defRPr>
            </a:pPr>
            <a:r>
              <a:t>5月中の完璧化 — 3本柱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286000"/>
            <a:ext cx="4937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286000"/>
            <a:ext cx="50800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6A34A"/>
                </a:solidFill>
                <a:latin typeface="Meiryo UI"/>
              </a:defRPr>
            </a:pPr>
            <a:r>
              <a:t>A. Google OAuth 認定通過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Meiryo UI"/>
              </a:defRPr>
            </a:pPr>
            <a:r>
              <a:t>2026-05-13 正式通過済。3 scope (readonly/upload/youtube) すべて承認。「未確認のアプリ」警告画面消滅 + 100枠制限解除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657600"/>
            <a:ext cx="4937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657600"/>
            <a:ext cx="50800" cy="1280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63946"/>
                </a:solidFill>
                <a:latin typeface="Meiryo UI"/>
              </a:defRPr>
            </a:pPr>
            <a:r>
              <a:t>B. 配信プロトコル TCP 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14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Meiryo UI"/>
              </a:defRPr>
            </a:pPr>
            <a:r>
              <a:t>MediaRecorder + 中継 server (Cloudflare Workers / Fly.io) で RTMP 化 → 4G 体育館でも 1080p 高画質安定。月+$5-20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029200"/>
            <a:ext cx="4937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5029200"/>
            <a:ext cx="5080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Meiryo UI"/>
              </a:defRPr>
            </a:pPr>
            <a:r>
              <a:t>C. 残クリティカルバグ完全対応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Meiryo UI"/>
              </a:defRPr>
            </a:pPr>
            <a:r>
              <a:t>live_status='creating' 固まり対処 等。本番運用で見えた細部を 5月中に随時対応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645920"/>
            <a:ext cx="4937760" cy="493776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783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3946"/>
                </a:solidFill>
                <a:latin typeface="Meiryo UI"/>
              </a:defRPr>
            </a:pPr>
            <a:r>
              <a:t>ローンチタイムライン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286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F172A"/>
                </a:solidFill>
                <a:latin typeface="Meiryo UI"/>
              </a:defRPr>
            </a:pPr>
            <a:r>
              <a:t>5/10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F172A"/>
                </a:solidFill>
                <a:latin typeface="Meiryo UI"/>
              </a:defRPr>
            </a:pPr>
            <a:r>
              <a:t>本番稼働中・126 PR マージ・Ship 昇格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743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6A34A"/>
                </a:solidFill>
                <a:latin typeface="Meiryo UI"/>
              </a:defRPr>
            </a:pPr>
            <a:r>
              <a:t>5/13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6A34A"/>
                </a:solidFill>
                <a:latin typeface="Meiryo UI"/>
              </a:defRPr>
            </a:pPr>
            <a:r>
              <a:t>✅ Google OAuth 検証通過 (3 scope 承認)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200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5/15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LIN-NAH業績情報 + 見込み客リスト確定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6576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3946"/>
                </a:solidFill>
                <a:latin typeface="Meiryo UI"/>
              </a:defRPr>
            </a:pPr>
            <a:r>
              <a:t>5/16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63946"/>
                </a:solidFill>
                <a:latin typeface="Meiryo UI"/>
              </a:defRPr>
            </a:pPr>
            <a:r>
              <a:t>提案書 v1.0 早期提出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14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63EB"/>
                </a:solidFill>
                <a:latin typeface="Meiryo UI"/>
              </a:defRPr>
            </a:pPr>
            <a:r>
              <a:t>5/22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63EB"/>
                </a:solidFill>
                <a:latin typeface="Meiryo UI"/>
              </a:defRPr>
            </a:pPr>
            <a:r>
              <a:t>TCP 化 (B 案) 実装完了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572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563EB"/>
                </a:solidFill>
                <a:latin typeface="Meiryo UI"/>
              </a:defRPr>
            </a:pPr>
            <a:r>
              <a:t>5/29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563EB"/>
                </a:solidFill>
                <a:latin typeface="Meiryo UI"/>
              </a:defRPr>
            </a:pPr>
            <a:r>
              <a:t>TCP実機検証 + 本番OAuth連携E2E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029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63946"/>
                </a:solidFill>
                <a:latin typeface="Meiryo UI"/>
              </a:defRPr>
            </a:pPr>
            <a:r>
              <a:t>5/末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3946"/>
                </a:solidFill>
                <a:latin typeface="Meiryo UI"/>
              </a:defRPr>
            </a:pPr>
            <a:r>
              <a:t>★ 借入着金 + 完璧化完了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486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63946"/>
                </a:solidFill>
                <a:latin typeface="Meiryo UI"/>
              </a:defRPr>
            </a:pPr>
            <a:r>
              <a:t>6/1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3946"/>
                </a:solidFill>
                <a:latin typeface="Meiryo UI"/>
              </a:defRPr>
            </a:pPr>
            <a:r>
              <a:t>★ 正式ローンチ + 見込み客打診開始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9436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6A34A"/>
                </a:solidFill>
                <a:latin typeface="Meiryo UI"/>
              </a:defRPr>
            </a:pPr>
            <a:r>
              <a:t>6/07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6A34A"/>
                </a:solidFill>
                <a:latin typeface="Meiryo UI"/>
              </a:defRPr>
            </a:pPr>
            <a:r>
              <a:t>KPI ゲート1: 有料5名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400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6A34A"/>
                </a:solidFill>
                <a:latin typeface="Meiryo UI"/>
              </a:defRPr>
            </a:pPr>
            <a:r>
              <a:t>8/06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6A34A"/>
                </a:solidFill>
                <a:latin typeface="Meiryo UI"/>
              </a:defRPr>
            </a:pPr>
            <a:r>
              <a:t>KPI ゲート2: 有料20名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開発実績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本番稼働中 — 直近32日で126件PRマージ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457200"/>
          </a:xfrm>
          <a:prstGeom prst="roundRect">
            <a:avLst/>
          </a:prstGeom>
          <a:solidFill>
            <a:srgbClr val="F0F0F5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1051560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本番稼働 100%（基盤完成 / 細部仕上げ中）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6858000" cy="40233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Meiryo UI"/>
              </a:defRPr>
            </a:pPr>
            <a:r>
              <a:t>✅ 直近32日 (4/9-5/10) PR 内訳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80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インフラ・セキュリティ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880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18 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644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配信品質改善 (A/V drift / カメラ / 音声)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64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28 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484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YouTube連携 (OAuth / Live同時配信)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6484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18 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325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決済・課金 (Stripe)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0325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8 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16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UI/UX 改善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416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30 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00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運用堅牢化 (ストレイ対策・視聴経路最適化)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800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6 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846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その他 (依存更新・ドキュメント)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1846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18 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686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Meiryo UI"/>
              </a:defRPr>
            </a:pPr>
            <a:r>
              <a:t>【合計】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5686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63946"/>
                </a:solidFill>
                <a:latin typeface="Meiryo UI"/>
              </a:defRPr>
            </a:pPr>
            <a:r>
              <a:t>126 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377440"/>
            <a:ext cx="3383280" cy="2286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A88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A880B"/>
                </a:solidFill>
                <a:latin typeface="Meiryo UI"/>
              </a:defRPr>
            </a:pPr>
            <a:r>
              <a:t>5月中完璧化 残タスク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Google OAuth 認定通過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✅ 5/13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配信プロトコル TCP 化 (B案)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5/22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細部 UX 仕上げ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通年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4937760"/>
            <a:ext cx="3383280" cy="14630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50292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80"/>
                </a:solidFill>
                <a:latin typeface="Meiryo UI"/>
              </a:defRPr>
            </a:pPr>
            <a:r>
              <a:t>本番URL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63946"/>
                </a:solidFill>
                <a:latin typeface="Meiryo UI"/>
              </a:defRPr>
            </a:pPr>
            <a:r>
              <a:t>live-spotch.com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623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80"/>
                </a:solidFill>
                <a:latin typeface="Meiryo UI"/>
              </a:defRPr>
            </a:pPr>
            <a:r>
              <a:t>本番稼働: 2026/4/19〜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897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Meiryo UI"/>
              </a:defRPr>
            </a:pPr>
            <a:r>
              <a:t>正式ローンチ: 2026/6/1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6446520"/>
            <a:ext cx="10515600" cy="32004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" y="646480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3946"/>
                </a:solidFill>
                <a:latin typeface="Meiryo UI"/>
              </a:defRPr>
            </a:pPr>
            <a:r>
              <a:t>5/10 ブロックシード大会 (バレーボール) で 53 分の本番試合配信を 18 名同時視聴で完走 + 同日中に 5 PR で課題対応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知的財産・参入障壁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IP &amp; Competitive Moat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120640" cy="2194560"/>
          </a:xfrm>
          <a:prstGeom prst="roundRect">
            <a:avLst/>
          </a:prstGeom>
          <a:solidFill>
            <a:srgbClr val="FDEBED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3946"/>
                </a:solidFill>
                <a:latin typeface="Meiryo UI"/>
              </a:defRPr>
            </a:pPr>
            <a:r>
              <a:t>商標登録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2E"/>
                </a:solidFill>
                <a:latin typeface="Meiryo UI"/>
              </a:defRPr>
            </a:pPr>
            <a:r>
              <a:t>「LIVE SPOtCH」の商標出願を予定。</a:t>
            </a:r>
            <a:br/>
            <a:r>
              <a:t>サービス名のブランド保護。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120640" cy="2194560"/>
          </a:xfrm>
          <a:prstGeom prst="roundRect">
            <a:avLst/>
          </a:prstGeom>
          <a:solidFill>
            <a:srgbClr val="EB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120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74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Meiryo UI"/>
              </a:defRPr>
            </a:pPr>
            <a:r>
              <a:t>特許出願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2E"/>
                </a:solidFill>
                <a:latin typeface="Meiryo UI"/>
              </a:defRPr>
            </a:pPr>
            <a:r>
              <a:t>スコアオーバーレイ×ライブ配信×</a:t>
            </a:r>
            <a:br/>
            <a:r>
              <a:t>スポーツルールエンジンの組み合わせ</a:t>
            </a:r>
            <a:br/>
            <a:r>
              <a:t>技術について特許出願を検討。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5120640" cy="219456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512064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6A34A"/>
                </a:solidFill>
                <a:latin typeface="Meiryo UI"/>
              </a:defRPr>
            </a:pPr>
            <a:r>
              <a:t>先行者優位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2E"/>
                </a:solidFill>
                <a:latin typeface="Meiryo UI"/>
              </a:defRPr>
            </a:pPr>
            <a:r>
              <a:t>ネットワーク効果：チーム単位で普及</a:t>
            </a:r>
            <a:br/>
            <a:r>
              <a:t>→ 先に広がった側が勝つ。</a:t>
            </a:r>
            <a:br/>
            <a:r>
              <a:t>UGCの蓄積が参入障壁になる。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06240"/>
            <a:ext cx="5120640" cy="219456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206240"/>
            <a:ext cx="5120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Meiryo UI"/>
              </a:defRPr>
            </a:pPr>
            <a:r>
              <a:t>AI技術蓄積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A1A2E"/>
                </a:solidFill>
                <a:latin typeface="Meiryo UI"/>
              </a:defRPr>
            </a:pPr>
            <a:r>
              <a:t>将来のマルチカメラAI自動切替、</a:t>
            </a:r>
            <a:br/>
            <a:r>
              <a:t>AIハイライト自動生成など</a:t>
            </a:r>
            <a:br/>
            <a:r>
              <a:t>独自の技術蓄積を計画。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Meiryo UI"/>
              </a:defRPr>
            </a:pPr>
            <a:r>
              <a:t>開発コスト戦略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80"/>
                </a:solidFill>
                <a:latin typeface="Meiryo UI"/>
              </a:defRPr>
            </a:pPr>
            <a:r>
              <a:t>AI活用による大幅なコスト削減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9728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Meiryo UI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754880" cy="20116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75488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Meiryo UI"/>
              </a:defRPr>
            </a:pPr>
            <a:r>
              <a:t>通常の開発会社に外注した場合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現在完成分の見積もり</a:t>
            </a:r>
          </a:p>
          <a:p>
            <a:pPr algn="l">
              <a:spcAft>
                <a:spcPts val="400"/>
              </a:spcAft>
              <a:defRPr sz="2600" b="1">
                <a:solidFill>
                  <a:srgbClr val="0F172A"/>
                </a:solidFill>
                <a:latin typeface="Meiryo UI"/>
              </a:defRPr>
            </a:pPr>
            <a:r>
              <a:t>約 1,200 万円（税込）</a:t>
            </a:r>
          </a:p>
        </p:txBody>
      </p:sp>
      <p:sp>
        <p:nvSpPr>
          <p:cNvPr id="11" name="Notched Right Arrow 10"/>
          <p:cNvSpPr/>
          <p:nvPr/>
        </p:nvSpPr>
        <p:spPr>
          <a:xfrm>
            <a:off x="5760720" y="2286000"/>
            <a:ext cx="914400" cy="457200"/>
          </a:xfrm>
          <a:prstGeom prst="notchedRight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645920"/>
            <a:ext cx="4754880" cy="2011680"/>
          </a:xfrm>
          <a:prstGeom prst="roundRect">
            <a:avLst/>
          </a:prstGeom>
          <a:solidFill>
            <a:srgbClr val="E8F5E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645920"/>
            <a:ext cx="475488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828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6A34A"/>
                </a:solidFill>
                <a:latin typeface="Meiryo UI"/>
              </a:defRPr>
            </a:pPr>
            <a:r>
              <a:t>AI開発支援活用の実績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2860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66680"/>
                </a:solidFill>
                <a:latin typeface="Meiryo UI"/>
              </a:defRPr>
            </a:pPr>
            <a:r>
              <a:t>実コスト</a:t>
            </a:r>
          </a:p>
          <a:p>
            <a:pPr algn="l">
              <a:spcAft>
                <a:spcPts val="400"/>
              </a:spcAft>
              <a:defRPr sz="2600" b="1">
                <a:solidFill>
                  <a:srgbClr val="16A34A"/>
                </a:solidFill>
                <a:latin typeface="Meiryo UI"/>
              </a:defRPr>
            </a:pPr>
            <a:r>
              <a:t>ほぼ ¥0（自社開発）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10789920" cy="25603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Meiryo UI"/>
              </a:defRPr>
            </a:pPr>
            <a:r>
              <a:t>なぜこれが可能なのか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348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Claude 等の最新 AI 開発支援ツールにより、設計・実装・テスト・PR レビューまで自社で対応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006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従来の外注開発に対し、90% 以上のコスト削減を実現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66359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5/10 までに 126 PR マージ、本番運用中（決済・チーム管理・YouTube連携すべて稼働中）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321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5/10 試合実機で見えた課題を当日中に 5 PR で hotfix → 本番運用と並行した即応開発体制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897879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1A2E"/>
                </a:solidFill>
                <a:latin typeface="Meiryo UI"/>
              </a:defRPr>
            </a:pPr>
            <a:r>
              <a:t>  ✓  既存 LIN-NAH 事業で培ったデザイン・映像制作のノウハウもプロダクトに活用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E63946"/>
                </a:solidFill>
                <a:latin typeface="Meiryo UI"/>
              </a:defRPr>
            </a:pPr>
            <a:r>
              <a:t>LIVE SPOtCH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eiryo UI"/>
              </a:defRPr>
            </a:pPr>
            <a:r>
              <a:t>誰もがスポーツ中継のカメラマン。その一瞬の感動を手のひらに。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286000"/>
            <a:ext cx="274320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DD"/>
                </a:solidFill>
                <a:latin typeface="Meiryo UI"/>
              </a:defRPr>
            </a:pPr>
            <a:r>
              <a:t>  ✓  国内に直接競合がないブルーオーシャン市場（1,000-1,500万人対象）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821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DD"/>
                </a:solidFill>
                <a:latin typeface="Meiryo UI"/>
              </a:defRPr>
            </a:pPr>
            <a:r>
              <a:t>  ✓  5/10 時点で 126 PR マージ、本番稼働 100%（live-spotch.com）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210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DD"/>
                </a:solidFill>
                <a:latin typeface="Meiryo UI"/>
              </a:defRPr>
            </a:pPr>
            <a:r>
              <a:t>  ✓  部活動コミュニティの口コミで加速度的に拡散（バイラルモデル）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05993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DD"/>
                </a:solidFill>
                <a:latin typeface="Meiryo UI"/>
              </a:defRPr>
            </a:pPr>
            <a:r>
              <a:t>  ✓  UGCモデルで撮影コストゼロの全国展開が可能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988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DD"/>
                </a:solidFill>
                <a:latin typeface="Meiryo UI"/>
              </a:defRPr>
            </a:pPr>
            <a:r>
              <a:t>  ✓  YouTube Live 同時配信 + アーカイブで使いやすさと拡散力を最大化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DD"/>
                </a:solidFill>
                <a:latin typeface="Meiryo UI"/>
              </a:defRPr>
            </a:pPr>
            <a:r>
              <a:t>  ✓  Year 2 で単月黒字化、返済後も十分なキャッシュフロー確保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376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DD"/>
                </a:solidFill>
                <a:latin typeface="Meiryo UI"/>
              </a:defRPr>
            </a:pPr>
            <a:r>
              <a:t>  ✓  5月末借入 → 6月1日正式ローンチ → 有料20名突破 (8月) を 3点セットで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943600"/>
            <a:ext cx="6400800" cy="6400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601675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3946"/>
                </a:solidFill>
                <a:latin typeface="Meiryo UI"/>
              </a:defRPr>
            </a:pPr>
            <a:r>
              <a:t>借入希望: 公庫350万 + 埼玉りそな350万 = 700万円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LIN-NAH 株式会社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Meiryo UI"/>
              </a:defRPr>
            </a:pPr>
            <a:r>
              <a:t>代表 原田 佑樹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