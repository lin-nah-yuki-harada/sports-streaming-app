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Meiryo UI"/>
              </a:defRPr>
            </a:pPr>
            <a:r>
              <a:t>LIVE SPOtCH — システム構造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現在の構成と将来の拡張ポイント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144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86000" y="1097280"/>
            <a:ext cx="2926080" cy="64008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1704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3946"/>
                </a:solidFill>
                <a:latin typeface="Meiryo UI"/>
              </a:defRPr>
            </a:pPr>
            <a:r>
              <a:t>ユーザー（保護者・家族）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4173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スマホのブラウザからアクセス（アプリDL不要）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3566160" y="1783080"/>
            <a:ext cx="320040" cy="32004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6400800" cy="2468880"/>
          </a:xfrm>
          <a:prstGeom prst="roundRect">
            <a:avLst/>
          </a:prstGeom>
          <a:solidFill>
            <a:srgbClr val="F5F5F8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Meiryo UI"/>
              </a:defRPr>
            </a:pPr>
            <a:r>
              <a:t>LIVE SPOtCH（Next.js / Vercel）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97480"/>
            <a:ext cx="1078992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97480"/>
            <a:ext cx="1078992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88920"/>
            <a:ext cx="9326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配信エンジン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17520"/>
            <a:ext cx="9326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カメラ映像取得</a:t>
            </a:r>
            <a:br/>
            <a:r>
              <a:t>スコアオーバーレイ</a:t>
            </a:r>
            <a:br/>
            <a:r>
              <a:t>リアルタイム配信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5104" y="2697480"/>
            <a:ext cx="1078992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75104" y="2697480"/>
            <a:ext cx="1078992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2788920"/>
            <a:ext cx="9326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  <a:latin typeface="Meiryo UI"/>
              </a:defRPr>
            </a:pPr>
            <a:r>
              <a:t>視聴画面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3017520"/>
            <a:ext cx="9326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共有コードで接続</a:t>
            </a:r>
            <a:br/>
            <a:r>
              <a:t>スコア自動更新</a:t>
            </a:r>
            <a:br/>
            <a:r>
              <a:t>LINE共有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18688" y="2697480"/>
            <a:ext cx="1078992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2697480"/>
            <a:ext cx="1078992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2788920"/>
            <a:ext cx="9326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Meiryo UI"/>
              </a:defRPr>
            </a:pPr>
            <a:r>
              <a:t>チーム管理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017520"/>
            <a:ext cx="9326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招待コード</a:t>
            </a:r>
            <a:br/>
            <a:r>
              <a:t>メンバー権限</a:t>
            </a:r>
            <a:br/>
            <a:r>
              <a:t>チーム配信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62272" y="2697480"/>
            <a:ext cx="1078992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62272" y="2697480"/>
            <a:ext cx="1078992" cy="381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2788920"/>
            <a:ext cx="9326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A880B"/>
                </a:solidFill>
                <a:latin typeface="Meiryo UI"/>
              </a:defRPr>
            </a:pPr>
            <a:r>
              <a:t>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3017520"/>
            <a:ext cx="9326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Stripe連携</a:t>
            </a:r>
            <a:br/>
            <a:r>
              <a:t>¥300/¥500月額</a:t>
            </a:r>
            <a:br/>
            <a:r>
              <a:t>解約・退会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05856" y="2697480"/>
            <a:ext cx="1078992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05856" y="2697480"/>
            <a:ext cx="107899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79008" y="2788920"/>
            <a:ext cx="9326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C3AED"/>
                </a:solidFill>
                <a:latin typeface="Meiryo UI"/>
              </a:defRPr>
            </a:pPr>
            <a:r>
              <a:t>YouTube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79008" y="3017520"/>
            <a:ext cx="93268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OAuth連携</a:t>
            </a:r>
            <a:br/>
            <a:r>
              <a:t>アーカイブ保存</a:t>
            </a:r>
            <a:br/>
            <a:r>
              <a:t>（Phase 2-3）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71016" y="4434840"/>
            <a:ext cx="25400" cy="4114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14600" y="4434840"/>
            <a:ext cx="2540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58184" y="4434840"/>
            <a:ext cx="2540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01768" y="4434840"/>
            <a:ext cx="25400" cy="41148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4434840"/>
            <a:ext cx="254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892040"/>
            <a:ext cx="1133856" cy="77724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4983480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LiveKit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5239512"/>
            <a:ext cx="1024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映像配信基盤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47088" y="4892040"/>
            <a:ext cx="1133856" cy="777240"/>
          </a:xfrm>
          <a:prstGeom prst="roundRect">
            <a:avLst/>
          </a:prstGeom>
          <a:solidFill>
            <a:srgbClr val="EBF0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01952" y="4983480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  <a:latin typeface="Meiryo UI"/>
              </a:defRPr>
            </a:pPr>
            <a:r>
              <a:t>Supabase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1952" y="5239512"/>
            <a:ext cx="1024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DB・認証・Realtime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45536" y="4892040"/>
            <a:ext cx="1133856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0" y="4983480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A880B"/>
                </a:solidFill>
                <a:latin typeface="Meiryo UI"/>
              </a:defRPr>
            </a:pPr>
            <a:r>
              <a:t>Stripe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239512"/>
            <a:ext cx="1024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決済処理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43983" y="4892040"/>
            <a:ext cx="1133856" cy="777240"/>
          </a:xfrm>
          <a:prstGeom prst="roundRect">
            <a:avLst/>
          </a:prstGeom>
          <a:solidFill>
            <a:srgbClr val="F3EE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8847" y="4983480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C3AED"/>
                </a:solidFill>
                <a:latin typeface="Meiryo UI"/>
              </a:defRPr>
            </a:pPr>
            <a:r>
              <a:t>YouTube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8847" y="5239512"/>
            <a:ext cx="1024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動画保存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42431" y="4892040"/>
            <a:ext cx="1133856" cy="777240"/>
          </a:xfrm>
          <a:prstGeom prst="roundRect">
            <a:avLst/>
          </a:prstGeom>
          <a:solidFill>
            <a:srgbClr val="E8F5E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97295" y="4983480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Meiryo UI"/>
              </a:defRPr>
            </a:pPr>
            <a:r>
              <a:t>Vercel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7295" y="5239512"/>
            <a:ext cx="1024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ホスティング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14600" y="4617720"/>
            <a:ext cx="1243584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806440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  <a:latin typeface="Meiryo UI"/>
              </a:defRPr>
            </a:pPr>
            <a:r>
              <a:t>■ 実線 = 現在稼働中の接続    ■ 各色 = 機能と対応サービスの紐付き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0" y="1097280"/>
            <a:ext cx="4572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eiryo UI"/>
              </a:defRPr>
            </a:pPr>
            <a:r>
              <a:t>将来の拡張ポイント &amp; 概算費用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0" y="1691640"/>
            <a:ext cx="4572000" cy="68580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406640" y="1783080"/>
            <a:ext cx="502920" cy="27432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0" y="1783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176479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得点リモコン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別デバイスからスコア操作</a:t>
            </a:r>
            <a:br/>
            <a:r>
              <a:t>撮影者は撮影に集中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09760" y="17647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976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WebSocket / Supabase Realtime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789920" y="178308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35640" y="1801368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約30〜50万円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5640" y="2057400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2-3週間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315200" y="2496312"/>
            <a:ext cx="4572000" cy="685800"/>
          </a:xfrm>
          <a:prstGeom prst="roundRect">
            <a:avLst/>
          </a:prstGeom>
          <a:solidFill>
            <a:srgbClr val="EBF0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406640" y="2587752"/>
            <a:ext cx="5029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06640" y="258775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v1.5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56946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マルチカメラ手動切替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28163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複数スマホの映像を</a:t>
            </a:r>
            <a:br/>
            <a:r>
              <a:t>手動で切り替え表示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09760" y="256946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09760" y="272491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LiveKit マルチトラック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789920" y="2587752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35640" y="260604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約80〜120万円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35640" y="2862072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1-2ヶ月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315200" y="3300984"/>
            <a:ext cx="4572000" cy="685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3392424"/>
            <a:ext cx="502920" cy="274320"/>
          </a:xfrm>
          <a:prstGeom prst="round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33924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v2.0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1000" y="337413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AI自動アングル切替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36210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AIがベストアングルを</a:t>
            </a:r>
            <a:br/>
            <a:r>
              <a:t>判断して自動切替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09760" y="33741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352958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AI推論サーバー（GPU）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789920" y="3392424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835640" y="3410712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約200〜350万円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35640" y="3666744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3-6ヶ月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315200" y="4105656"/>
            <a:ext cx="4572000" cy="685800"/>
          </a:xfrm>
          <a:prstGeom prst="roundRect">
            <a:avLst/>
          </a:prstGeom>
          <a:solidFill>
            <a:srgbClr val="E8F5E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406640" y="4197096"/>
            <a:ext cx="502920" cy="2743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06640" y="4197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v2.5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41788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AIハイライト自動生成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01000" y="44256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試合のハイライトを</a:t>
            </a:r>
            <a:br/>
            <a:r>
              <a:t>AIが自動編集・生成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09760" y="4178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09760" y="43342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動画解析AI + FFmpeg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789920" y="4197096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835640" y="4215384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約150〜250万円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35640" y="4471416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2-4ヶ月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0" y="4910328"/>
            <a:ext cx="4572000" cy="68580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406640" y="5001768"/>
            <a:ext cx="502920" cy="27432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406640" y="50017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v3.0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834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AI得点検知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23036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映像・音声からAIが得点を</a:t>
            </a:r>
            <a:br/>
            <a:r>
              <a:t>検知しスコア自動更新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09760" y="49834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09760" y="51389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映像解析AI / 音声認識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789920" y="5001768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835640" y="5020056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約100〜200万円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835640" y="527608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3-6ヶ月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315200" y="5715000"/>
            <a:ext cx="4572000" cy="685800"/>
          </a:xfrm>
          <a:prstGeom prst="roundRect">
            <a:avLst/>
          </a:prstGeom>
          <a:solidFill>
            <a:srgbClr val="F3EE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7406640" y="5806440"/>
            <a:ext cx="502920" cy="2743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406640" y="5806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 UI"/>
              </a:defRPr>
            </a:pPr>
            <a:r>
              <a:t>v3.5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01000" y="57881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eiryo UI"/>
              </a:defRPr>
            </a:pPr>
            <a:r>
              <a:t>SNS自動投稿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01000" y="6035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ハイライトをInstagram</a:t>
            </a:r>
            <a:br/>
            <a:r>
              <a:t>TikTokに自動投稿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09760" y="57881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  <a:latin typeface="Meiryo UI"/>
              </a:defRPr>
            </a:pPr>
            <a:r>
              <a:t>技術: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943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Meiryo UI"/>
              </a:defRPr>
            </a:pPr>
            <a:r>
              <a:t>各SNS API連携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789920" y="58064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835640" y="5824728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3946"/>
                </a:solidFill>
                <a:latin typeface="Meiryo UI"/>
              </a:defRPr>
            </a:pPr>
            <a:r>
              <a:t>約50〜80万円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35640" y="6080760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80"/>
                </a:solidFill>
                <a:latin typeface="Meiryo UI"/>
              </a:defRPr>
            </a:pPr>
            <a:r>
              <a:t>2-3週間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315200" y="6446520"/>
            <a:ext cx="4572000" cy="32004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498080" y="64739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3946"/>
                </a:solidFill>
                <a:latin typeface="Meiryo UI"/>
              </a:defRPr>
            </a:pPr>
            <a:r>
              <a:t>全拡張の概算合計: 約610〜1,050万円（段階的に投資）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6583680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CA3AF"/>
                </a:solidFill>
                <a:latin typeface="Meiryo UI"/>
              </a:defRPr>
            </a:pPr>
            <a:r>
              <a:t>LIVE SPOtCH  |  LIN-NAH株式会社  |  2026年4月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