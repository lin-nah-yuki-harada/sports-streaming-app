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1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 snapToObjects="1">
      <p:cViewPr varScale="1">
        <p:scale>
          <a:sx n="99" d="100"/>
          <a:sy n="99" d="100"/>
        </p:scale>
        <p:origin x="192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5000" y="177800"/>
            <a:ext cx="1092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Meiryo UI"/>
              </a:defRPr>
            </a:pPr>
            <a:r>
              <a:t>LIVE SPOtCH — システム構造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635000"/>
            <a:ext cx="10922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80"/>
                </a:solidFill>
                <a:latin typeface="Meiryo UI"/>
              </a:defRPr>
            </a:pPr>
            <a:r>
              <a:t>現在の構成と将来の拡張ポイント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939800"/>
            <a:ext cx="101600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29000" y="1066800"/>
            <a:ext cx="5334000" cy="711200"/>
          </a:xfrm>
          <a:prstGeom prst="roundRect">
            <a:avLst/>
          </a:prstGeom>
          <a:solidFill>
            <a:srgbClr val="FDEBED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83000" y="1117600"/>
            <a:ext cx="4826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3946"/>
                </a:solidFill>
                <a:latin typeface="Meiryo UI"/>
              </a:defRPr>
            </a:pPr>
            <a:r>
              <a:t>ユーザー（保護者・家族）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3000" y="1447800"/>
            <a:ext cx="482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スマホのブラウザからアクセス（アプリDL不要）</a:t>
            </a:r>
          </a:p>
        </p:txBody>
      </p:sp>
      <p:sp>
        <p:nvSpPr>
          <p:cNvPr id="9" name="Down Arrow 8"/>
          <p:cNvSpPr/>
          <p:nvPr/>
        </p:nvSpPr>
        <p:spPr>
          <a:xfrm>
            <a:off x="5867400" y="1828800"/>
            <a:ext cx="457200" cy="35560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5000" y="2260600"/>
            <a:ext cx="10922000" cy="2667000"/>
          </a:xfrm>
          <a:prstGeom prst="roundRect">
            <a:avLst/>
          </a:prstGeom>
          <a:solidFill>
            <a:srgbClr val="F5F5F8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9000" y="2336800"/>
            <a:ext cx="104140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Meiryo UI"/>
              </a:defRPr>
            </a:pPr>
            <a:r>
              <a:t>LIVE SPOtCH（Next.js / Vercel）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200" y="2768600"/>
            <a:ext cx="2006600" cy="1905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38200" y="2768600"/>
            <a:ext cx="20066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9800" y="2895600"/>
            <a:ext cx="1803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63946"/>
                </a:solidFill>
                <a:latin typeface="Meiryo UI"/>
              </a:defRPr>
            </a:pPr>
            <a:r>
              <a:t>配信エンジン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3225800"/>
            <a:ext cx="1803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カメラ映像取得</a:t>
            </a:r>
            <a:br/>
            <a:r>
              <a:t>スコアオーバーレイ</a:t>
            </a:r>
            <a:br/>
            <a:r>
              <a:t>リアルタイム配信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22600" y="2768600"/>
            <a:ext cx="2006600" cy="1905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22600" y="2768600"/>
            <a:ext cx="20066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24200" y="2895600"/>
            <a:ext cx="1803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Meiryo UI"/>
              </a:defRPr>
            </a:pPr>
            <a:r>
              <a:t>視聴画面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4200" y="3225800"/>
            <a:ext cx="1803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共有コードで接続</a:t>
            </a:r>
            <a:br/>
            <a:r>
              <a:t>スコア自動更新</a:t>
            </a:r>
            <a:br/>
            <a:r>
              <a:t>LINE共有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07000" y="2768600"/>
            <a:ext cx="2006600" cy="1905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207000" y="2768600"/>
            <a:ext cx="200660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08600" y="2895600"/>
            <a:ext cx="1803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6A34A"/>
                </a:solidFill>
                <a:latin typeface="Meiryo UI"/>
              </a:defRPr>
            </a:pPr>
            <a:r>
              <a:t>チーム管理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8600" y="3225800"/>
            <a:ext cx="1803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招待コード</a:t>
            </a:r>
            <a:br/>
            <a:r>
              <a:t>メンバー権限</a:t>
            </a:r>
            <a:br/>
            <a:r>
              <a:t>チーム配信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91400" y="2768600"/>
            <a:ext cx="2006600" cy="1905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91400" y="2768600"/>
            <a:ext cx="2006600" cy="50800"/>
          </a:xfrm>
          <a:prstGeom prst="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3000" y="2895600"/>
            <a:ext cx="1803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A880B"/>
                </a:solidFill>
                <a:latin typeface="Meiryo UI"/>
              </a:defRPr>
            </a:pPr>
            <a:r>
              <a:t>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3000" y="3225800"/>
            <a:ext cx="1803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Stripe連携</a:t>
            </a:r>
            <a:br/>
            <a:r>
              <a:t>¥300/¥500月額</a:t>
            </a:r>
            <a:br/>
            <a:r>
              <a:t>解約・退会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75800" y="2768600"/>
            <a:ext cx="2006600" cy="1905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575800" y="2768600"/>
            <a:ext cx="200660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77400" y="2895600"/>
            <a:ext cx="1803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C3AED"/>
                </a:solidFill>
                <a:latin typeface="Meiryo UI"/>
              </a:defRPr>
            </a:pPr>
            <a:r>
              <a:t>YouTube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7400" y="3225800"/>
            <a:ext cx="1803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OAuth連携</a:t>
            </a:r>
            <a:br/>
            <a:r>
              <a:t>アーカイブ保存</a:t>
            </a:r>
            <a:br/>
            <a:r>
              <a:t>（Phase 2-3）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0" y="4724400"/>
            <a:ext cx="38100" cy="4572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013200" y="4724400"/>
            <a:ext cx="3810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97600" y="4724400"/>
            <a:ext cx="38100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382000" y="4724400"/>
            <a:ext cx="38100" cy="457200"/>
          </a:xfrm>
          <a:prstGeom prst="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566400" y="4724400"/>
            <a:ext cx="381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35000" y="5232400"/>
            <a:ext cx="2082800" cy="863600"/>
          </a:xfrm>
          <a:prstGeom prst="roundRect">
            <a:avLst/>
          </a:prstGeom>
          <a:solidFill>
            <a:srgbClr val="FDEBED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1200" y="5334000"/>
            <a:ext cx="1930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63946"/>
                </a:solidFill>
                <a:latin typeface="Meiryo UI"/>
              </a:defRPr>
            </a:pPr>
            <a:r>
              <a:t>LiveKit Cloud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200" y="5664200"/>
            <a:ext cx="19304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映像配信基盤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44800" y="5232400"/>
            <a:ext cx="2082800" cy="863600"/>
          </a:xfrm>
          <a:prstGeom prst="roundRect">
            <a:avLst/>
          </a:prstGeom>
          <a:solidFill>
            <a:srgbClr val="EBF0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921000" y="5334000"/>
            <a:ext cx="1930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Meiryo UI"/>
              </a:defRPr>
            </a:pPr>
            <a:r>
              <a:t>Supabase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1000" y="5664200"/>
            <a:ext cx="19304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DB・認証・Realtime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54600" y="5232400"/>
            <a:ext cx="2082800" cy="8636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130800" y="5334000"/>
            <a:ext cx="1930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A880B"/>
                </a:solidFill>
                <a:latin typeface="Meiryo UI"/>
              </a:defRPr>
            </a:pPr>
            <a:r>
              <a:t>Stripe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0800" y="5664200"/>
            <a:ext cx="19304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決済処理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64400" y="5232400"/>
            <a:ext cx="2082800" cy="863600"/>
          </a:xfrm>
          <a:prstGeom prst="roundRect">
            <a:avLst/>
          </a:prstGeom>
          <a:solidFill>
            <a:srgbClr val="F3EE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40600" y="5334000"/>
            <a:ext cx="1930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C3AED"/>
                </a:solidFill>
                <a:latin typeface="Meiryo UI"/>
              </a:defRPr>
            </a:pPr>
            <a:r>
              <a:t>YouTube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40600" y="5664200"/>
            <a:ext cx="19304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動画保存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74200" y="5232400"/>
            <a:ext cx="2082800" cy="863600"/>
          </a:xfrm>
          <a:prstGeom prst="roundRect">
            <a:avLst/>
          </a:prstGeom>
          <a:solidFill>
            <a:srgbClr val="E8F5EB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550400" y="5334000"/>
            <a:ext cx="1930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6A34A"/>
                </a:solidFill>
                <a:latin typeface="Meiryo UI"/>
              </a:defRPr>
            </a:pPr>
            <a:r>
              <a:t>Vercel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0400" y="5664200"/>
            <a:ext cx="19304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80"/>
                </a:solidFill>
                <a:latin typeface="Meiryo UI"/>
              </a:defRPr>
            </a:pPr>
            <a:r>
              <a:t>ホスティング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40200" y="4978400"/>
            <a:ext cx="19685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5000" y="6172200"/>
            <a:ext cx="1092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■ 実線 = 現在稼働中の接続    ■ 各色 = 機能と対応サービスの紐付き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5000" y="6451600"/>
            <a:ext cx="10922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Meiryo UI"/>
              </a:defRPr>
            </a:pPr>
            <a:r>
              <a:t>LIVE SPOtCH  |  LIN-NAH株式会社  |  2026年4月</a:t>
            </a:r>
          </a:p>
        </p:txBody>
      </p:sp>
    </p:spTree>
    <p:extLst>
      <p:ext uri="{BB962C8B-B14F-4D97-AF65-F5344CB8AC3E}">
        <p14:creationId xmlns:p14="http://schemas.microsoft.com/office/powerpoint/2010/main" val="2825351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itle"/>
          <p:cNvSpPr/>
          <p:nvPr/>
        </p:nvSpPr>
        <p:spPr>
          <a:xfrm>
            <a:off x="546100" y="203200"/>
            <a:ext cx="1016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2600" b="1" dirty="0">
                <a:solidFill>
                  <a:srgbClr val="0F172A"/>
                </a:solidFill>
                <a:latin typeface="Meiryo UI"/>
                <a:ea typeface="Meiryo UI"/>
              </a:rPr>
              <a:t>LIVE SPOtCH — 将来の拡張ポイント</a:t>
            </a:r>
          </a:p>
        </p:txBody>
      </p:sp>
      <p:sp>
        <p:nvSpPr>
          <p:cNvPr id="4" name="Subtitle"/>
          <p:cNvSpPr/>
          <p:nvPr/>
        </p:nvSpPr>
        <p:spPr>
          <a:xfrm>
            <a:off x="546100" y="635000"/>
            <a:ext cx="1016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400" dirty="0">
                <a:solidFill>
                  <a:srgbClr val="666680"/>
                </a:solidFill>
                <a:latin typeface="Meiryo UI"/>
                <a:ea typeface="Meiryo UI"/>
              </a:rPr>
              <a:t>機能拡張ロードマップと概算費用</a:t>
            </a:r>
          </a:p>
        </p:txBody>
      </p:sp>
      <p:sp>
        <p:nvSpPr>
          <p:cNvPr id="5" name="AccentLine"/>
          <p:cNvSpPr/>
          <p:nvPr/>
        </p:nvSpPr>
        <p:spPr>
          <a:xfrm>
            <a:off x="546100" y="939800"/>
            <a:ext cx="91440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HeaderBar"/>
          <p:cNvSpPr/>
          <p:nvPr/>
        </p:nvSpPr>
        <p:spPr>
          <a:xfrm>
            <a:off x="546100" y="1041400"/>
            <a:ext cx="11099800" cy="4572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l"/>
            <a:r>
              <a:rPr lang="ja-JP" altLang="en-US" sz="1800" b="1" dirty="0">
                <a:solidFill>
                  <a:srgbClr val="FFFFFF"/>
                </a:solidFill>
                <a:latin typeface="Meiryo UI"/>
                <a:ea typeface="Meiryo UI"/>
              </a:rPr>
              <a:t>将来の拡張ポイント &amp; 概算費用</a:t>
            </a:r>
          </a:p>
        </p:txBody>
      </p:sp>
      <p:sp>
        <p:nvSpPr>
          <p:cNvPr id="10" name="Row0Bg"/>
          <p:cNvSpPr/>
          <p:nvPr/>
        </p:nvSpPr>
        <p:spPr>
          <a:xfrm>
            <a:off x="546100" y="1549400"/>
            <a:ext cx="11099800" cy="7366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Row0Ver"/>
          <p:cNvSpPr/>
          <p:nvPr/>
        </p:nvSpPr>
        <p:spPr>
          <a:xfrm>
            <a:off x="673100" y="1739900"/>
            <a:ext cx="660400" cy="3556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300" b="1" dirty="0">
                <a:solidFill>
                  <a:srgbClr val="FFFFFF"/>
                </a:solidFill>
                <a:latin typeface="Meiryo UI"/>
                <a:ea typeface="Meiryo UI"/>
              </a:rPr>
              <a:t>v1.0</a:t>
            </a:r>
          </a:p>
        </p:txBody>
      </p:sp>
      <p:sp>
        <p:nvSpPr>
          <p:cNvPr id="12" name="Row0Name"/>
          <p:cNvSpPr/>
          <p:nvPr/>
        </p:nvSpPr>
        <p:spPr>
          <a:xfrm>
            <a:off x="1460500" y="16129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得点リモコン</a:t>
            </a:r>
          </a:p>
        </p:txBody>
      </p:sp>
      <p:sp>
        <p:nvSpPr>
          <p:cNvPr id="13" name="Row0Desc"/>
          <p:cNvSpPr/>
          <p:nvPr/>
        </p:nvSpPr>
        <p:spPr>
          <a:xfrm>
            <a:off x="1460500" y="19177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別デバイスからスコア操作</a:t>
            </a:r>
            <a:br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撮影者は撮影に集中</a:t>
            </a:r>
          </a:p>
        </p:txBody>
      </p:sp>
      <p:sp>
        <p:nvSpPr>
          <p:cNvPr id="14" name="Row0TechLabel"/>
          <p:cNvSpPr/>
          <p:nvPr/>
        </p:nvSpPr>
        <p:spPr>
          <a:xfrm>
            <a:off x="4229100" y="16129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15" name="Row0Tech"/>
          <p:cNvSpPr/>
          <p:nvPr/>
        </p:nvSpPr>
        <p:spPr>
          <a:xfrm>
            <a:off x="4229100" y="1816100"/>
            <a:ext cx="2286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1A1A2E"/>
                </a:solidFill>
                <a:latin typeface="Meiryo UI"/>
                <a:ea typeface="Meiryo UI"/>
              </a:rPr>
              <a:t>WebSocket / Supabase Realtime</a:t>
            </a:r>
          </a:p>
        </p:txBody>
      </p:sp>
      <p:sp>
        <p:nvSpPr>
          <p:cNvPr id="16" name="Row0Period"/>
          <p:cNvSpPr/>
          <p:nvPr/>
        </p:nvSpPr>
        <p:spPr>
          <a:xfrm>
            <a:off x="6769100" y="1612900"/>
            <a:ext cx="152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期間:</a:t>
            </a:r>
          </a:p>
        </p:txBody>
      </p:sp>
      <p:sp>
        <p:nvSpPr>
          <p:cNvPr id="17" name="Row0PeriodVal"/>
          <p:cNvSpPr/>
          <p:nvPr/>
        </p:nvSpPr>
        <p:spPr>
          <a:xfrm>
            <a:off x="6769100" y="1816100"/>
            <a:ext cx="152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300" dirty="0">
                <a:solidFill>
                  <a:srgbClr val="1A1A2E"/>
                </a:solidFill>
                <a:latin typeface="Meiryo UI"/>
                <a:ea typeface="Meiryo UI"/>
              </a:rPr>
              <a:t>2-3週間</a:t>
            </a:r>
          </a:p>
        </p:txBody>
      </p:sp>
      <p:sp>
        <p:nvSpPr>
          <p:cNvPr id="18" name="Row0Cost"/>
          <p:cNvSpPr/>
          <p:nvPr/>
        </p:nvSpPr>
        <p:spPr>
          <a:xfrm>
            <a:off x="8674100" y="1651000"/>
            <a:ext cx="2794000" cy="533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DC2626"/>
                </a:solidFill>
                <a:latin typeface="Meiryo UI"/>
                <a:ea typeface="Meiryo UI"/>
              </a:rPr>
              <a:t>約30〜50万円</a:t>
            </a:r>
          </a:p>
        </p:txBody>
      </p:sp>
      <p:sp>
        <p:nvSpPr>
          <p:cNvPr id="19" name="Row1Bg"/>
          <p:cNvSpPr/>
          <p:nvPr/>
        </p:nvSpPr>
        <p:spPr>
          <a:xfrm>
            <a:off x="546100" y="2336800"/>
            <a:ext cx="11099800" cy="7366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Row1Ver"/>
          <p:cNvSpPr/>
          <p:nvPr/>
        </p:nvSpPr>
        <p:spPr>
          <a:xfrm>
            <a:off x="673100" y="2527300"/>
            <a:ext cx="660400" cy="355600"/>
          </a:xfrm>
          <a:prstGeom prst="roundRect">
            <a:avLst>
              <a:gd name="adj" fmla="val 25000"/>
            </a:avLst>
          </a:prstGeom>
          <a:solidFill>
            <a:srgbClr val="15803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300" b="1" dirty="0">
                <a:solidFill>
                  <a:srgbClr val="FFFFFF"/>
                </a:solidFill>
                <a:latin typeface="Meiryo UI"/>
                <a:ea typeface="Meiryo UI"/>
              </a:rPr>
              <a:t>v1.5</a:t>
            </a:r>
          </a:p>
        </p:txBody>
      </p:sp>
      <p:sp>
        <p:nvSpPr>
          <p:cNvPr id="21" name="Row1Name"/>
          <p:cNvSpPr/>
          <p:nvPr/>
        </p:nvSpPr>
        <p:spPr>
          <a:xfrm>
            <a:off x="1460500" y="24003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マルチカメラ手動切替</a:t>
            </a:r>
          </a:p>
        </p:txBody>
      </p:sp>
      <p:sp>
        <p:nvSpPr>
          <p:cNvPr id="22" name="Row1Desc"/>
          <p:cNvSpPr/>
          <p:nvPr/>
        </p:nvSpPr>
        <p:spPr>
          <a:xfrm>
            <a:off x="1460500" y="27051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複数スマホの映像を</a:t>
            </a:r>
            <a:br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手動で切り替え表示</a:t>
            </a:r>
          </a:p>
        </p:txBody>
      </p:sp>
      <p:sp>
        <p:nvSpPr>
          <p:cNvPr id="23" name="Row1TechLabel"/>
          <p:cNvSpPr/>
          <p:nvPr/>
        </p:nvSpPr>
        <p:spPr>
          <a:xfrm>
            <a:off x="4229100" y="24003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24" name="Row1Tech"/>
          <p:cNvSpPr/>
          <p:nvPr/>
        </p:nvSpPr>
        <p:spPr>
          <a:xfrm>
            <a:off x="4229100" y="2603500"/>
            <a:ext cx="2286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1A1A2E"/>
                </a:solidFill>
                <a:latin typeface="Meiryo UI"/>
                <a:ea typeface="Meiryo UI"/>
              </a:rPr>
              <a:t>LiveKit マルチトラック</a:t>
            </a:r>
          </a:p>
        </p:txBody>
      </p:sp>
      <p:sp>
        <p:nvSpPr>
          <p:cNvPr id="25" name="Row1Period"/>
          <p:cNvSpPr/>
          <p:nvPr/>
        </p:nvSpPr>
        <p:spPr>
          <a:xfrm>
            <a:off x="6769100" y="2400300"/>
            <a:ext cx="152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期間:</a:t>
            </a:r>
          </a:p>
        </p:txBody>
      </p:sp>
      <p:sp>
        <p:nvSpPr>
          <p:cNvPr id="26" name="Row1PeriodVal"/>
          <p:cNvSpPr/>
          <p:nvPr/>
        </p:nvSpPr>
        <p:spPr>
          <a:xfrm>
            <a:off x="6769100" y="2603500"/>
            <a:ext cx="152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300" dirty="0">
                <a:solidFill>
                  <a:srgbClr val="1A1A2E"/>
                </a:solidFill>
                <a:latin typeface="Meiryo UI"/>
                <a:ea typeface="Meiryo UI"/>
              </a:rPr>
              <a:t>1-2ヶ月</a:t>
            </a:r>
          </a:p>
        </p:txBody>
      </p:sp>
      <p:sp>
        <p:nvSpPr>
          <p:cNvPr id="27" name="Row1Cost"/>
          <p:cNvSpPr/>
          <p:nvPr/>
        </p:nvSpPr>
        <p:spPr>
          <a:xfrm>
            <a:off x="8674100" y="2438400"/>
            <a:ext cx="2794000" cy="533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DC2626"/>
                </a:solidFill>
                <a:latin typeface="Meiryo UI"/>
                <a:ea typeface="Meiryo UI"/>
              </a:rPr>
              <a:t>約80〜120万円</a:t>
            </a:r>
          </a:p>
        </p:txBody>
      </p:sp>
      <p:sp>
        <p:nvSpPr>
          <p:cNvPr id="28" name="Row2Bg"/>
          <p:cNvSpPr/>
          <p:nvPr/>
        </p:nvSpPr>
        <p:spPr>
          <a:xfrm>
            <a:off x="546100" y="3124200"/>
            <a:ext cx="11099800" cy="7366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Row2Ver"/>
          <p:cNvSpPr/>
          <p:nvPr/>
        </p:nvSpPr>
        <p:spPr>
          <a:xfrm>
            <a:off x="673100" y="3314700"/>
            <a:ext cx="660400" cy="355600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300" b="1" dirty="0">
                <a:solidFill>
                  <a:srgbClr val="FFFFFF"/>
                </a:solidFill>
                <a:latin typeface="Meiryo UI"/>
                <a:ea typeface="Meiryo UI"/>
              </a:rPr>
              <a:t>v2.0</a:t>
            </a:r>
          </a:p>
        </p:txBody>
      </p:sp>
      <p:sp>
        <p:nvSpPr>
          <p:cNvPr id="30" name="Row2Name"/>
          <p:cNvSpPr/>
          <p:nvPr/>
        </p:nvSpPr>
        <p:spPr>
          <a:xfrm>
            <a:off x="1460500" y="31877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AI自動アングル切替</a:t>
            </a:r>
          </a:p>
        </p:txBody>
      </p:sp>
      <p:sp>
        <p:nvSpPr>
          <p:cNvPr id="31" name="Row2Desc"/>
          <p:cNvSpPr/>
          <p:nvPr/>
        </p:nvSpPr>
        <p:spPr>
          <a:xfrm>
            <a:off x="1460500" y="34925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AIがベストアングルを</a:t>
            </a:r>
            <a:br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判断して自動切替</a:t>
            </a:r>
          </a:p>
        </p:txBody>
      </p:sp>
      <p:sp>
        <p:nvSpPr>
          <p:cNvPr id="32" name="Row2TechLabel"/>
          <p:cNvSpPr/>
          <p:nvPr/>
        </p:nvSpPr>
        <p:spPr>
          <a:xfrm>
            <a:off x="4229100" y="31877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33" name="Row2Tech"/>
          <p:cNvSpPr/>
          <p:nvPr/>
        </p:nvSpPr>
        <p:spPr>
          <a:xfrm>
            <a:off x="4229100" y="3390900"/>
            <a:ext cx="2286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1A1A2E"/>
                </a:solidFill>
                <a:latin typeface="Meiryo UI"/>
                <a:ea typeface="Meiryo UI"/>
              </a:rPr>
              <a:t>AI推論サーバー（GPU）</a:t>
            </a:r>
          </a:p>
        </p:txBody>
      </p:sp>
      <p:sp>
        <p:nvSpPr>
          <p:cNvPr id="34" name="Row2Period"/>
          <p:cNvSpPr/>
          <p:nvPr/>
        </p:nvSpPr>
        <p:spPr>
          <a:xfrm>
            <a:off x="6769100" y="3187700"/>
            <a:ext cx="152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期間:</a:t>
            </a:r>
          </a:p>
        </p:txBody>
      </p:sp>
      <p:sp>
        <p:nvSpPr>
          <p:cNvPr id="35" name="Row2PeriodVal"/>
          <p:cNvSpPr/>
          <p:nvPr/>
        </p:nvSpPr>
        <p:spPr>
          <a:xfrm>
            <a:off x="6769100" y="3390900"/>
            <a:ext cx="152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300" dirty="0">
                <a:solidFill>
                  <a:srgbClr val="1A1A2E"/>
                </a:solidFill>
                <a:latin typeface="Meiryo UI"/>
                <a:ea typeface="Meiryo UI"/>
              </a:rPr>
              <a:t>3-6ヶ月</a:t>
            </a:r>
          </a:p>
        </p:txBody>
      </p:sp>
      <p:sp>
        <p:nvSpPr>
          <p:cNvPr id="36" name="Row2Cost"/>
          <p:cNvSpPr/>
          <p:nvPr/>
        </p:nvSpPr>
        <p:spPr>
          <a:xfrm>
            <a:off x="8674100" y="3225800"/>
            <a:ext cx="2794000" cy="533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DC2626"/>
                </a:solidFill>
                <a:latin typeface="Meiryo UI"/>
                <a:ea typeface="Meiryo UI"/>
              </a:rPr>
              <a:t>約200〜350万円</a:t>
            </a:r>
          </a:p>
        </p:txBody>
      </p:sp>
      <p:sp>
        <p:nvSpPr>
          <p:cNvPr id="37" name="Row3Bg"/>
          <p:cNvSpPr/>
          <p:nvPr/>
        </p:nvSpPr>
        <p:spPr>
          <a:xfrm>
            <a:off x="546100" y="3911600"/>
            <a:ext cx="11099800" cy="7366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Row3Ver"/>
          <p:cNvSpPr/>
          <p:nvPr/>
        </p:nvSpPr>
        <p:spPr>
          <a:xfrm>
            <a:off x="673100" y="4102100"/>
            <a:ext cx="660400" cy="3556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300" b="1" dirty="0">
                <a:solidFill>
                  <a:srgbClr val="FFFFFF"/>
                </a:solidFill>
                <a:latin typeface="Meiryo UI"/>
                <a:ea typeface="Meiryo UI"/>
              </a:rPr>
              <a:t>v2.5</a:t>
            </a:r>
          </a:p>
        </p:txBody>
      </p:sp>
      <p:sp>
        <p:nvSpPr>
          <p:cNvPr id="39" name="Row3Name"/>
          <p:cNvSpPr/>
          <p:nvPr/>
        </p:nvSpPr>
        <p:spPr>
          <a:xfrm>
            <a:off x="1460500" y="39751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AIハイライト自動生成</a:t>
            </a:r>
          </a:p>
        </p:txBody>
      </p:sp>
      <p:sp>
        <p:nvSpPr>
          <p:cNvPr id="40" name="Row3Desc"/>
          <p:cNvSpPr/>
          <p:nvPr/>
        </p:nvSpPr>
        <p:spPr>
          <a:xfrm>
            <a:off x="1460500" y="4279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試合のハイライトを</a:t>
            </a:r>
            <a:br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AIが自動編集・生成</a:t>
            </a:r>
          </a:p>
        </p:txBody>
      </p:sp>
      <p:sp>
        <p:nvSpPr>
          <p:cNvPr id="41" name="Row3TechLabel"/>
          <p:cNvSpPr/>
          <p:nvPr/>
        </p:nvSpPr>
        <p:spPr>
          <a:xfrm>
            <a:off x="4229100" y="39751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42" name="Row3Tech"/>
          <p:cNvSpPr/>
          <p:nvPr/>
        </p:nvSpPr>
        <p:spPr>
          <a:xfrm>
            <a:off x="4229100" y="4178300"/>
            <a:ext cx="2286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1A1A2E"/>
                </a:solidFill>
                <a:latin typeface="Meiryo UI"/>
                <a:ea typeface="Meiryo UI"/>
              </a:rPr>
              <a:t>動画解析AI + FFmpeg</a:t>
            </a:r>
          </a:p>
        </p:txBody>
      </p:sp>
      <p:sp>
        <p:nvSpPr>
          <p:cNvPr id="43" name="Row3Period"/>
          <p:cNvSpPr/>
          <p:nvPr/>
        </p:nvSpPr>
        <p:spPr>
          <a:xfrm>
            <a:off x="6769100" y="3975100"/>
            <a:ext cx="152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期間:</a:t>
            </a:r>
          </a:p>
        </p:txBody>
      </p:sp>
      <p:sp>
        <p:nvSpPr>
          <p:cNvPr id="44" name="Row3PeriodVal"/>
          <p:cNvSpPr/>
          <p:nvPr/>
        </p:nvSpPr>
        <p:spPr>
          <a:xfrm>
            <a:off x="6769100" y="4178300"/>
            <a:ext cx="152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300" dirty="0">
                <a:solidFill>
                  <a:srgbClr val="1A1A2E"/>
                </a:solidFill>
                <a:latin typeface="Meiryo UI"/>
                <a:ea typeface="Meiryo UI"/>
              </a:rPr>
              <a:t>2-4ヶ月</a:t>
            </a:r>
          </a:p>
        </p:txBody>
      </p:sp>
      <p:sp>
        <p:nvSpPr>
          <p:cNvPr id="45" name="Row3Cost"/>
          <p:cNvSpPr/>
          <p:nvPr/>
        </p:nvSpPr>
        <p:spPr>
          <a:xfrm>
            <a:off x="8674100" y="4013200"/>
            <a:ext cx="2794000" cy="533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DC2626"/>
                </a:solidFill>
                <a:latin typeface="Meiryo UI"/>
                <a:ea typeface="Meiryo UI"/>
              </a:rPr>
              <a:t>約150〜250万円</a:t>
            </a:r>
          </a:p>
        </p:txBody>
      </p:sp>
      <p:sp>
        <p:nvSpPr>
          <p:cNvPr id="46" name="Row4Bg"/>
          <p:cNvSpPr/>
          <p:nvPr/>
        </p:nvSpPr>
        <p:spPr>
          <a:xfrm>
            <a:off x="546100" y="4699000"/>
            <a:ext cx="11099800" cy="7366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Row4Ver"/>
          <p:cNvSpPr/>
          <p:nvPr/>
        </p:nvSpPr>
        <p:spPr>
          <a:xfrm>
            <a:off x="673100" y="4889500"/>
            <a:ext cx="660400" cy="355600"/>
          </a:xfrm>
          <a:prstGeom prst="roundRect">
            <a:avLst>
              <a:gd name="adj" fmla="val 25000"/>
            </a:avLst>
          </a:prstGeom>
          <a:solidFill>
            <a:srgbClr val="E6394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300" b="1" dirty="0">
                <a:solidFill>
                  <a:srgbClr val="FFFFFF"/>
                </a:solidFill>
                <a:latin typeface="Meiryo UI"/>
                <a:ea typeface="Meiryo UI"/>
              </a:rPr>
              <a:t>v3.0</a:t>
            </a:r>
          </a:p>
        </p:txBody>
      </p:sp>
      <p:sp>
        <p:nvSpPr>
          <p:cNvPr id="48" name="Row4Name"/>
          <p:cNvSpPr/>
          <p:nvPr/>
        </p:nvSpPr>
        <p:spPr>
          <a:xfrm>
            <a:off x="1460500" y="47625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AI得点検知</a:t>
            </a:r>
          </a:p>
        </p:txBody>
      </p:sp>
      <p:sp>
        <p:nvSpPr>
          <p:cNvPr id="49" name="Row4Desc"/>
          <p:cNvSpPr/>
          <p:nvPr/>
        </p:nvSpPr>
        <p:spPr>
          <a:xfrm>
            <a:off x="1460500" y="50673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映像・音声からAIが得点を</a:t>
            </a:r>
            <a:br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検知しスコア自動更新</a:t>
            </a:r>
          </a:p>
        </p:txBody>
      </p:sp>
      <p:sp>
        <p:nvSpPr>
          <p:cNvPr id="50" name="Row4TechLabel"/>
          <p:cNvSpPr/>
          <p:nvPr/>
        </p:nvSpPr>
        <p:spPr>
          <a:xfrm>
            <a:off x="4229100" y="47625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51" name="Row4Tech"/>
          <p:cNvSpPr/>
          <p:nvPr/>
        </p:nvSpPr>
        <p:spPr>
          <a:xfrm>
            <a:off x="4229100" y="4965700"/>
            <a:ext cx="2286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1A1A2E"/>
                </a:solidFill>
                <a:latin typeface="Meiryo UI"/>
                <a:ea typeface="Meiryo UI"/>
              </a:rPr>
              <a:t>映像解析AI / 音声認識</a:t>
            </a:r>
          </a:p>
        </p:txBody>
      </p:sp>
      <p:sp>
        <p:nvSpPr>
          <p:cNvPr id="52" name="Row4Period"/>
          <p:cNvSpPr/>
          <p:nvPr/>
        </p:nvSpPr>
        <p:spPr>
          <a:xfrm>
            <a:off x="6769100" y="4762500"/>
            <a:ext cx="152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期間:</a:t>
            </a:r>
          </a:p>
        </p:txBody>
      </p:sp>
      <p:sp>
        <p:nvSpPr>
          <p:cNvPr id="53" name="Row4PeriodVal"/>
          <p:cNvSpPr/>
          <p:nvPr/>
        </p:nvSpPr>
        <p:spPr>
          <a:xfrm>
            <a:off x="6769100" y="4965700"/>
            <a:ext cx="152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300" dirty="0">
                <a:solidFill>
                  <a:srgbClr val="1A1A2E"/>
                </a:solidFill>
                <a:latin typeface="Meiryo UI"/>
                <a:ea typeface="Meiryo UI"/>
              </a:rPr>
              <a:t>3-6ヶ月</a:t>
            </a:r>
          </a:p>
        </p:txBody>
      </p:sp>
      <p:sp>
        <p:nvSpPr>
          <p:cNvPr id="54" name="Row4Cost"/>
          <p:cNvSpPr/>
          <p:nvPr/>
        </p:nvSpPr>
        <p:spPr>
          <a:xfrm>
            <a:off x="8674100" y="4800600"/>
            <a:ext cx="2794000" cy="533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DC2626"/>
                </a:solidFill>
                <a:latin typeface="Meiryo UI"/>
                <a:ea typeface="Meiryo UI"/>
              </a:rPr>
              <a:t>約100〜200万円</a:t>
            </a:r>
          </a:p>
        </p:txBody>
      </p:sp>
      <p:sp>
        <p:nvSpPr>
          <p:cNvPr id="55" name="Row5Bg"/>
          <p:cNvSpPr/>
          <p:nvPr/>
        </p:nvSpPr>
        <p:spPr>
          <a:xfrm>
            <a:off x="546100" y="5486400"/>
            <a:ext cx="11099800" cy="7366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6350">
            <a:solidFill>
              <a:srgbClr val="E5E7EB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Row5Ver"/>
          <p:cNvSpPr/>
          <p:nvPr/>
        </p:nvSpPr>
        <p:spPr>
          <a:xfrm>
            <a:off x="673100" y="5676900"/>
            <a:ext cx="660400" cy="355600"/>
          </a:xfrm>
          <a:prstGeom prst="roundRect">
            <a:avLst>
              <a:gd name="adj" fmla="val 25000"/>
            </a:avLst>
          </a:prstGeom>
          <a:solidFill>
            <a:srgbClr val="9333EA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altLang="ja-JP" sz="1300" b="1" dirty="0">
                <a:solidFill>
                  <a:srgbClr val="FFFFFF"/>
                </a:solidFill>
                <a:latin typeface="Meiryo UI"/>
                <a:ea typeface="Meiryo UI"/>
              </a:rPr>
              <a:t>v3.5</a:t>
            </a:r>
          </a:p>
        </p:txBody>
      </p:sp>
      <p:sp>
        <p:nvSpPr>
          <p:cNvPr id="57" name="Row5Name"/>
          <p:cNvSpPr/>
          <p:nvPr/>
        </p:nvSpPr>
        <p:spPr>
          <a:xfrm>
            <a:off x="1460500" y="55499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SNS自動投稿</a:t>
            </a:r>
          </a:p>
        </p:txBody>
      </p:sp>
      <p:sp>
        <p:nvSpPr>
          <p:cNvPr id="58" name="Row5Desc"/>
          <p:cNvSpPr/>
          <p:nvPr/>
        </p:nvSpPr>
        <p:spPr>
          <a:xfrm>
            <a:off x="1460500" y="58547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ハイライトをInstagram</a:t>
            </a:r>
            <a:br/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TikTokに自動投稿</a:t>
            </a:r>
          </a:p>
        </p:txBody>
      </p:sp>
      <p:sp>
        <p:nvSpPr>
          <p:cNvPr id="59" name="Row5TechLabel"/>
          <p:cNvSpPr/>
          <p:nvPr/>
        </p:nvSpPr>
        <p:spPr>
          <a:xfrm>
            <a:off x="4229100" y="55499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技術:</a:t>
            </a:r>
          </a:p>
        </p:txBody>
      </p:sp>
      <p:sp>
        <p:nvSpPr>
          <p:cNvPr id="60" name="Row5Tech"/>
          <p:cNvSpPr/>
          <p:nvPr/>
        </p:nvSpPr>
        <p:spPr>
          <a:xfrm>
            <a:off x="4229100" y="5753100"/>
            <a:ext cx="2286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200" dirty="0">
                <a:solidFill>
                  <a:srgbClr val="1A1A2E"/>
                </a:solidFill>
                <a:latin typeface="Meiryo UI"/>
                <a:ea typeface="Meiryo UI"/>
              </a:rPr>
              <a:t>各SNS API連携</a:t>
            </a:r>
          </a:p>
        </p:txBody>
      </p:sp>
      <p:sp>
        <p:nvSpPr>
          <p:cNvPr id="61" name="Row5Period"/>
          <p:cNvSpPr/>
          <p:nvPr/>
        </p:nvSpPr>
        <p:spPr>
          <a:xfrm>
            <a:off x="6769100" y="5549900"/>
            <a:ext cx="152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100" dirty="0">
                <a:solidFill>
                  <a:srgbClr val="9CA3AF"/>
                </a:solidFill>
                <a:latin typeface="Meiryo UI"/>
                <a:ea typeface="Meiryo UI"/>
              </a:rPr>
              <a:t>期間:</a:t>
            </a:r>
          </a:p>
        </p:txBody>
      </p:sp>
      <p:sp>
        <p:nvSpPr>
          <p:cNvPr id="62" name="Row5PeriodVal"/>
          <p:cNvSpPr/>
          <p:nvPr/>
        </p:nvSpPr>
        <p:spPr>
          <a:xfrm>
            <a:off x="6769100" y="5753100"/>
            <a:ext cx="152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300" dirty="0">
                <a:solidFill>
                  <a:srgbClr val="1A1A2E"/>
                </a:solidFill>
                <a:latin typeface="Meiryo UI"/>
                <a:ea typeface="Meiryo UI"/>
              </a:rPr>
              <a:t>2-3週間</a:t>
            </a:r>
          </a:p>
        </p:txBody>
      </p:sp>
      <p:sp>
        <p:nvSpPr>
          <p:cNvPr id="63" name="Row5Cost"/>
          <p:cNvSpPr/>
          <p:nvPr/>
        </p:nvSpPr>
        <p:spPr>
          <a:xfrm>
            <a:off x="8674100" y="5588000"/>
            <a:ext cx="2794000" cy="533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ja-JP" altLang="en-US" sz="1400" b="1" dirty="0">
                <a:solidFill>
                  <a:srgbClr val="DC2626"/>
                </a:solidFill>
                <a:latin typeface="Meiryo UI"/>
                <a:ea typeface="Meiryo UI"/>
              </a:rPr>
              <a:t>約50〜80万円</a:t>
            </a:r>
          </a:p>
        </p:txBody>
      </p:sp>
      <p:sp>
        <p:nvSpPr>
          <p:cNvPr id="64" name="TotalBar"/>
          <p:cNvSpPr/>
          <p:nvPr/>
        </p:nvSpPr>
        <p:spPr>
          <a:xfrm>
            <a:off x="546100" y="6273800"/>
            <a:ext cx="11099800" cy="355600"/>
          </a:xfrm>
          <a:prstGeom prst="roundRect">
            <a:avLst>
              <a:gd name="adj" fmla="val 10000"/>
            </a:avLst>
          </a:prstGeom>
          <a:solidFill>
            <a:srgbClr val="E63946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ja-JP" altLang="en-US" sz="1400" b="1" dirty="0">
                <a:solidFill>
                  <a:srgbClr val="FFFFFF"/>
                </a:solidFill>
                <a:latin typeface="Meiryo UI"/>
                <a:ea typeface="Meiryo UI"/>
              </a:rPr>
              <a:t>全拡張の概算合計: 約610〜1,050万円（段階的に投資）</a:t>
            </a:r>
          </a:p>
        </p:txBody>
      </p:sp>
      <p:sp>
        <p:nvSpPr>
          <p:cNvPr id="65" name="Footer"/>
          <p:cNvSpPr/>
          <p:nvPr/>
        </p:nvSpPr>
        <p:spPr>
          <a:xfrm>
            <a:off x="546100" y="6680200"/>
            <a:ext cx="110998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900" dirty="0">
                <a:solidFill>
                  <a:srgbClr val="9CA3AF"/>
                </a:solidFill>
                <a:latin typeface="Meiryo UI"/>
                <a:ea typeface="Meiryo UI"/>
              </a:rPr>
              <a:t>LIVE SPOtCH  |  LIN-NAH株式会社  |  2026年4月</a:t>
            </a:r>
          </a:p>
        </p:txBody>
      </p:sp>
    </p:spTree>
    <p:extLst>
      <p:ext uri="{BB962C8B-B14F-4D97-AF65-F5344CB8AC3E}">
        <p14:creationId xmlns:p14="http://schemas.microsoft.com/office/powerpoint/2010/main" val="2360329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230649E-80E1-6148-9347-6A0631153562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044c16d4-40a1-4af6-ac55-a695f6ca7f2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337</Words>
  <Application>Microsoft Macintosh PowerPoint</Application>
  <PresentationFormat>ワイド画面</PresentationFormat>
  <Paragraphs>80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Meiryo UI</vt:lpstr>
      <vt:lpstr>Arial</vt:lpstr>
      <vt:lpstr>Calibri</vt:lpstr>
      <vt:lpstr>Office Theme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Yuki Harada</cp:lastModifiedBy>
  <cp:revision>2</cp:revision>
  <dcterms:created xsi:type="dcterms:W3CDTF">2013-01-27T09:14:16Z</dcterms:created>
  <dcterms:modified xsi:type="dcterms:W3CDTF">2026-04-17T21:18:21Z</dcterms:modified>
  <cp:category/>
</cp:coreProperties>
</file>