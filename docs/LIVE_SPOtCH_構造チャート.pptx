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eiryo UI"/>
              </a:defRPr>
            </a:pPr>
            <a:r>
              <a:t>LIVE SPOtCH — システム構造 (v2 改訂版)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5/10 時点の本番稼働構成 + 5月中完璧化計画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9144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1097280"/>
            <a:ext cx="2926080" cy="640080"/>
          </a:xfrm>
          <a:prstGeom prst="roundRect">
            <a:avLst/>
          </a:prstGeom>
          <a:solidFill>
            <a:srgbClr val="FDEBED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1704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3946"/>
                </a:solidFill>
                <a:latin typeface="Meiryo UI"/>
              </a:defRPr>
            </a:pPr>
            <a:r>
              <a:t>ユーザー（保護者・家族）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4173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スマホ・PCブラウザからアクセス（アプリDL不要・PWA対応）</a:t>
            </a:r>
          </a:p>
        </p:txBody>
      </p:sp>
      <p:sp>
        <p:nvSpPr>
          <p:cNvPr id="9" name="Down Arrow 8"/>
          <p:cNvSpPr/>
          <p:nvPr/>
        </p:nvSpPr>
        <p:spPr>
          <a:xfrm>
            <a:off x="3566160" y="1783080"/>
            <a:ext cx="320040" cy="3200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6400800" cy="2468880"/>
          </a:xfrm>
          <a:prstGeom prst="roundRect">
            <a:avLst/>
          </a:prstGeom>
          <a:solidFill>
            <a:srgbClr val="F5F5F8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Meiryo UI"/>
              </a:defRPr>
            </a:pPr>
            <a:r>
              <a:t>LIVE SPOtCH (Next.js / Vercel) — live-spotch.com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1078992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107899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788920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3946"/>
                </a:solidFill>
                <a:latin typeface="Meiryo UI"/>
              </a:defRPr>
            </a:pPr>
            <a:r>
              <a:t>配信エンジン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017520"/>
            <a:ext cx="9326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Canvas焼き込み</a:t>
            </a:r>
            <a:br/>
            <a:r>
              <a:t>WebRTC publish</a:t>
            </a:r>
            <a:br/>
            <a:r>
              <a:t>720p/2.0Mbps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75104" y="2697480"/>
            <a:ext cx="1078992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75104" y="2697480"/>
            <a:ext cx="1078992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48256" y="2788920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Meiryo UI"/>
              </a:defRPr>
            </a:pPr>
            <a:r>
              <a:t>視聴画面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8256" y="3017520"/>
            <a:ext cx="9326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WebRTC subscribe</a:t>
            </a:r>
            <a:br/>
            <a:r>
              <a:t>＋YouTube iframe</a:t>
            </a:r>
            <a:br/>
            <a:r>
              <a:t>(PR #124)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18688" y="2697480"/>
            <a:ext cx="1078992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18688" y="2697480"/>
            <a:ext cx="1078992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788920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Meiryo UI"/>
              </a:defRPr>
            </a:pPr>
            <a:r>
              <a:t>チーム管理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017520"/>
            <a:ext cx="9326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招待コード</a:t>
            </a:r>
            <a:br/>
            <a:r>
              <a:t>スケジュール</a:t>
            </a:r>
            <a:br/>
            <a:r>
              <a:t>メンバー権限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2272" y="2697480"/>
            <a:ext cx="1078992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88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62272" y="2697480"/>
            <a:ext cx="1078992" cy="38100"/>
          </a:xfrm>
          <a:prstGeom prst="rect">
            <a:avLst/>
          </a:prstGeom>
          <a:solidFill>
            <a:srgbClr val="EA8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2788920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A880B"/>
                </a:solidFill>
                <a:latin typeface="Meiryo UI"/>
              </a:defRPr>
            </a:pPr>
            <a:r>
              <a:t>決済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3017520"/>
            <a:ext cx="9326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Stripe連携</a:t>
            </a:r>
            <a:br/>
            <a:r>
              <a:t>¥300 / ¥500</a:t>
            </a:r>
            <a:br/>
            <a:r>
              <a:t>月額サブスク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5856" y="2697480"/>
            <a:ext cx="1078992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05856" y="2697480"/>
            <a:ext cx="107899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79008" y="2788920"/>
            <a:ext cx="9326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C3AED"/>
                </a:solidFill>
                <a:latin typeface="Meiryo UI"/>
              </a:defRPr>
            </a:pPr>
            <a:r>
              <a:t>YouTube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8" y="3017520"/>
            <a:ext cx="9326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同時配信</a:t>
            </a:r>
            <a:br/>
            <a:r>
              <a:t>アーカイブ自動</a:t>
            </a:r>
            <a:br/>
            <a:r>
              <a:t>(チームプラン)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" y="4434840"/>
            <a:ext cx="25400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14600" y="4434840"/>
            <a:ext cx="254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58184" y="4434840"/>
            <a:ext cx="2540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01768" y="4434840"/>
            <a:ext cx="25400" cy="411480"/>
          </a:xfrm>
          <a:prstGeom prst="rect">
            <a:avLst/>
          </a:prstGeom>
          <a:solidFill>
            <a:srgbClr val="EA8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4434840"/>
            <a:ext cx="254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892040"/>
            <a:ext cx="1133856" cy="777240"/>
          </a:xfrm>
          <a:prstGeom prst="roundRect">
            <a:avLst/>
          </a:prstGeom>
          <a:solidFill>
            <a:srgbClr val="FDEBED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" y="4983480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3946"/>
                </a:solidFill>
                <a:latin typeface="Meiryo UI"/>
              </a:defRPr>
            </a:pPr>
            <a:r>
              <a:t>LiveKit Cloud 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523951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$50/月・600分含み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47088" y="4892040"/>
            <a:ext cx="1133856" cy="777240"/>
          </a:xfrm>
          <a:prstGeom prst="roundRect">
            <a:avLst/>
          </a:prstGeom>
          <a:solidFill>
            <a:srgbClr val="EBF0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01952" y="4983480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Meiryo UI"/>
              </a:defRPr>
            </a:pPr>
            <a:r>
              <a:t>Supabase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01952" y="523951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DB・認証・Realtime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45536" y="4892040"/>
            <a:ext cx="1133856" cy="7772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A88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4983480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A880B"/>
                </a:solidFill>
                <a:latin typeface="Meiryo UI"/>
              </a:defRPr>
            </a:pPr>
            <a:r>
              <a:t>Stripe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23951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決済・課金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43983" y="4892040"/>
            <a:ext cx="1133856" cy="777240"/>
          </a:xfrm>
          <a:prstGeom prst="roundRect">
            <a:avLst/>
          </a:prstGeom>
          <a:solidFill>
            <a:srgbClr val="F3EE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98847" y="4983480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C3AED"/>
                </a:solidFill>
                <a:latin typeface="Meiryo UI"/>
              </a:defRPr>
            </a:pPr>
            <a:r>
              <a:t>YouTube Live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8847" y="523951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同時配信・アーカイブ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42431" y="4892040"/>
            <a:ext cx="1133856" cy="777240"/>
          </a:xfrm>
          <a:prstGeom prst="roundRect">
            <a:avLst/>
          </a:prstGeom>
          <a:solidFill>
            <a:srgbClr val="E8F5E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97295" y="4983480"/>
            <a:ext cx="1024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6A34A"/>
                </a:solidFill>
                <a:latin typeface="Meiryo UI"/>
              </a:defRPr>
            </a:pPr>
            <a:r>
              <a:t>Vercel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97295" y="523951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ホスティング・CDN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14600" y="4617720"/>
            <a:ext cx="1243584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8640" y="5760720"/>
            <a:ext cx="640080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A88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806440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A880B"/>
                </a:solidFill>
                <a:latin typeface="Meiryo UI"/>
              </a:defRPr>
            </a:pPr>
            <a:r>
              <a:t>5月末</a:t>
            </a:r>
            <a:br/>
            <a:r>
              <a:t>追加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08760" y="5815584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A880B"/>
                </a:solidFill>
                <a:latin typeface="Meiryo UI"/>
              </a:defRPr>
            </a:pPr>
            <a:r>
              <a:t>TCP化中継 server (B案) → 4G環境下の配信品質を BAND 同等に / +$5-20/月 / 5月末完成見込み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35508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eiryo UI"/>
              </a:defRPr>
            </a:pPr>
            <a:r>
              <a:t>■ 実線 = 現在稼働中の接続    ■ オレンジ枠 = 5月中完璧化で追加予定（提案書 v2 / 借入対応）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1097280"/>
            <a:ext cx="4572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eiryo UI"/>
              </a:defRPr>
            </a:pPr>
            <a:r>
              <a:t>将来の拡張ポイント &amp; 概算費用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1691640"/>
            <a:ext cx="4572000" cy="685800"/>
          </a:xfrm>
          <a:prstGeom prst="roundRect">
            <a:avLst/>
          </a:prstGeom>
          <a:solidFill>
            <a:srgbClr val="FDEBED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406640" y="1783080"/>
            <a:ext cx="502920" cy="2743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06640" y="17830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 UI"/>
              </a:defRPr>
            </a:pPr>
            <a:r>
              <a:t>v1.0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01000" y="17647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eiryo UI"/>
              </a:defRPr>
            </a:pPr>
            <a:r>
              <a:t>得点リモコン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0100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別デバイスからスコア操作</a:t>
            </a:r>
            <a:br/>
            <a:r>
              <a:t>撮影者は撮影に集中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0" y="176479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eiryo UI"/>
              </a:defRPr>
            </a:pPr>
            <a:r>
              <a:t>技術: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1920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Meiryo UI"/>
              </a:defRPr>
            </a:pPr>
            <a:r>
              <a:t>WebSocket / Supabase Realtime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789920" y="1783080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35640" y="180136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3946"/>
                </a:solidFill>
                <a:latin typeface="Meiryo UI"/>
              </a:defRPr>
            </a:pPr>
            <a:r>
              <a:t>約30〜50万円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35640" y="205740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2-3週間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0" y="2496312"/>
            <a:ext cx="4572000" cy="685800"/>
          </a:xfrm>
          <a:prstGeom prst="roundRect">
            <a:avLst/>
          </a:prstGeom>
          <a:solidFill>
            <a:srgbClr val="EBF0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406640" y="2587752"/>
            <a:ext cx="50292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06640" y="258775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 UI"/>
              </a:defRPr>
            </a:pPr>
            <a:r>
              <a:t>v1.5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01000" y="25694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eiryo UI"/>
              </a:defRPr>
            </a:pPr>
            <a:r>
              <a:t>マルチカメラ手動切替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01000" y="28163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複数スマホの映像を</a:t>
            </a:r>
            <a:br/>
            <a:r>
              <a:t>手動で切り替え表示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256946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eiryo UI"/>
              </a:defRPr>
            </a:pPr>
            <a:r>
              <a:t>技術: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09760" y="27249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Meiryo UI"/>
              </a:defRPr>
            </a:pPr>
            <a:r>
              <a:t>LiveKit マルチトラック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789920" y="2587752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35640" y="260604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3946"/>
                </a:solidFill>
                <a:latin typeface="Meiryo UI"/>
              </a:defRPr>
            </a:pPr>
            <a:r>
              <a:t>約80〜120万円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35640" y="2862072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1-2ヶ月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0" y="3300984"/>
            <a:ext cx="4572000" cy="685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A88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406640" y="3392424"/>
            <a:ext cx="502920" cy="274320"/>
          </a:xfrm>
          <a:prstGeom prst="roundRect">
            <a:avLst/>
          </a:prstGeom>
          <a:solidFill>
            <a:srgbClr val="EA8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06640" y="339242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 UI"/>
              </a:defRPr>
            </a:pPr>
            <a:r>
              <a:t>v2.0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01000" y="33741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eiryo UI"/>
              </a:defRPr>
            </a:pPr>
            <a:r>
              <a:t>AI自動アングル切替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01000" y="36210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AIがベストアングルを</a:t>
            </a:r>
            <a:br/>
            <a:r>
              <a:t>判断して自動切替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09760" y="337413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eiryo UI"/>
              </a:defRPr>
            </a:pPr>
            <a:r>
              <a:t>技術: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09760" y="35295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Meiryo UI"/>
              </a:defRPr>
            </a:pPr>
            <a:r>
              <a:t>AI推論サーバー（GPU）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789920" y="3392424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35640" y="3410712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3946"/>
                </a:solidFill>
                <a:latin typeface="Meiryo UI"/>
              </a:defRPr>
            </a:pPr>
            <a:r>
              <a:t>約200〜350万円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35640" y="3666744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3-6ヶ月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0" y="4105656"/>
            <a:ext cx="4572000" cy="685800"/>
          </a:xfrm>
          <a:prstGeom prst="roundRect">
            <a:avLst/>
          </a:prstGeom>
          <a:solidFill>
            <a:srgbClr val="E8F5E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406640" y="4197096"/>
            <a:ext cx="502920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406640" y="41970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 UI"/>
              </a:defRPr>
            </a:pPr>
            <a:r>
              <a:t>v2.5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01000" y="41788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eiryo UI"/>
              </a:defRPr>
            </a:pPr>
            <a:r>
              <a:t>AIハイライト自動生成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442569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試合のハイライトを</a:t>
            </a:r>
            <a:br/>
            <a:r>
              <a:t>AIが自動編集・生成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09760" y="41788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eiryo UI"/>
              </a:defRPr>
            </a:pPr>
            <a:r>
              <a:t>技術: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09760" y="43342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Meiryo UI"/>
              </a:defRPr>
            </a:pPr>
            <a:r>
              <a:t>動画解析AI + FFmpeg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789920" y="4197096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835640" y="4215384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3946"/>
                </a:solidFill>
                <a:latin typeface="Meiryo UI"/>
              </a:defRPr>
            </a:pPr>
            <a:r>
              <a:t>約150〜250万円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35640" y="4471416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2-4ヶ月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315200" y="4910328"/>
            <a:ext cx="4572000" cy="685800"/>
          </a:xfrm>
          <a:prstGeom prst="roundRect">
            <a:avLst/>
          </a:prstGeom>
          <a:solidFill>
            <a:srgbClr val="FDEBED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406640" y="5001768"/>
            <a:ext cx="502920" cy="2743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06640" y="50017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 UI"/>
              </a:defRPr>
            </a:pPr>
            <a:r>
              <a:t>v3.0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01000" y="4983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eiryo UI"/>
              </a:defRPr>
            </a:pPr>
            <a:r>
              <a:t>AI得点検知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01000" y="52303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映像・音声からAIが得点を</a:t>
            </a:r>
            <a:br/>
            <a:r>
              <a:t>検知しスコア自動更新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09760" y="49834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eiryo UI"/>
              </a:defRPr>
            </a:pPr>
            <a:r>
              <a:t>技術: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09760" y="51389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Meiryo UI"/>
              </a:defRPr>
            </a:pPr>
            <a:r>
              <a:t>映像解析AI / 音声認識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789920" y="5001768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835640" y="5020056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3946"/>
                </a:solidFill>
                <a:latin typeface="Meiryo UI"/>
              </a:defRPr>
            </a:pPr>
            <a:r>
              <a:t>約100〜200万円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835640" y="527608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3-6ヶ月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315200" y="5715000"/>
            <a:ext cx="4572000" cy="685800"/>
          </a:xfrm>
          <a:prstGeom prst="roundRect">
            <a:avLst/>
          </a:prstGeom>
          <a:solidFill>
            <a:srgbClr val="F3EE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406640" y="5806440"/>
            <a:ext cx="5029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406640" y="5806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 UI"/>
              </a:defRPr>
            </a:pPr>
            <a:r>
              <a:t>v3.5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01000" y="57881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eiryo UI"/>
              </a:defRPr>
            </a:pPr>
            <a:r>
              <a:t>SNS自動投稿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01000" y="6035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ハイライトをInstagram</a:t>
            </a:r>
            <a:br/>
            <a:r>
              <a:t>TikTokに自動投稿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509760" y="57881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eiryo UI"/>
              </a:defRPr>
            </a:pPr>
            <a:r>
              <a:t>技術: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509760" y="5943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Meiryo UI"/>
              </a:defRPr>
            </a:pPr>
            <a:r>
              <a:t>各SNS API連携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789920" y="5806440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835640" y="582472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3946"/>
                </a:solidFill>
                <a:latin typeface="Meiryo UI"/>
              </a:defRPr>
            </a:pPr>
            <a:r>
              <a:t>約50〜80万円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35640" y="6080760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0"/>
                </a:solidFill>
                <a:latin typeface="Meiryo UI"/>
              </a:defRPr>
            </a:pPr>
            <a:r>
              <a:t>2-3週間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315200" y="6446520"/>
            <a:ext cx="4572000" cy="320040"/>
          </a:xfrm>
          <a:prstGeom prst="roundRect">
            <a:avLst/>
          </a:prstGeom>
          <a:solidFill>
            <a:srgbClr val="FDEBED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498080" y="6473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Meiryo UI"/>
              </a:defRPr>
            </a:pPr>
            <a:r>
              <a:t>全拡張の概算合計: 約610〜1,050万円（Phase 2-3 で段階的に投資）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8640" y="658368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eiryo UI"/>
              </a:defRPr>
            </a:pPr>
            <a:r>
              <a:t>LIVE SPOtCH  |  LIN-NAH株式会社  |  2026年5月 v2 改訂版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