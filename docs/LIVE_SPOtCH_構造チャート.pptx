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47040" y="228600"/>
            <a:ext cx="11287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Meiryo UI"/>
                <a:ea typeface="Meiryo UI"/>
              </a:defRPr>
            </a:pPr>
            <a:r>
              <a:rPr lang="ja-JP" altLang="en-US" sz="2800" b="1" dirty="0">
                <a:solidFill>
                  <a:srgbClr val="0F172A"/>
                </a:solidFill>
                <a:latin typeface="Meiryo UI"/>
                <a:ea typeface="Meiryo UI"/>
              </a:rPr>
              <a:t>LIVE SPOtCH — システム構造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7040" y="787400"/>
            <a:ext cx="1128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80"/>
                </a:solidFill>
                <a:latin typeface="Meiryo UI"/>
                <a:ea typeface="Meiryo UI"/>
              </a:defRPr>
            </a:pPr>
            <a:r>
              <a:rPr lang="ja-JP" altLang="en-US" sz="1400" dirty="0">
                <a:solidFill>
                  <a:srgbClr val="666680"/>
                </a:solidFill>
                <a:latin typeface="Meiryo UI"/>
                <a:ea typeface="Meiryo UI"/>
              </a:rPr>
              <a:t>現在の構成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47040" y="1117600"/>
            <a:ext cx="161417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91000" y="1270000"/>
            <a:ext cx="3810000" cy="60960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18000" y="1320800"/>
            <a:ext cx="355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63946"/>
                </a:solidFill>
                <a:latin typeface="Meiryo UI"/>
              </a:defRPr>
            </a:pPr>
            <a:r>
              <a:t>ユーザー（保護者・家族）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0" y="1600200"/>
            <a:ext cx="355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スマホのブラウザからアクセス（アプリDL不要）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9000" y="1930400"/>
            <a:ext cx="254000" cy="22860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7040" y="2222500"/>
            <a:ext cx="11287760" cy="2468880"/>
          </a:xfrm>
          <a:prstGeom prst="roundRect">
            <a:avLst/>
          </a:prstGeom>
          <a:solidFill>
            <a:srgbClr val="F5F5F8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1200" y="2286000"/>
            <a:ext cx="10759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Meiryo UI"/>
              </a:defRPr>
            </a:pPr>
            <a:r>
              <a:t>LIVE SPOtCH（Next.js / Vercel）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619" y="2697480"/>
            <a:ext cx="2057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2619" y="2697480"/>
            <a:ext cx="20574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4219" y="2788920"/>
            <a:ext cx="1854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配信エンジン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219" y="3122097"/>
            <a:ext cx="18542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カメラ映像取得</a:t>
            </a:r>
            <a:br/>
            <a:r>
              <a:t>スコアオーバーレイ</a:t>
            </a:r>
            <a:br/>
            <a:r>
              <a:t>リアルタイム配信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419" y="2697480"/>
            <a:ext cx="2057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852419" y="2697480"/>
            <a:ext cx="20574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54019" y="2788920"/>
            <a:ext cx="1854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  <a:latin typeface="Meiryo UI"/>
              </a:defRPr>
            </a:pPr>
            <a:r>
              <a:t>視聴画面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4019" y="3122097"/>
            <a:ext cx="18542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共有コードで接続</a:t>
            </a:r>
            <a:br/>
            <a:r>
              <a:t>スコア自動更新</a:t>
            </a:r>
            <a:br/>
            <a:r>
              <a:t>LINE共有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2220" y="2697480"/>
            <a:ext cx="2057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62220" y="2697480"/>
            <a:ext cx="20574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63820" y="2788920"/>
            <a:ext cx="1854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6A34A"/>
                </a:solidFill>
                <a:latin typeface="Meiryo UI"/>
              </a:defRPr>
            </a:pPr>
            <a:r>
              <a:t>チーム管理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3820" y="3122097"/>
            <a:ext cx="18542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招待コード</a:t>
            </a:r>
            <a:br/>
            <a:r>
              <a:t>メンバー権限</a:t>
            </a:r>
            <a:br/>
            <a:r>
              <a:t>チーム配信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20" y="2697480"/>
            <a:ext cx="2057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272020" y="2697480"/>
            <a:ext cx="2057400" cy="381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73620" y="2788920"/>
            <a:ext cx="1854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A880B"/>
                </a:solidFill>
                <a:latin typeface="Meiryo UI"/>
              </a:defRPr>
            </a:pPr>
            <a:r>
              <a:t>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3620" y="3122097"/>
            <a:ext cx="18542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Stripe連携</a:t>
            </a:r>
            <a:br/>
            <a:r>
              <a:t>¥300/¥500月額</a:t>
            </a:r>
            <a:br/>
            <a:r>
              <a:t>解約・退会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81820" y="2697480"/>
            <a:ext cx="2057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481820" y="2697480"/>
            <a:ext cx="20574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83420" y="2788920"/>
            <a:ext cx="1854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3AED"/>
                </a:solidFill>
                <a:latin typeface="Meiryo UI"/>
              </a:defRPr>
            </a:pPr>
            <a:r>
              <a:t>YouTube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3420" y="3122097"/>
            <a:ext cx="18542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OAuth連携</a:t>
            </a:r>
            <a:br/>
            <a:r>
              <a:t>アーカイブ保存</a:t>
            </a:r>
            <a:br/>
            <a:r>
              <a:t>（Phase 2-3）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52269" y="4663440"/>
            <a:ext cx="38100" cy="2286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862069" y="4663440"/>
            <a:ext cx="38100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71870" y="4663440"/>
            <a:ext cx="38100" cy="228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81670" y="4663440"/>
            <a:ext cx="38100" cy="2286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491470" y="4663440"/>
            <a:ext cx="381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2619" y="4892040"/>
            <a:ext cx="2057400" cy="77724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18819" y="4983480"/>
            <a:ext cx="1905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3946"/>
                </a:solidFill>
                <a:latin typeface="Meiryo UI"/>
              </a:defRPr>
            </a:pPr>
            <a:r>
              <a:t>LiveKit 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8819" y="5316657"/>
            <a:ext cx="1905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映像配信基盤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52419" y="4892040"/>
            <a:ext cx="2057400" cy="777240"/>
          </a:xfrm>
          <a:prstGeom prst="roundRect">
            <a:avLst/>
          </a:prstGeom>
          <a:solidFill>
            <a:srgbClr val="EBF0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928619" y="4983480"/>
            <a:ext cx="1905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  <a:latin typeface="Meiryo UI"/>
              </a:defRPr>
            </a:pPr>
            <a:r>
              <a:t>Supabase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8619" y="5316657"/>
            <a:ext cx="1905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DB・認証・Realtime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62220" y="4892040"/>
            <a:ext cx="205740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138420" y="4983480"/>
            <a:ext cx="1905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A880B"/>
                </a:solidFill>
                <a:latin typeface="Meiryo UI"/>
              </a:defRPr>
            </a:pPr>
            <a:r>
              <a:t>Stripe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420" y="5316657"/>
            <a:ext cx="1905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決済処理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72020" y="4892040"/>
            <a:ext cx="2057400" cy="777240"/>
          </a:xfrm>
          <a:prstGeom prst="roundRect">
            <a:avLst/>
          </a:prstGeom>
          <a:solidFill>
            <a:srgbClr val="F3EE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348220" y="4983480"/>
            <a:ext cx="1905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3AED"/>
                </a:solidFill>
                <a:latin typeface="Meiryo UI"/>
              </a:defRPr>
            </a:pPr>
            <a:r>
              <a:t>YouTube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48220" y="5316657"/>
            <a:ext cx="1905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動画保存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81820" y="4892040"/>
            <a:ext cx="2057400" cy="777240"/>
          </a:xfrm>
          <a:prstGeom prst="roundRect">
            <a:avLst/>
          </a:prstGeom>
          <a:solidFill>
            <a:srgbClr val="E8F5E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333333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558020" y="4983480"/>
            <a:ext cx="1905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6A34A"/>
                </a:solidFill>
                <a:latin typeface="Meiryo UI"/>
              </a:defRPr>
            </a:pPr>
            <a:r>
              <a:t>Vercel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8020" y="5316657"/>
            <a:ext cx="1905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ホスティング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68419" y="4777740"/>
            <a:ext cx="22352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47040" y="5806440"/>
            <a:ext cx="11287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■ 実線 = 現在稼働中の接続    ■ 各色 = 機能と対応サービスの紐付き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47040" y="6583680"/>
            <a:ext cx="112877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LIVE SPOtCH  |  LIN-NAH株式会社  |  2026年4月</a:t>
            </a:r>
          </a:p>
        </p:txBody>
      </p:sp>
    </p:spTree>
    <p:extLst>
      <p:ext uri="{BB962C8B-B14F-4D97-AF65-F5344CB8AC3E}">
        <p14:creationId xmlns:p14="http://schemas.microsoft.com/office/powerpoint/2010/main" val="1341349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eftBar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01" name="Title"/>
          <p:cNvSpPr/>
          <p:nvPr/>
        </p:nvSpPr>
        <p:spPr>
          <a:xfrm>
            <a:off x="457200" y="228600"/>
            <a:ext cx="1127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2800" b="1" dirty="0">
                <a:solidFill>
                  <a:srgbClr val="0F172A"/>
                </a:solidFill>
                <a:latin typeface="Meiryo UI"/>
                <a:ea typeface="Meiryo UI"/>
              </a:rPr>
              <a:t>LIVE SPOtCH — 将来の拡張ポイント &amp; 概算費用</a:t>
            </a:r>
          </a:p>
        </p:txBody>
      </p:sp>
      <p:sp>
        <p:nvSpPr>
          <p:cNvPr id="202" name="AccentLine"/>
          <p:cNvSpPr/>
          <p:nvPr/>
        </p:nvSpPr>
        <p:spPr>
          <a:xfrm>
            <a:off x="457200" y="762000"/>
            <a:ext cx="15240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10" name="RowBg0"/>
          <p:cNvSpPr/>
          <p:nvPr/>
        </p:nvSpPr>
        <p:spPr>
          <a:xfrm>
            <a:off x="457200" y="1016000"/>
            <a:ext cx="11277600" cy="990600"/>
          </a:xfrm>
          <a:prstGeom prst="roundRect">
            <a:avLst>
              <a:gd name="adj" fmla="val 8000"/>
            </a:avLst>
          </a:prstGeom>
          <a:solidFill>
            <a:srgbClr val="FDEBED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11" name="Badge0"/>
          <p:cNvSpPr/>
          <p:nvPr/>
        </p:nvSpPr>
        <p:spPr>
          <a:xfrm>
            <a:off x="584200" y="1333500"/>
            <a:ext cx="762000" cy="355600"/>
          </a:xfrm>
          <a:prstGeom prst="roundRect">
            <a:avLst>
              <a:gd name="adj" fmla="val 16667"/>
            </a:avLst>
          </a:prstGeom>
          <a:solidFill>
            <a:srgbClr val="E6394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200" b="1" dirty="0">
                <a:solidFill>
                  <a:srgbClr val="FFFFFF"/>
                </a:solidFill>
                <a:latin typeface="Meiryo UI"/>
                <a:ea typeface="Meiryo UI"/>
              </a:rPr>
              <a:t>v1.0</a:t>
            </a:r>
          </a:p>
        </p:txBody>
      </p:sp>
      <p:sp>
        <p:nvSpPr>
          <p:cNvPr id="212" name="RowTitle0"/>
          <p:cNvSpPr/>
          <p:nvPr/>
        </p:nvSpPr>
        <p:spPr>
          <a:xfrm>
            <a:off x="1473200" y="11176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得点リモコン</a:t>
            </a:r>
          </a:p>
        </p:txBody>
      </p:sp>
      <p:sp>
        <p:nvSpPr>
          <p:cNvPr id="213" name="RowDesc0"/>
          <p:cNvSpPr/>
          <p:nvPr/>
        </p:nvSpPr>
        <p:spPr>
          <a:xfrm>
            <a:off x="1473200" y="1447800"/>
            <a:ext cx="406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別デバイスからスコア操作</a:t>
            </a:r>
            <a:br/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撮影者は撮影に集中</a:t>
            </a:r>
          </a:p>
        </p:txBody>
      </p:sp>
      <p:sp>
        <p:nvSpPr>
          <p:cNvPr id="214" name="TechLabel0"/>
          <p:cNvSpPr/>
          <p:nvPr/>
        </p:nvSpPr>
        <p:spPr>
          <a:xfrm>
            <a:off x="5918200" y="1117600"/>
            <a:ext cx="292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9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215" name="TechVal0"/>
          <p:cNvSpPr/>
          <p:nvPr/>
        </p:nvSpPr>
        <p:spPr>
          <a:xfrm>
            <a:off x="5918200" y="1371600"/>
            <a:ext cx="292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100" dirty="0">
                <a:solidFill>
                  <a:srgbClr val="0F172A"/>
                </a:solidFill>
                <a:latin typeface="Meiryo UI"/>
                <a:ea typeface="Meiryo UI"/>
              </a:rPr>
              <a:t>WebSocket / Supabase Realtime</a:t>
            </a:r>
          </a:p>
        </p:txBody>
      </p:sp>
      <p:sp>
        <p:nvSpPr>
          <p:cNvPr id="216" name="CostBox0"/>
          <p:cNvSpPr/>
          <p:nvPr/>
        </p:nvSpPr>
        <p:spPr>
          <a:xfrm>
            <a:off x="9347200" y="1193800"/>
            <a:ext cx="2032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E63946"/>
                </a:solidFill>
                <a:latin typeface="Meiryo UI"/>
                <a:ea typeface="Meiryo UI"/>
              </a:rPr>
              <a:t>約30〜50万円</a:t>
            </a:r>
          </a:p>
          <a:p>
            <a:pPr algn="ctr"/>
            <a:r>
              <a:rPr lang="ja-JP" altLang="en-US" sz="1000" dirty="0">
                <a:solidFill>
                  <a:srgbClr val="666680"/>
                </a:solidFill>
                <a:latin typeface="Meiryo UI"/>
                <a:ea typeface="Meiryo UI"/>
              </a:rPr>
              <a:t>2-3週間</a:t>
            </a:r>
          </a:p>
        </p:txBody>
      </p:sp>
      <p:sp>
        <p:nvSpPr>
          <p:cNvPr id="217" name="RowBg1"/>
          <p:cNvSpPr/>
          <p:nvPr/>
        </p:nvSpPr>
        <p:spPr>
          <a:xfrm>
            <a:off x="457200" y="2082800"/>
            <a:ext cx="11277600" cy="990600"/>
          </a:xfrm>
          <a:prstGeom prst="roundRect">
            <a:avLst>
              <a:gd name="adj" fmla="val 8000"/>
            </a:avLst>
          </a:prstGeom>
          <a:solidFill>
            <a:srgbClr val="EBF0FF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18" name="Badge1"/>
          <p:cNvSpPr/>
          <p:nvPr/>
        </p:nvSpPr>
        <p:spPr>
          <a:xfrm>
            <a:off x="584200" y="2400300"/>
            <a:ext cx="762000" cy="35560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200" b="1" dirty="0">
                <a:solidFill>
                  <a:srgbClr val="FFFFFF"/>
                </a:solidFill>
                <a:latin typeface="Meiryo UI"/>
                <a:ea typeface="Meiryo UI"/>
              </a:rPr>
              <a:t>v1.5</a:t>
            </a:r>
          </a:p>
        </p:txBody>
      </p:sp>
      <p:sp>
        <p:nvSpPr>
          <p:cNvPr id="219" name="RowTitle1"/>
          <p:cNvSpPr/>
          <p:nvPr/>
        </p:nvSpPr>
        <p:spPr>
          <a:xfrm>
            <a:off x="1473200" y="21844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マルチカメラ手動切替</a:t>
            </a:r>
          </a:p>
        </p:txBody>
      </p:sp>
      <p:sp>
        <p:nvSpPr>
          <p:cNvPr id="220" name="RowDesc1"/>
          <p:cNvSpPr/>
          <p:nvPr/>
        </p:nvSpPr>
        <p:spPr>
          <a:xfrm>
            <a:off x="1473200" y="2514600"/>
            <a:ext cx="406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複数スマホの映像を</a:t>
            </a:r>
            <a:br/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手動で切り替え表示</a:t>
            </a:r>
          </a:p>
        </p:txBody>
      </p:sp>
      <p:sp>
        <p:nvSpPr>
          <p:cNvPr id="221" name="TechLabel1"/>
          <p:cNvSpPr/>
          <p:nvPr/>
        </p:nvSpPr>
        <p:spPr>
          <a:xfrm>
            <a:off x="5918200" y="2184400"/>
            <a:ext cx="292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9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222" name="TechVal1"/>
          <p:cNvSpPr/>
          <p:nvPr/>
        </p:nvSpPr>
        <p:spPr>
          <a:xfrm>
            <a:off x="5918200" y="2438400"/>
            <a:ext cx="292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100" dirty="0">
                <a:solidFill>
                  <a:srgbClr val="0F172A"/>
                </a:solidFill>
                <a:latin typeface="Meiryo UI"/>
                <a:ea typeface="Meiryo UI"/>
              </a:rPr>
              <a:t>LiveKit マルチトラック</a:t>
            </a:r>
          </a:p>
        </p:txBody>
      </p:sp>
      <p:sp>
        <p:nvSpPr>
          <p:cNvPr id="223" name="CostBox1"/>
          <p:cNvSpPr/>
          <p:nvPr/>
        </p:nvSpPr>
        <p:spPr>
          <a:xfrm>
            <a:off x="9347200" y="2260600"/>
            <a:ext cx="2032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E63946"/>
                </a:solidFill>
                <a:latin typeface="Meiryo UI"/>
                <a:ea typeface="Meiryo UI"/>
              </a:rPr>
              <a:t>約80〜120万円</a:t>
            </a:r>
          </a:p>
          <a:p>
            <a:pPr algn="ctr"/>
            <a:r>
              <a:rPr lang="ja-JP" altLang="en-US" sz="1000" dirty="0">
                <a:solidFill>
                  <a:srgbClr val="666680"/>
                </a:solidFill>
                <a:latin typeface="Meiryo UI"/>
                <a:ea typeface="Meiryo UI"/>
              </a:rPr>
              <a:t>1-2ヶ月</a:t>
            </a:r>
          </a:p>
        </p:txBody>
      </p:sp>
      <p:sp>
        <p:nvSpPr>
          <p:cNvPr id="224" name="RowBg2"/>
          <p:cNvSpPr/>
          <p:nvPr/>
        </p:nvSpPr>
        <p:spPr>
          <a:xfrm>
            <a:off x="457200" y="3149600"/>
            <a:ext cx="11277600" cy="9906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25" name="Badge2"/>
          <p:cNvSpPr/>
          <p:nvPr/>
        </p:nvSpPr>
        <p:spPr>
          <a:xfrm>
            <a:off x="584200" y="3467100"/>
            <a:ext cx="762000" cy="355600"/>
          </a:xfrm>
          <a:prstGeom prst="roundRect">
            <a:avLst>
              <a:gd name="adj" fmla="val 16667"/>
            </a:avLst>
          </a:prstGeom>
          <a:solidFill>
            <a:srgbClr val="EA880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200" b="1" dirty="0">
                <a:solidFill>
                  <a:srgbClr val="FFFFFF"/>
                </a:solidFill>
                <a:latin typeface="Meiryo UI"/>
                <a:ea typeface="Meiryo UI"/>
              </a:rPr>
              <a:t>v2.0</a:t>
            </a:r>
          </a:p>
        </p:txBody>
      </p:sp>
      <p:sp>
        <p:nvSpPr>
          <p:cNvPr id="226" name="RowTitle2"/>
          <p:cNvSpPr/>
          <p:nvPr/>
        </p:nvSpPr>
        <p:spPr>
          <a:xfrm>
            <a:off x="1473200" y="32512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AI自動アングル切替</a:t>
            </a:r>
          </a:p>
        </p:txBody>
      </p:sp>
      <p:sp>
        <p:nvSpPr>
          <p:cNvPr id="227" name="RowDesc2"/>
          <p:cNvSpPr/>
          <p:nvPr/>
        </p:nvSpPr>
        <p:spPr>
          <a:xfrm>
            <a:off x="1473200" y="3581400"/>
            <a:ext cx="406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AIがベストアングルを</a:t>
            </a:r>
            <a:br/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判断して自動切替</a:t>
            </a:r>
          </a:p>
        </p:txBody>
      </p:sp>
      <p:sp>
        <p:nvSpPr>
          <p:cNvPr id="228" name="TechLabel2"/>
          <p:cNvSpPr/>
          <p:nvPr/>
        </p:nvSpPr>
        <p:spPr>
          <a:xfrm>
            <a:off x="5918200" y="3251200"/>
            <a:ext cx="292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9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229" name="TechVal2"/>
          <p:cNvSpPr/>
          <p:nvPr/>
        </p:nvSpPr>
        <p:spPr>
          <a:xfrm>
            <a:off x="5918200" y="3505200"/>
            <a:ext cx="292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100" dirty="0">
                <a:solidFill>
                  <a:srgbClr val="0F172A"/>
                </a:solidFill>
                <a:latin typeface="Meiryo UI"/>
                <a:ea typeface="Meiryo UI"/>
              </a:rPr>
              <a:t>AI推論サーバー（GPU）</a:t>
            </a:r>
          </a:p>
        </p:txBody>
      </p:sp>
      <p:sp>
        <p:nvSpPr>
          <p:cNvPr id="230" name="CostBox2"/>
          <p:cNvSpPr/>
          <p:nvPr/>
        </p:nvSpPr>
        <p:spPr>
          <a:xfrm>
            <a:off x="9347200" y="3327400"/>
            <a:ext cx="2032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E63946"/>
                </a:solidFill>
                <a:latin typeface="Meiryo UI"/>
                <a:ea typeface="Meiryo UI"/>
              </a:rPr>
              <a:t>約200〜350万円</a:t>
            </a:r>
          </a:p>
          <a:p>
            <a:pPr algn="ctr"/>
            <a:r>
              <a:rPr lang="ja-JP" altLang="en-US" sz="1000" dirty="0">
                <a:solidFill>
                  <a:srgbClr val="666680"/>
                </a:solidFill>
                <a:latin typeface="Meiryo UI"/>
                <a:ea typeface="Meiryo UI"/>
              </a:rPr>
              <a:t>3-6ヶ月</a:t>
            </a:r>
          </a:p>
        </p:txBody>
      </p:sp>
      <p:sp>
        <p:nvSpPr>
          <p:cNvPr id="231" name="RowBg3"/>
          <p:cNvSpPr/>
          <p:nvPr/>
        </p:nvSpPr>
        <p:spPr>
          <a:xfrm>
            <a:off x="457200" y="4216400"/>
            <a:ext cx="11277600" cy="990600"/>
          </a:xfrm>
          <a:prstGeom prst="roundRect">
            <a:avLst>
              <a:gd name="adj" fmla="val 8000"/>
            </a:avLst>
          </a:prstGeom>
          <a:solidFill>
            <a:srgbClr val="E8F5EB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32" name="Badge3"/>
          <p:cNvSpPr/>
          <p:nvPr/>
        </p:nvSpPr>
        <p:spPr>
          <a:xfrm>
            <a:off x="584200" y="4533900"/>
            <a:ext cx="762000" cy="35560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200" b="1" dirty="0">
                <a:solidFill>
                  <a:srgbClr val="FFFFFF"/>
                </a:solidFill>
                <a:latin typeface="Meiryo UI"/>
                <a:ea typeface="Meiryo UI"/>
              </a:rPr>
              <a:t>v2.5</a:t>
            </a:r>
          </a:p>
        </p:txBody>
      </p:sp>
      <p:sp>
        <p:nvSpPr>
          <p:cNvPr id="233" name="RowTitle3"/>
          <p:cNvSpPr/>
          <p:nvPr/>
        </p:nvSpPr>
        <p:spPr>
          <a:xfrm>
            <a:off x="1473200" y="43180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AIハイライト自動生成</a:t>
            </a:r>
          </a:p>
        </p:txBody>
      </p:sp>
      <p:sp>
        <p:nvSpPr>
          <p:cNvPr id="234" name="RowDesc3"/>
          <p:cNvSpPr/>
          <p:nvPr/>
        </p:nvSpPr>
        <p:spPr>
          <a:xfrm>
            <a:off x="1473200" y="4648200"/>
            <a:ext cx="406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試合のハイライトを</a:t>
            </a:r>
            <a:br/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AIが自動編集・生成</a:t>
            </a:r>
          </a:p>
        </p:txBody>
      </p:sp>
      <p:sp>
        <p:nvSpPr>
          <p:cNvPr id="235" name="TechLabel3"/>
          <p:cNvSpPr/>
          <p:nvPr/>
        </p:nvSpPr>
        <p:spPr>
          <a:xfrm>
            <a:off x="5918200" y="4318000"/>
            <a:ext cx="292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9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236" name="TechVal3"/>
          <p:cNvSpPr/>
          <p:nvPr/>
        </p:nvSpPr>
        <p:spPr>
          <a:xfrm>
            <a:off x="5918200" y="4572000"/>
            <a:ext cx="292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100" dirty="0">
                <a:solidFill>
                  <a:srgbClr val="0F172A"/>
                </a:solidFill>
                <a:latin typeface="Meiryo UI"/>
                <a:ea typeface="Meiryo UI"/>
              </a:rPr>
              <a:t>動画解析AI + FFmpeg</a:t>
            </a:r>
          </a:p>
        </p:txBody>
      </p:sp>
      <p:sp>
        <p:nvSpPr>
          <p:cNvPr id="237" name="CostBox3"/>
          <p:cNvSpPr/>
          <p:nvPr/>
        </p:nvSpPr>
        <p:spPr>
          <a:xfrm>
            <a:off x="9347200" y="4394200"/>
            <a:ext cx="2032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E63946"/>
                </a:solidFill>
                <a:latin typeface="Meiryo UI"/>
                <a:ea typeface="Meiryo UI"/>
              </a:rPr>
              <a:t>約150〜250万円</a:t>
            </a:r>
          </a:p>
          <a:p>
            <a:pPr algn="ctr"/>
            <a:r>
              <a:rPr lang="ja-JP" altLang="en-US" sz="1000" dirty="0">
                <a:solidFill>
                  <a:srgbClr val="666680"/>
                </a:solidFill>
                <a:latin typeface="Meiryo UI"/>
                <a:ea typeface="Meiryo UI"/>
              </a:rPr>
              <a:t>2-4ヶ月</a:t>
            </a:r>
          </a:p>
        </p:txBody>
      </p:sp>
      <p:sp>
        <p:nvSpPr>
          <p:cNvPr id="238" name="RowBg4"/>
          <p:cNvSpPr/>
          <p:nvPr/>
        </p:nvSpPr>
        <p:spPr>
          <a:xfrm>
            <a:off x="457200" y="5283200"/>
            <a:ext cx="11277600" cy="990600"/>
          </a:xfrm>
          <a:prstGeom prst="roundRect">
            <a:avLst>
              <a:gd name="adj" fmla="val 8000"/>
            </a:avLst>
          </a:prstGeom>
          <a:solidFill>
            <a:srgbClr val="F3EEFF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39" name="Badge4"/>
          <p:cNvSpPr/>
          <p:nvPr/>
        </p:nvSpPr>
        <p:spPr>
          <a:xfrm>
            <a:off x="584200" y="5600700"/>
            <a:ext cx="762000" cy="35560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200" b="1" dirty="0">
                <a:solidFill>
                  <a:srgbClr val="FFFFFF"/>
                </a:solidFill>
                <a:latin typeface="Meiryo UI"/>
                <a:ea typeface="Meiryo UI"/>
              </a:rPr>
              <a:t>v3.0</a:t>
            </a:r>
          </a:p>
        </p:txBody>
      </p:sp>
      <p:sp>
        <p:nvSpPr>
          <p:cNvPr id="240" name="RowTitle4"/>
          <p:cNvSpPr/>
          <p:nvPr/>
        </p:nvSpPr>
        <p:spPr>
          <a:xfrm>
            <a:off x="1473200" y="53848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SNS自動投稿</a:t>
            </a:r>
          </a:p>
        </p:txBody>
      </p:sp>
      <p:sp>
        <p:nvSpPr>
          <p:cNvPr id="241" name="RowDesc4"/>
          <p:cNvSpPr/>
          <p:nvPr/>
        </p:nvSpPr>
        <p:spPr>
          <a:xfrm>
            <a:off x="1473200" y="5715000"/>
            <a:ext cx="406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ハイライトをInstagram</a:t>
            </a:r>
            <a:br/>
            <a:r>
              <a:rPr lang="ja-JP" altLang="en-US" sz="1100" dirty="0">
                <a:solidFill>
                  <a:srgbClr val="666680"/>
                </a:solidFill>
                <a:latin typeface="Meiryo UI"/>
                <a:ea typeface="Meiryo UI"/>
              </a:rPr>
              <a:t>TikTokに自動投稿</a:t>
            </a:r>
          </a:p>
        </p:txBody>
      </p:sp>
      <p:sp>
        <p:nvSpPr>
          <p:cNvPr id="242" name="TechLabel4"/>
          <p:cNvSpPr/>
          <p:nvPr/>
        </p:nvSpPr>
        <p:spPr>
          <a:xfrm>
            <a:off x="5918200" y="5384800"/>
            <a:ext cx="292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9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243" name="TechVal4"/>
          <p:cNvSpPr/>
          <p:nvPr/>
        </p:nvSpPr>
        <p:spPr>
          <a:xfrm>
            <a:off x="5918200" y="5638800"/>
            <a:ext cx="292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ja-JP" altLang="en-US" sz="1100" dirty="0">
                <a:solidFill>
                  <a:srgbClr val="0F172A"/>
                </a:solidFill>
                <a:latin typeface="Meiryo UI"/>
                <a:ea typeface="Meiryo UI"/>
              </a:rPr>
              <a:t>各SNS API連携</a:t>
            </a:r>
          </a:p>
        </p:txBody>
      </p:sp>
      <p:sp>
        <p:nvSpPr>
          <p:cNvPr id="244" name="CostBox4"/>
          <p:cNvSpPr/>
          <p:nvPr/>
        </p:nvSpPr>
        <p:spPr>
          <a:xfrm>
            <a:off x="9347200" y="5461000"/>
            <a:ext cx="2032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E63946"/>
                </a:solidFill>
                <a:latin typeface="Meiryo UI"/>
                <a:ea typeface="Meiryo UI"/>
              </a:rPr>
              <a:t>約50〜80万円</a:t>
            </a:r>
          </a:p>
          <a:p>
            <a:pPr algn="ctr"/>
            <a:r>
              <a:rPr lang="ja-JP" altLang="en-US" sz="1000" dirty="0">
                <a:solidFill>
                  <a:srgbClr val="666680"/>
                </a:solidFill>
                <a:latin typeface="Meiryo UI"/>
                <a:ea typeface="Meiryo UI"/>
              </a:rPr>
              <a:t>2-3週間</a:t>
            </a:r>
          </a:p>
        </p:txBody>
      </p:sp>
      <p:sp>
        <p:nvSpPr>
          <p:cNvPr id="245" name="SummaryBar"/>
          <p:cNvSpPr/>
          <p:nvPr/>
        </p:nvSpPr>
        <p:spPr>
          <a:xfrm>
            <a:off x="457200" y="6350000"/>
            <a:ext cx="11277600" cy="381000"/>
          </a:xfrm>
          <a:prstGeom prst="roundRect">
            <a:avLst>
              <a:gd name="adj" fmla="val 16667"/>
            </a:avLst>
          </a:prstGeom>
          <a:solidFill>
            <a:srgbClr val="FDEBED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l"/>
            <a:r>
              <a:rPr lang="ja-JP" altLang="en-US" sz="1400" b="1" dirty="0">
                <a:solidFill>
                  <a:srgbClr val="E63946"/>
                </a:solidFill>
                <a:latin typeface="Meiryo UI"/>
                <a:ea typeface="Meiryo UI"/>
              </a:rPr>
              <a:t>全拡張の概算合計: 約510〜850万円（段階的に投資）</a:t>
            </a:r>
          </a:p>
        </p:txBody>
      </p:sp>
    </p:spTree>
    <p:extLst>
      <p:ext uri="{BB962C8B-B14F-4D97-AF65-F5344CB8AC3E}">
        <p14:creationId xmlns:p14="http://schemas.microsoft.com/office/powerpoint/2010/main" val="4080903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D6B4372-B9BC-6542-851C-7D588F37B829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ee8ddc0f-84ec-4df3-8e56-b09171fa7f6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276</Words>
  <Application>Microsoft Macintosh PowerPoint</Application>
  <PresentationFormat>ワイド画面</PresentationFormat>
  <Paragraphs>64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Meiryo UI</vt:lpstr>
      <vt:lpstr>Arial</vt:lpstr>
      <vt:lpstr>Calibri</vt:lpstr>
      <vt:lpstr>Office Theme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Yuki Harada</cp:lastModifiedBy>
  <cp:revision>2</cp:revision>
  <dcterms:created xsi:type="dcterms:W3CDTF">2013-01-27T09:14:16Z</dcterms:created>
  <dcterms:modified xsi:type="dcterms:W3CDTF">2026-04-17T20:59:06Z</dcterms:modified>
  <cp:category/>
</cp:coreProperties>
</file>